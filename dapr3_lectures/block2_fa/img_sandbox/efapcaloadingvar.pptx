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144000" cy="50577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48" d="100"/>
          <a:sy n="148" d="100"/>
        </p:scale>
        <p:origin x="57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27743"/>
            <a:ext cx="6858000" cy="1760855"/>
          </a:xfrm>
        </p:spPr>
        <p:txBody>
          <a:bodyPr anchor="b"/>
          <a:lstStyle>
            <a:lvl1pPr algn="ctr">
              <a:defRPr sz="4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56503"/>
            <a:ext cx="6858000" cy="1221124"/>
          </a:xfrm>
        </p:spPr>
        <p:txBody>
          <a:bodyPr/>
          <a:lstStyle>
            <a:lvl1pPr marL="0" indent="0" algn="ctr">
              <a:buNone/>
              <a:defRPr sz="1770"/>
            </a:lvl1pPr>
            <a:lvl2pPr marL="337185" indent="0" algn="ctr">
              <a:buNone/>
              <a:defRPr sz="1475"/>
            </a:lvl2pPr>
            <a:lvl3pPr marL="674370" indent="0" algn="ctr">
              <a:buNone/>
              <a:defRPr sz="1328"/>
            </a:lvl3pPr>
            <a:lvl4pPr marL="1011555" indent="0" algn="ctr">
              <a:buNone/>
              <a:defRPr sz="1180"/>
            </a:lvl4pPr>
            <a:lvl5pPr marL="1348740" indent="0" algn="ctr">
              <a:buNone/>
              <a:defRPr sz="1180"/>
            </a:lvl5pPr>
            <a:lvl6pPr marL="1685925" indent="0" algn="ctr">
              <a:buNone/>
              <a:defRPr sz="1180"/>
            </a:lvl6pPr>
            <a:lvl7pPr marL="2023110" indent="0" algn="ctr">
              <a:buNone/>
              <a:defRPr sz="1180"/>
            </a:lvl7pPr>
            <a:lvl8pPr marL="2360295" indent="0" algn="ctr">
              <a:buNone/>
              <a:defRPr sz="1180"/>
            </a:lvl8pPr>
            <a:lvl9pPr marL="2697480" indent="0" algn="ctr">
              <a:buNone/>
              <a:defRPr sz="11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6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62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60932"/>
            <a:ext cx="7886700" cy="2103894"/>
          </a:xfrm>
        </p:spPr>
        <p:txBody>
          <a:bodyPr anchor="b"/>
          <a:lstStyle>
            <a:lvl1pPr>
              <a:defRPr sz="44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384729"/>
            <a:ext cx="7886700" cy="1106388"/>
          </a:xfrm>
        </p:spPr>
        <p:txBody>
          <a:bodyPr/>
          <a:lstStyle>
            <a:lvl1pPr marL="0" indent="0">
              <a:buNone/>
              <a:defRPr sz="1770">
                <a:solidFill>
                  <a:schemeClr val="tx1">
                    <a:tint val="82000"/>
                  </a:schemeClr>
                </a:solidFill>
              </a:defRPr>
            </a:lvl1pPr>
            <a:lvl2pPr marL="337185" indent="0">
              <a:buNone/>
              <a:defRPr sz="1475">
                <a:solidFill>
                  <a:schemeClr val="tx1">
                    <a:tint val="82000"/>
                  </a:schemeClr>
                </a:solidFill>
              </a:defRPr>
            </a:lvl2pPr>
            <a:lvl3pPr marL="674370" indent="0">
              <a:buNone/>
              <a:defRPr sz="1328">
                <a:solidFill>
                  <a:schemeClr val="tx1">
                    <a:tint val="82000"/>
                  </a:schemeClr>
                </a:solidFill>
              </a:defRPr>
            </a:lvl3pPr>
            <a:lvl4pPr marL="101155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4pPr>
            <a:lvl5pPr marL="134874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5pPr>
            <a:lvl6pPr marL="168592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6pPr>
            <a:lvl7pPr marL="202311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7pPr>
            <a:lvl8pPr marL="2360295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8pPr>
            <a:lvl9pPr marL="2697480" indent="0">
              <a:buNone/>
              <a:defRPr sz="11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673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46398"/>
            <a:ext cx="3886200" cy="3209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46398"/>
            <a:ext cx="3886200" cy="3209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94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69280"/>
            <a:ext cx="7886700" cy="977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39858"/>
            <a:ext cx="3868340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47493"/>
            <a:ext cx="3868340" cy="2717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39858"/>
            <a:ext cx="3887391" cy="607635"/>
          </a:xfrm>
        </p:spPr>
        <p:txBody>
          <a:bodyPr anchor="b"/>
          <a:lstStyle>
            <a:lvl1pPr marL="0" indent="0">
              <a:buNone/>
              <a:defRPr sz="1770" b="1"/>
            </a:lvl1pPr>
            <a:lvl2pPr marL="337185" indent="0">
              <a:buNone/>
              <a:defRPr sz="1475" b="1"/>
            </a:lvl2pPr>
            <a:lvl3pPr marL="674370" indent="0">
              <a:buNone/>
              <a:defRPr sz="1328" b="1"/>
            </a:lvl3pPr>
            <a:lvl4pPr marL="1011555" indent="0">
              <a:buNone/>
              <a:defRPr sz="1180" b="1"/>
            </a:lvl4pPr>
            <a:lvl5pPr marL="1348740" indent="0">
              <a:buNone/>
              <a:defRPr sz="1180" b="1"/>
            </a:lvl5pPr>
            <a:lvl6pPr marL="1685925" indent="0">
              <a:buNone/>
              <a:defRPr sz="1180" b="1"/>
            </a:lvl6pPr>
            <a:lvl7pPr marL="2023110" indent="0">
              <a:buNone/>
              <a:defRPr sz="1180" b="1"/>
            </a:lvl7pPr>
            <a:lvl8pPr marL="2360295" indent="0">
              <a:buNone/>
              <a:defRPr sz="1180" b="1"/>
            </a:lvl8pPr>
            <a:lvl9pPr marL="2697480" indent="0">
              <a:buNone/>
              <a:defRPr sz="11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47493"/>
            <a:ext cx="3887391" cy="2717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30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71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12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37185"/>
            <a:ext cx="2949178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28227"/>
            <a:ext cx="4629150" cy="3594298"/>
          </a:xfrm>
        </p:spPr>
        <p:txBody>
          <a:bodyPr/>
          <a:lstStyle>
            <a:lvl1pPr>
              <a:defRPr sz="2360"/>
            </a:lvl1pPr>
            <a:lvl2pPr>
              <a:defRPr sz="2065"/>
            </a:lvl2pPr>
            <a:lvl3pPr>
              <a:defRPr sz="1770"/>
            </a:lvl3pPr>
            <a:lvl4pPr>
              <a:defRPr sz="1475"/>
            </a:lvl4pPr>
            <a:lvl5pPr>
              <a:defRPr sz="1475"/>
            </a:lvl5pPr>
            <a:lvl6pPr>
              <a:defRPr sz="1475"/>
            </a:lvl6pPr>
            <a:lvl7pPr>
              <a:defRPr sz="1475"/>
            </a:lvl7pPr>
            <a:lvl8pPr>
              <a:defRPr sz="1475"/>
            </a:lvl8pPr>
            <a:lvl9pPr>
              <a:defRPr sz="14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17333"/>
            <a:ext cx="2949178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55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37185"/>
            <a:ext cx="2949178" cy="1180148"/>
          </a:xfrm>
        </p:spPr>
        <p:txBody>
          <a:bodyPr anchor="b"/>
          <a:lstStyle>
            <a:lvl1pPr>
              <a:defRPr sz="2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28227"/>
            <a:ext cx="4629150" cy="3594298"/>
          </a:xfrm>
        </p:spPr>
        <p:txBody>
          <a:bodyPr anchor="t"/>
          <a:lstStyle>
            <a:lvl1pPr marL="0" indent="0">
              <a:buNone/>
              <a:defRPr sz="2360"/>
            </a:lvl1pPr>
            <a:lvl2pPr marL="337185" indent="0">
              <a:buNone/>
              <a:defRPr sz="2065"/>
            </a:lvl2pPr>
            <a:lvl3pPr marL="674370" indent="0">
              <a:buNone/>
              <a:defRPr sz="1770"/>
            </a:lvl3pPr>
            <a:lvl4pPr marL="1011555" indent="0">
              <a:buNone/>
              <a:defRPr sz="1475"/>
            </a:lvl4pPr>
            <a:lvl5pPr marL="1348740" indent="0">
              <a:buNone/>
              <a:defRPr sz="1475"/>
            </a:lvl5pPr>
            <a:lvl6pPr marL="1685925" indent="0">
              <a:buNone/>
              <a:defRPr sz="1475"/>
            </a:lvl6pPr>
            <a:lvl7pPr marL="2023110" indent="0">
              <a:buNone/>
              <a:defRPr sz="1475"/>
            </a:lvl7pPr>
            <a:lvl8pPr marL="2360295" indent="0">
              <a:buNone/>
              <a:defRPr sz="1475"/>
            </a:lvl8pPr>
            <a:lvl9pPr marL="2697480" indent="0">
              <a:buNone/>
              <a:defRPr sz="14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17333"/>
            <a:ext cx="2949178" cy="2811046"/>
          </a:xfrm>
        </p:spPr>
        <p:txBody>
          <a:bodyPr/>
          <a:lstStyle>
            <a:lvl1pPr marL="0" indent="0">
              <a:buNone/>
              <a:defRPr sz="1180"/>
            </a:lvl1pPr>
            <a:lvl2pPr marL="337185" indent="0">
              <a:buNone/>
              <a:defRPr sz="1033"/>
            </a:lvl2pPr>
            <a:lvl3pPr marL="674370" indent="0">
              <a:buNone/>
              <a:defRPr sz="885"/>
            </a:lvl3pPr>
            <a:lvl4pPr marL="1011555" indent="0">
              <a:buNone/>
              <a:defRPr sz="738"/>
            </a:lvl4pPr>
            <a:lvl5pPr marL="1348740" indent="0">
              <a:buNone/>
              <a:defRPr sz="738"/>
            </a:lvl5pPr>
            <a:lvl6pPr marL="1685925" indent="0">
              <a:buNone/>
              <a:defRPr sz="738"/>
            </a:lvl6pPr>
            <a:lvl7pPr marL="2023110" indent="0">
              <a:buNone/>
              <a:defRPr sz="738"/>
            </a:lvl7pPr>
            <a:lvl8pPr marL="2360295" indent="0">
              <a:buNone/>
              <a:defRPr sz="738"/>
            </a:lvl8pPr>
            <a:lvl9pPr marL="2697480" indent="0">
              <a:buNone/>
              <a:defRPr sz="73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399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286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69279"/>
            <a:ext cx="1971675" cy="42862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69279"/>
            <a:ext cx="5800725" cy="42862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98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69280"/>
            <a:ext cx="7886700" cy="977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46398"/>
            <a:ext cx="7886700" cy="3209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687808"/>
            <a:ext cx="205740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65325-9D93-4FD4-A2EB-7B3481EB0C85}" type="datetimeFigureOut">
              <a:rPr lang="en-GB" smtClean="0"/>
              <a:t>25/08/2026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687808"/>
            <a:ext cx="308610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687808"/>
            <a:ext cx="2057400" cy="269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31CB6E-1D64-4314-9A69-CE8EED07F0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09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4370" rtl="0" eaLnBrk="1" latinLnBrk="0" hangingPunct="1">
        <a:lnSpc>
          <a:spcPct val="90000"/>
        </a:lnSpc>
        <a:spcBef>
          <a:spcPct val="0"/>
        </a:spcBef>
        <a:buNone/>
        <a:defRPr sz="32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593" indent="-168593" algn="l" defTabSz="67437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065" kern="1200">
          <a:solidFill>
            <a:schemeClr val="tx1"/>
          </a:solidFill>
          <a:latin typeface="+mn-lt"/>
          <a:ea typeface="+mn-ea"/>
          <a:cs typeface="+mn-cs"/>
        </a:defRPr>
      </a:lvl1pPr>
      <a:lvl2pPr marL="50577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770" kern="1200">
          <a:solidFill>
            <a:schemeClr val="tx1"/>
          </a:solidFill>
          <a:latin typeface="+mn-lt"/>
          <a:ea typeface="+mn-ea"/>
          <a:cs typeface="+mn-cs"/>
        </a:defRPr>
      </a:lvl2pPr>
      <a:lvl3pPr marL="84296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8014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51733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85451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19170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528888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866073" indent="-168593" algn="l" defTabSz="674370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1pPr>
      <a:lvl2pPr marL="33718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2pPr>
      <a:lvl3pPr marL="67437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3pPr>
      <a:lvl4pPr marL="101155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4pPr>
      <a:lvl5pPr marL="134874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5pPr>
      <a:lvl6pPr marL="168592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6pPr>
      <a:lvl7pPr marL="202311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7pPr>
      <a:lvl8pPr marL="2360295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8pPr>
      <a:lvl9pPr marL="2697480" algn="l" defTabSz="674370" rtl="0" eaLnBrk="1" latinLnBrk="0" hangingPunct="1">
        <a:defRPr sz="13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CD889C-4137-D8EF-796F-D9BE776CB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98" y="409279"/>
            <a:ext cx="8030697" cy="42392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A5DE08-3F10-71A2-6B31-1A6CD52091A0}"/>
              </a:ext>
            </a:extLst>
          </p:cNvPr>
          <p:cNvSpPr/>
          <p:nvPr/>
        </p:nvSpPr>
        <p:spPr>
          <a:xfrm>
            <a:off x="546340" y="1066707"/>
            <a:ext cx="7108167" cy="1871932"/>
          </a:xfrm>
          <a:prstGeom prst="rect">
            <a:avLst/>
          </a:prstGeom>
          <a:solidFill>
            <a:srgbClr val="FFFFFF">
              <a:alpha val="8980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LOADINGS</a:t>
            </a:r>
          </a:p>
          <a:p>
            <a:pPr algn="r"/>
            <a:r>
              <a:rPr lang="en-GB" sz="2000" dirty="0">
                <a:solidFill>
                  <a:srgbClr val="FF0000"/>
                </a:solidFill>
              </a:rPr>
              <a:t>(how each observed variables relates to each component)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6C3948-5B98-9848-F01E-1B781996FB98}"/>
              </a:ext>
            </a:extLst>
          </p:cNvPr>
          <p:cNvSpPr/>
          <p:nvPr/>
        </p:nvSpPr>
        <p:spPr>
          <a:xfrm>
            <a:off x="3151519" y="3148411"/>
            <a:ext cx="4878458" cy="1411994"/>
          </a:xfrm>
          <a:prstGeom prst="rect">
            <a:avLst/>
          </a:prstGeom>
          <a:solidFill>
            <a:srgbClr val="FFFFFF">
              <a:alpha val="8980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VARIANCE ACCOUNTED FOR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</a:rPr>
              <a:t>(how much total variance is accounted for by each component)</a:t>
            </a:r>
          </a:p>
        </p:txBody>
      </p:sp>
    </p:spTree>
    <p:extLst>
      <p:ext uri="{BB962C8B-B14F-4D97-AF65-F5344CB8AC3E}">
        <p14:creationId xmlns:p14="http://schemas.microsoft.com/office/powerpoint/2010/main" val="1714435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9B70C8-8EBE-BE6E-2DDB-AA8FA9562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40" y="409281"/>
            <a:ext cx="8764223" cy="41630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A5DE08-3F10-71A2-6B31-1A6CD52091A0}"/>
              </a:ext>
            </a:extLst>
          </p:cNvPr>
          <p:cNvSpPr/>
          <p:nvPr/>
        </p:nvSpPr>
        <p:spPr>
          <a:xfrm>
            <a:off x="554966" y="1066713"/>
            <a:ext cx="7108167" cy="1871932"/>
          </a:xfrm>
          <a:prstGeom prst="rect">
            <a:avLst/>
          </a:prstGeom>
          <a:solidFill>
            <a:srgbClr val="FFFFFF">
              <a:alpha val="8980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LOADINGS</a:t>
            </a:r>
          </a:p>
          <a:p>
            <a:pPr algn="r"/>
            <a:r>
              <a:rPr lang="en-GB" sz="2000" dirty="0">
                <a:solidFill>
                  <a:srgbClr val="FF0000"/>
                </a:solidFill>
              </a:rPr>
              <a:t>(how each observed variable is </a:t>
            </a:r>
            <a:r>
              <a:rPr lang="en-GB" sz="2000" i="1" dirty="0">
                <a:solidFill>
                  <a:srgbClr val="FF0000"/>
                </a:solidFill>
              </a:rPr>
              <a:t>predicted by</a:t>
            </a:r>
            <a:r>
              <a:rPr lang="en-GB" sz="2000" dirty="0">
                <a:solidFill>
                  <a:srgbClr val="FF0000"/>
                </a:solidFill>
              </a:rPr>
              <a:t> each</a:t>
            </a:r>
            <a:r>
              <a:rPr lang="en-GB" sz="2000" dirty="0">
                <a:solidFill>
                  <a:schemeClr val="bg1"/>
                </a:solidFill>
              </a:rPr>
              <a:t> component</a:t>
            </a:r>
            <a:r>
              <a:rPr lang="en-GB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819D7E-1300-CAA2-C3DB-C158813E5E02}"/>
              </a:ext>
            </a:extLst>
          </p:cNvPr>
          <p:cNvSpPr txBox="1"/>
          <p:nvPr/>
        </p:nvSpPr>
        <p:spPr>
          <a:xfrm>
            <a:off x="6085244" y="1976923"/>
            <a:ext cx="1332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factor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34BD3-725C-9E6C-B58C-2ACA3D2E4C17}"/>
              </a:ext>
            </a:extLst>
          </p:cNvPr>
          <p:cNvSpPr/>
          <p:nvPr/>
        </p:nvSpPr>
        <p:spPr>
          <a:xfrm>
            <a:off x="3151519" y="3148411"/>
            <a:ext cx="4878458" cy="1411994"/>
          </a:xfrm>
          <a:prstGeom prst="rect">
            <a:avLst/>
          </a:prstGeom>
          <a:solidFill>
            <a:srgbClr val="FFFFFF">
              <a:alpha val="89804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VARIANCE ACCOUNTED FOR</a:t>
            </a:r>
          </a:p>
          <a:p>
            <a:pPr algn="ctr"/>
            <a:r>
              <a:rPr lang="en-GB" sz="2000" dirty="0">
                <a:solidFill>
                  <a:srgbClr val="FF0000"/>
                </a:solidFill>
              </a:rPr>
              <a:t>(how much total variance is </a:t>
            </a:r>
            <a:r>
              <a:rPr lang="en-GB" sz="2000" dirty="0">
                <a:solidFill>
                  <a:schemeClr val="bg1"/>
                </a:solidFill>
              </a:rPr>
              <a:t>accounted for </a:t>
            </a:r>
            <a:r>
              <a:rPr lang="en-GB" sz="2000" i="1" dirty="0">
                <a:solidFill>
                  <a:srgbClr val="FF0000"/>
                </a:solidFill>
              </a:rPr>
              <a:t>by</a:t>
            </a:r>
            <a:r>
              <a:rPr lang="en-GB" sz="2000" dirty="0">
                <a:solidFill>
                  <a:srgbClr val="FF0000"/>
                </a:solidFill>
              </a:rPr>
              <a:t> each</a:t>
            </a:r>
            <a:r>
              <a:rPr lang="en-GB" sz="2000" dirty="0">
                <a:solidFill>
                  <a:schemeClr val="bg1"/>
                </a:solidFill>
              </a:rPr>
              <a:t> component</a:t>
            </a:r>
            <a:r>
              <a:rPr lang="en-GB" sz="20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A8BE6-F43B-07B1-CD92-A45E9E2C94A7}"/>
              </a:ext>
            </a:extLst>
          </p:cNvPr>
          <p:cNvSpPr txBox="1"/>
          <p:nvPr/>
        </p:nvSpPr>
        <p:spPr>
          <a:xfrm>
            <a:off x="5329706" y="3966184"/>
            <a:ext cx="1332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FF0000"/>
                </a:solidFill>
              </a:rPr>
              <a:t>factor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8AA45-E8BF-77A8-2BE9-8666E9EC3A66}"/>
              </a:ext>
            </a:extLst>
          </p:cNvPr>
          <p:cNvSpPr txBox="1"/>
          <p:nvPr/>
        </p:nvSpPr>
        <p:spPr>
          <a:xfrm>
            <a:off x="6430845" y="3661243"/>
            <a:ext cx="1332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>
                <a:solidFill>
                  <a:srgbClr val="FF0000"/>
                </a:solidFill>
              </a:rPr>
              <a:t>explained</a:t>
            </a:r>
          </a:p>
        </p:txBody>
      </p:sp>
    </p:spTree>
    <p:extLst>
      <p:ext uri="{BB962C8B-B14F-4D97-AF65-F5344CB8AC3E}">
        <p14:creationId xmlns:p14="http://schemas.microsoft.com/office/powerpoint/2010/main" val="1155713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56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University of Edinburgh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Josiah King</dc:creator>
  <cp:lastModifiedBy>Josiah King</cp:lastModifiedBy>
  <cp:revision>5</cp:revision>
  <dcterms:created xsi:type="dcterms:W3CDTF">2026-08-05T10:33:50Z</dcterms:created>
  <dcterms:modified xsi:type="dcterms:W3CDTF">2026-08-25T13:22:59Z</dcterms:modified>
</cp:coreProperties>
</file>