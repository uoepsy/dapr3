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7493-0EEB-46C6-A3BC-F5896A004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084BE-8B9E-4B3A-8D90-8F4D710F8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3F161-A72C-4470-B28D-F7A94EC8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3A7C-589C-4728-A17F-0BA5E6B4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8BD87-A982-4630-96F5-A053B255E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00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EEA1-A6C5-4D8E-8712-B640EB51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A37FE-851F-4B47-AC86-9F99F022C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27D0E-B5D4-40DE-8CC4-FB2C68F0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DE547-2741-46E4-AA1B-87DC3D719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6A7D1-4C7A-4BAF-92D3-8C16FDF1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45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59FF-43CA-40AE-A951-AC164703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24ECF-A4D8-4818-B3C1-67FA6B8F5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988B1-E410-4F4C-9A6A-47CBC644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51CBA-B741-4334-91B8-FF195B06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B389A-C9A8-493A-B468-80A3067C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15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83C4-6DF5-445B-A468-5E237F4C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8B935-69B0-4AA2-93CC-410080823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FEED4-5594-48D3-A81D-708AC06C2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DFDD7-D7D8-46D7-8A24-DDF7DBFE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4E9D7-37A6-4234-850A-B14F070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32398-1967-4DC7-A890-6FC9358F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02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B181-97F9-4BB1-BCDC-CE94932D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249BF-E500-4D8E-AF09-D635D689D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E1A0B-99B8-450E-B6D8-3221BAFA6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01936-B8CD-409B-A6CA-5E0D68A13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14A79-4A96-483D-A57F-F590BD477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420FD-C360-4F2D-9F88-10F5531E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3A37D8-1BAE-4722-94F3-65ED466B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40869-15B5-4071-A3D3-50F80C5A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0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2771-2F4D-4B20-BD7B-33867067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FE25A-FD42-460A-8137-56CEC6AE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2D98B-2844-45A5-B8E0-17D9B433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16200-4445-497B-B419-179A3A9EE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75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E0A64-150E-4C6B-8F53-F05A97AE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9A6C4-507B-413F-9201-1FE77D24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4410B-54D9-4288-BEC3-2E92A00F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5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DFCC-665D-4477-A34A-F57DD453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C21F0-0E97-49EA-AA05-C30D78584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1C907-4771-4F48-AE16-B6EA4986B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C199C-337F-4611-BBC5-A8F53973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AEE26-6A86-406D-A691-8B7C1C51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C15C5-2166-46FC-8148-4907486D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59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1C95-434D-4B4C-8E80-985AFB35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16DCD-DDB6-455A-B1A6-D780EE800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9B563-36C2-4AA4-8691-8491C5C92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B2F28-16F5-4E81-B06D-FED2B33B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D7F67-CAE9-44DA-8580-44869680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58C21-F9AF-49D1-B899-A1868C96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E33E-3F4A-48B8-83BD-1393F4F8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C0622-D880-4299-BCC2-F33CD14CD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7236A-6652-428B-88E9-A7E7AE72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64729-CC0F-4A62-B1D7-825B784C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8D774-2920-419A-B888-EFF60207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89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0DD7E-C3A7-45AD-8806-22545AA91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F077-6A79-4AF9-B8D0-540BCB18E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4FDB-5167-4FC4-86DA-B8DB053A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5997F-01BA-4BAF-A8C0-37CD756C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51B61-5C5A-4354-B74D-0AC26FFC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7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97039-1F80-4755-81A8-F8B0F2EF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8B1BE-E1E1-484F-AEBB-F1DE296AE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25907-B77A-4E35-B227-709278CBB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70DF9-C7AF-4A71-9428-E677F4208D4C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98023-FFD8-4D20-86F9-591DDA978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9E718-A0FB-4D82-B540-0C5C29E0D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07FCE-BDCD-4188-81A7-657C8F6B4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54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9B2651A-4539-4EC9-97AC-6093931C2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41" y="1190559"/>
            <a:ext cx="7163800" cy="44011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9060D0-4EE2-4558-9E76-F3E7EFF77033}"/>
              </a:ext>
            </a:extLst>
          </p:cNvPr>
          <p:cNvSpPr/>
          <p:nvPr/>
        </p:nvSpPr>
        <p:spPr>
          <a:xfrm>
            <a:off x="497616" y="4114800"/>
            <a:ext cx="6231467" cy="2370667"/>
          </a:xfrm>
          <a:prstGeom prst="rect">
            <a:avLst/>
          </a:prstGeom>
          <a:gradFill>
            <a:gsLst>
              <a:gs pos="0">
                <a:schemeClr val="bg1">
                  <a:alpha val="65000"/>
                </a:schemeClr>
              </a:gs>
              <a:gs pos="100000">
                <a:schemeClr val="bg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56095D-A896-4325-9FCA-946E5F4DC405}"/>
              </a:ext>
            </a:extLst>
          </p:cNvPr>
          <p:cNvSpPr/>
          <p:nvPr/>
        </p:nvSpPr>
        <p:spPr>
          <a:xfrm>
            <a:off x="497616" y="1773382"/>
            <a:ext cx="2151303" cy="8312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59A0B0-F208-4ACC-971D-8C6616D0D757}"/>
              </a:ext>
            </a:extLst>
          </p:cNvPr>
          <p:cNvSpPr/>
          <p:nvPr/>
        </p:nvSpPr>
        <p:spPr>
          <a:xfrm>
            <a:off x="497617" y="2743199"/>
            <a:ext cx="3945466" cy="1278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25CE1-211B-4C9F-97BB-A47BB93085D6}"/>
              </a:ext>
            </a:extLst>
          </p:cNvPr>
          <p:cNvSpPr txBox="1"/>
          <p:nvPr/>
        </p:nvSpPr>
        <p:spPr>
          <a:xfrm>
            <a:off x="5787695" y="1773382"/>
            <a:ext cx="5968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“loadings”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accent6"/>
                </a:solidFill>
              </a:rPr>
              <a:t>directions </a:t>
            </a:r>
            <a:r>
              <a:rPr lang="en-GB" dirty="0">
                <a:solidFill>
                  <a:srgbClr val="FF0000"/>
                </a:solidFill>
              </a:rPr>
              <a:t>of each dimension (relative to original variables)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rgbClr val="FF0000"/>
                </a:solidFill>
              </a:rPr>
              <a:t>Correlations between items and components: </a:t>
            </a:r>
            <a:r>
              <a:rPr lang="en-GB" b="1" dirty="0">
                <a:solidFill>
                  <a:schemeClr val="accent6"/>
                </a:solidFill>
              </a:rPr>
              <a:t>r</a:t>
            </a:r>
            <a:r>
              <a:rPr lang="en-GB" b="1" baseline="-25000" dirty="0">
                <a:solidFill>
                  <a:schemeClr val="accent6"/>
                </a:solidFill>
              </a:rPr>
              <a:t>Q1,PC1 </a:t>
            </a:r>
            <a:r>
              <a:rPr lang="en-GB" b="1" dirty="0">
                <a:solidFill>
                  <a:schemeClr val="accent6"/>
                </a:solidFill>
              </a:rPr>
              <a:t>= .91</a:t>
            </a:r>
            <a:endParaRPr lang="en-GB" b="1" baseline="-25000" dirty="0">
              <a:solidFill>
                <a:schemeClr val="accent6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rgbClr val="FF0000"/>
                </a:solidFill>
              </a:rPr>
              <a:t>Squaring them gives us proportion of variance in item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captured by each component: </a:t>
            </a:r>
            <a:r>
              <a:rPr lang="en-GB" b="1" dirty="0">
                <a:solidFill>
                  <a:schemeClr val="accent6"/>
                </a:solidFill>
              </a:rPr>
              <a:t>R</a:t>
            </a:r>
            <a:r>
              <a:rPr lang="en-GB" b="1" baseline="30000" dirty="0">
                <a:solidFill>
                  <a:schemeClr val="accent6"/>
                </a:solidFill>
              </a:rPr>
              <a:t>2</a:t>
            </a:r>
            <a:r>
              <a:rPr lang="en-GB" b="1" baseline="-25000" dirty="0">
                <a:solidFill>
                  <a:schemeClr val="accent6"/>
                </a:solidFill>
              </a:rPr>
              <a:t>Q1,PC1 </a:t>
            </a:r>
            <a:r>
              <a:rPr lang="en-GB" b="1" dirty="0">
                <a:solidFill>
                  <a:schemeClr val="accent6"/>
                </a:solidFill>
              </a:rPr>
              <a:t>= .83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1E319-0932-45D7-BE4E-79F026FBD4B6}"/>
              </a:ext>
            </a:extLst>
          </p:cNvPr>
          <p:cNvSpPr txBox="1"/>
          <p:nvPr/>
        </p:nvSpPr>
        <p:spPr>
          <a:xfrm>
            <a:off x="6095999" y="3189293"/>
            <a:ext cx="58633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“variance accounted for”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accent6"/>
                </a:solidFill>
              </a:rPr>
              <a:t>magnitude</a:t>
            </a:r>
            <a:r>
              <a:rPr lang="en-GB" dirty="0">
                <a:solidFill>
                  <a:srgbClr val="FF0000"/>
                </a:solidFill>
              </a:rPr>
              <a:t> of each dimension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rgbClr val="FF0000"/>
                </a:solidFill>
              </a:rPr>
              <a:t>SS loadings = “sums of squared loadings” = proportion of 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total variance (across all items) captured by each component </a:t>
            </a:r>
            <a:r>
              <a:rPr lang="en-GB" dirty="0">
                <a:solidFill>
                  <a:schemeClr val="accent6"/>
                </a:solidFill>
              </a:rPr>
              <a:t>i.e., </a:t>
            </a:r>
            <a:r>
              <a:rPr lang="en-GB" b="1" dirty="0">
                <a:solidFill>
                  <a:schemeClr val="accent6"/>
                </a:solidFill>
              </a:rPr>
              <a:t>R</a:t>
            </a:r>
            <a:r>
              <a:rPr lang="en-GB" b="1" baseline="30000" dirty="0">
                <a:solidFill>
                  <a:schemeClr val="accent6"/>
                </a:solidFill>
              </a:rPr>
              <a:t>2</a:t>
            </a:r>
            <a:r>
              <a:rPr lang="en-GB" b="1" baseline="-25000" dirty="0">
                <a:solidFill>
                  <a:schemeClr val="accent6"/>
                </a:solidFill>
              </a:rPr>
              <a:t>Q1,PC1</a:t>
            </a:r>
            <a:r>
              <a:rPr lang="en-GB" b="1" dirty="0">
                <a:solidFill>
                  <a:schemeClr val="accent6"/>
                </a:solidFill>
              </a:rPr>
              <a:t> + R</a:t>
            </a:r>
            <a:r>
              <a:rPr lang="en-GB" b="1" baseline="30000" dirty="0">
                <a:solidFill>
                  <a:schemeClr val="accent6"/>
                </a:solidFill>
              </a:rPr>
              <a:t>2</a:t>
            </a:r>
            <a:r>
              <a:rPr lang="en-GB" b="1" baseline="-25000" dirty="0">
                <a:solidFill>
                  <a:schemeClr val="accent6"/>
                </a:solidFill>
              </a:rPr>
              <a:t>Q2,PC1</a:t>
            </a:r>
            <a:r>
              <a:rPr lang="en-GB" b="1" dirty="0">
                <a:solidFill>
                  <a:schemeClr val="accent6"/>
                </a:solidFill>
              </a:rPr>
              <a:t> + R</a:t>
            </a:r>
            <a:r>
              <a:rPr lang="en-GB" b="1" baseline="30000" dirty="0">
                <a:solidFill>
                  <a:schemeClr val="accent6"/>
                </a:solidFill>
              </a:rPr>
              <a:t>2</a:t>
            </a:r>
            <a:r>
              <a:rPr lang="en-GB" b="1" baseline="-25000" dirty="0">
                <a:solidFill>
                  <a:schemeClr val="accent6"/>
                </a:solidFill>
              </a:rPr>
              <a:t>Q3,PC1</a:t>
            </a:r>
            <a:r>
              <a:rPr lang="en-GB" b="1" dirty="0">
                <a:solidFill>
                  <a:schemeClr val="accent6"/>
                </a:solidFill>
              </a:rPr>
              <a:t> = 2.06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A057B92-2445-43ED-B784-2864DAB30C1C}"/>
              </a:ext>
            </a:extLst>
          </p:cNvPr>
          <p:cNvSpPr/>
          <p:nvPr/>
        </p:nvSpPr>
        <p:spPr>
          <a:xfrm>
            <a:off x="5632419" y="1889185"/>
            <a:ext cx="155276" cy="1200328"/>
          </a:xfrm>
          <a:prstGeom prst="leftBrace">
            <a:avLst>
              <a:gd name="adj1" fmla="val 8333"/>
              <a:gd name="adj2" fmla="val 5241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4C69C180-DD28-4B88-8395-6A94CAFEFEBD}"/>
              </a:ext>
            </a:extLst>
          </p:cNvPr>
          <p:cNvSpPr/>
          <p:nvPr/>
        </p:nvSpPr>
        <p:spPr>
          <a:xfrm>
            <a:off x="5940723" y="3282520"/>
            <a:ext cx="155276" cy="715470"/>
          </a:xfrm>
          <a:prstGeom prst="leftBrace">
            <a:avLst>
              <a:gd name="adj1" fmla="val 8333"/>
              <a:gd name="adj2" fmla="val 5241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E2AC0C-0086-4003-A59E-9802AFA9D3EC}"/>
              </a:ext>
            </a:extLst>
          </p:cNvPr>
          <p:cNvCxnSpPr>
            <a:cxnSpLocks/>
            <a:stCxn id="11" idx="1"/>
            <a:endCxn id="7" idx="3"/>
          </p:cNvCxnSpPr>
          <p:nvPr/>
        </p:nvCxnSpPr>
        <p:spPr>
          <a:xfrm flipH="1" flipV="1">
            <a:off x="2648919" y="2189019"/>
            <a:ext cx="2983500" cy="3292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106941-9AEF-4A0A-8991-1A307FB6F4F1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443083" y="3657505"/>
            <a:ext cx="14976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BBFC30-CD3D-0D98-051A-57374ADB9EC4}"/>
                  </a:ext>
                </a:extLst>
              </p:cNvPr>
              <p:cNvSpPr txBox="1"/>
              <p:nvPr/>
            </p:nvSpPr>
            <p:spPr>
              <a:xfrm>
                <a:off x="9159403" y="4985826"/>
                <a:ext cx="6094562" cy="50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GB" sz="1200" b="0" dirty="0">
                    <a:solidFill>
                      <a:schemeClr val="accent6"/>
                    </a:solidFill>
                  </a:rPr>
                  <a:t>SS loadings =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𝑒𝑖𝑔𝑒𝑛𝑣𝑎𝑙𝑢𝑒𝑠</m:t>
                    </m:r>
                  </m:oMath>
                </a14:m>
                <a:endParaRPr lang="en-GB" sz="1200" b="0" i="1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GB" sz="1200" b="0" dirty="0">
                    <a:solidFill>
                      <a:schemeClr val="accent6"/>
                    </a:solidFill>
                  </a:rPr>
                  <a:t>Loadings =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𝑒𝑖𝑔𝑒𝑛𝑣𝑒𝑐𝑡𝑜𝑟</m:t>
                    </m:r>
                    <m:r>
                      <a:rPr lang="en-GB" sz="120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GB" sz="12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𝑒𝑖𝑔𝑒𝑛𝑣𝑎𝑙𝑢𝑒</m:t>
                        </m:r>
                      </m:e>
                    </m:rad>
                  </m:oMath>
                </a14:m>
                <a:endParaRPr lang="en-GB" sz="12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BBFC30-CD3D-0D98-051A-57374ADB9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403" y="4985826"/>
                <a:ext cx="6094562" cy="500650"/>
              </a:xfrm>
              <a:prstGeom prst="rect">
                <a:avLst/>
              </a:prstGeom>
              <a:blipFill>
                <a:blip r:embed="rId3"/>
                <a:stretch>
                  <a:fillRect l="-100" t="-1220" b="-73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D6A81C4-F120-F8F6-3046-638E277D0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892" y="4872460"/>
            <a:ext cx="629022" cy="58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4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8</cp:revision>
  <dcterms:created xsi:type="dcterms:W3CDTF">2026-04-13T11:31:57Z</dcterms:created>
  <dcterms:modified xsi:type="dcterms:W3CDTF">2026-08-25T10:41:18Z</dcterms:modified>
</cp:coreProperties>
</file>