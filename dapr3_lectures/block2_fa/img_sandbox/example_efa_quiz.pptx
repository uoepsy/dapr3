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9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2731-582F-C241-37FB-7A12C75E5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4102F-302A-1C2F-2880-1E06B70DD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38FC-03DD-17D1-F59A-4B7B992D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6B62D-0812-5DE1-32AF-E34ED230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208F-0F64-B37B-F690-962C9DB9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0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8E70-3E98-77E4-55B8-9B2C56A8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9E53-1F66-3DF6-7785-893D17E86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3177-3447-BE0D-F08D-29D7B8A2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AC9C-04FB-0546-6F79-FC6C6191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97FD1-5AE7-F5A1-AC54-7077CF55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7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D49A-87D3-5526-D149-A0393134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C5980-9C1B-DFE6-8AED-DA6100CC7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30956-46E9-16F1-4DD7-46FE7C66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4417E-E9F6-EB3E-7C34-553B5198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D6D48-BC4B-BD6B-86D5-B0E6DDF0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40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9E5D-B58B-BB30-D62F-FF7FC367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8761-0365-19A7-12CF-21B58D225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8B3E0-8190-0B79-034E-CD327854F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08607-7F08-93A5-E000-BCCEEF58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72DDE-F396-C48D-D1AD-49F397F9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1055E-33D4-18A9-D014-FA431182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2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4CD8-70B1-F31E-39AF-8FE3E484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4F38F-3DE0-5C20-0FD2-B3FC7C3F8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B39CE-6EAB-F634-7DD1-FD86C7F7E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1F4DC-E42C-3BB3-F0E5-3D9A0E3B9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F271D-EE29-C2D9-8CE2-CDDB39B2D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1499B-AE4B-2AA3-0D24-437444C2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FC255-E1D9-BA2D-76D5-EAFBA6F9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7B8F3-188B-D5EE-2149-AF15A9E8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39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C9B4-406B-52CB-41DF-E35EB2C2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358FB-DC0F-21E4-9909-E4FD3EF0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3335-8079-1B61-A602-46C4DC5D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02C96-9105-60C2-35F9-73939565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08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062B7-F84C-D551-94E8-95616908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C5597-388D-A457-A107-8B0D0C6D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C88C4-6C10-D430-E692-022E0119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31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0C97-7163-C159-CE2E-F9584BE9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5F1A9-436A-5A89-2DD8-6EA9E8229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505D7-F489-6540-D778-FC97B8CCD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25C81-C985-A96C-9B3F-37E08A68D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1462-74CD-CF5F-C623-504FC6DE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A17E-7088-5FA3-540A-606B7022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30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7F7A-B102-4DB6-073C-0CAA2A3F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28E05-9F7F-A2AA-F5D9-C9C4C92C8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6CE31-B067-12CE-823F-EC1FA9BE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91694-4AE2-C8A4-C475-356B15D7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932D0-C652-363C-72F1-C474BCB5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38B9C-ADD2-D5E1-4000-34570387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21EA-EF06-7323-2741-BB522537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F5C43-9B9D-68A3-8C27-39B27F388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2FBF-20CA-19F8-8788-02095842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C5255-9811-160C-A4C5-91C2B895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F4556-2547-A1E0-B68C-39DEF7CA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1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A474D-EE6E-38C2-45E8-B3C0DFBA0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E64B2-26F6-AAEC-A97E-8C579403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5513E-B971-CB39-DD4E-B64B3BB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9B367-E76F-E058-2AA1-BBD627F9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B250A-790A-8A7C-F88C-0B0B9690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9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54349-DBFB-5F10-1081-33575D32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426FA-76DB-CA91-3664-AD7D074E0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3D567-3095-90A1-A7B6-7ADC11D03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89063-D6D9-46AB-B395-02FB4C29099A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9D9B2-DA60-1E81-EFC8-F073EF15C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8D7B1-3875-2E1F-28A8-B44FB5AD8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998AA-05A0-4253-9BE1-9C771A82F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26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265CB4B-32C4-3EA3-0FF0-19E911D01D1D}"/>
              </a:ext>
            </a:extLst>
          </p:cNvPr>
          <p:cNvGrpSpPr/>
          <p:nvPr/>
        </p:nvGrpSpPr>
        <p:grpSpPr>
          <a:xfrm>
            <a:off x="399555" y="94784"/>
            <a:ext cx="8078327" cy="6630325"/>
            <a:chOff x="399555" y="94784"/>
            <a:chExt cx="8078327" cy="663032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6002963-D74A-747F-D46E-E8B3AAE1B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555" y="94784"/>
              <a:ext cx="8078327" cy="663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FD275C-3C11-C072-0507-95E3649F684F}"/>
                </a:ext>
              </a:extLst>
            </p:cNvPr>
            <p:cNvSpPr/>
            <p:nvPr/>
          </p:nvSpPr>
          <p:spPr>
            <a:xfrm>
              <a:off x="888521" y="996351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240806-F24D-2F32-00CA-03867DB52F46}"/>
                </a:ext>
              </a:extLst>
            </p:cNvPr>
            <p:cNvSpPr/>
            <p:nvPr/>
          </p:nvSpPr>
          <p:spPr>
            <a:xfrm>
              <a:off x="2260123" y="996351"/>
              <a:ext cx="690113" cy="182879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738CE9-2264-90D6-DD06-CDCA0F690774}"/>
                </a:ext>
              </a:extLst>
            </p:cNvPr>
            <p:cNvSpPr/>
            <p:nvPr/>
          </p:nvSpPr>
          <p:spPr>
            <a:xfrm>
              <a:off x="1575761" y="1216325"/>
              <a:ext cx="690113" cy="91860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DE6D55-EBCB-5DF1-6342-078C136FCCA3}"/>
                </a:ext>
              </a:extLst>
            </p:cNvPr>
            <p:cNvSpPr/>
            <p:nvPr/>
          </p:nvSpPr>
          <p:spPr>
            <a:xfrm>
              <a:off x="828137" y="1686463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9BF254-A014-E905-4066-0B9177045406}"/>
                </a:ext>
              </a:extLst>
            </p:cNvPr>
            <p:cNvSpPr/>
            <p:nvPr/>
          </p:nvSpPr>
          <p:spPr>
            <a:xfrm>
              <a:off x="828137" y="2152290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042187-2704-476B-F39B-508D252311C1}"/>
                </a:ext>
              </a:extLst>
            </p:cNvPr>
            <p:cNvSpPr/>
            <p:nvPr/>
          </p:nvSpPr>
          <p:spPr>
            <a:xfrm>
              <a:off x="828136" y="2605176"/>
              <a:ext cx="690113" cy="89294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B550C5-4178-A9DE-6C70-B7B79E6A1176}"/>
                </a:ext>
              </a:extLst>
            </p:cNvPr>
            <p:cNvSpPr/>
            <p:nvPr/>
          </p:nvSpPr>
          <p:spPr>
            <a:xfrm>
              <a:off x="1531188" y="2370052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2DE5A4-B048-4B37-F045-CB843CB95FFF}"/>
                </a:ext>
              </a:extLst>
            </p:cNvPr>
            <p:cNvSpPr/>
            <p:nvPr/>
          </p:nvSpPr>
          <p:spPr>
            <a:xfrm>
              <a:off x="1531188" y="2825149"/>
              <a:ext cx="690113" cy="666443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0ACD622-D053-C840-D18B-36E2DFF78D73}"/>
                </a:ext>
              </a:extLst>
            </p:cNvPr>
            <p:cNvSpPr/>
            <p:nvPr/>
          </p:nvSpPr>
          <p:spPr>
            <a:xfrm>
              <a:off x="2221301" y="3066688"/>
              <a:ext cx="690113" cy="431427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3365C5-8567-C60A-4076-340ACB7891A0}"/>
                </a:ext>
              </a:extLst>
            </p:cNvPr>
            <p:cNvSpPr/>
            <p:nvPr/>
          </p:nvSpPr>
          <p:spPr>
            <a:xfrm>
              <a:off x="2911413" y="996351"/>
              <a:ext cx="690113" cy="69011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04CCB2-E23E-10B3-D7B5-69C99B283B46}"/>
                </a:ext>
              </a:extLst>
            </p:cNvPr>
            <p:cNvSpPr/>
            <p:nvPr/>
          </p:nvSpPr>
          <p:spPr>
            <a:xfrm>
              <a:off x="2911414" y="1921533"/>
              <a:ext cx="690113" cy="1145156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D72B93A-82A3-A488-6957-B23EC27219A8}"/>
              </a:ext>
            </a:extLst>
          </p:cNvPr>
          <p:cNvSpPr txBox="1"/>
          <p:nvPr/>
        </p:nvSpPr>
        <p:spPr>
          <a:xfrm>
            <a:off x="5802930" y="946532"/>
            <a:ext cx="60960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My manager actively helps me overcome workplace obstacles.</a:t>
            </a:r>
          </a:p>
          <a:p>
            <a:r>
              <a:rPr lang="en-GB" sz="1500" dirty="0">
                <a:solidFill>
                  <a:schemeClr val="accent4"/>
                </a:solidFill>
              </a:rPr>
              <a:t>I feel emotionally drained at the end of my workday.</a:t>
            </a:r>
          </a:p>
          <a:p>
            <a:r>
              <a:rPr lang="en-GB" sz="1500" dirty="0">
                <a:solidFill>
                  <a:schemeClr val="accent4"/>
                </a:solidFill>
              </a:rPr>
              <a:t>I feel wiped out before my workday even begins.</a:t>
            </a:r>
          </a:p>
          <a:p>
            <a:r>
              <a:rPr lang="en-GB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 have total control over how I structure my daily tasks.</a:t>
            </a:r>
          </a:p>
          <a:p>
            <a:r>
              <a:rPr lang="en-GB" sz="1500" dirty="0">
                <a:solidFill>
                  <a:schemeClr val="accent4"/>
                </a:solidFill>
              </a:rPr>
              <a:t>Working all day is a real strain for me.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receive constructive and timely feedback from leadership.</a:t>
            </a:r>
          </a:p>
          <a:p>
            <a:r>
              <a:rPr lang="en-GB" sz="1500" dirty="0">
                <a:solidFill>
                  <a:schemeClr val="accent4"/>
                </a:solidFill>
              </a:rPr>
              <a:t>I feel burned out from my current job responsibilities.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feel supported by my organization when facing heavy demands.</a:t>
            </a:r>
          </a:p>
          <a:p>
            <a:r>
              <a:rPr lang="en-GB" sz="1500" dirty="0">
                <a:solidFill>
                  <a:schemeClr val="accent5"/>
                </a:solidFill>
              </a:rPr>
              <a:t>Overall, I am completely satisfied with my job.</a:t>
            </a:r>
          </a:p>
          <a:p>
            <a:r>
              <a:rPr lang="en-GB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 am free to decide when to take breaks or complete tasks.</a:t>
            </a:r>
          </a:p>
          <a:p>
            <a:r>
              <a:rPr lang="en-GB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 can choose the methods I use to accomplish my goals.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B943529-6B55-6708-B36E-E0CA826A934A}"/>
              </a:ext>
            </a:extLst>
          </p:cNvPr>
          <p:cNvGrpSpPr/>
          <p:nvPr/>
        </p:nvGrpSpPr>
        <p:grpSpPr>
          <a:xfrm>
            <a:off x="5198807" y="1095375"/>
            <a:ext cx="604124" cy="2298937"/>
            <a:chOff x="5343525" y="1095375"/>
            <a:chExt cx="459405" cy="229893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3779495-45AD-A53D-7013-FABF3CFB9FEF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1095375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71D9239-7877-DD4B-1328-6E4A45CFCAAF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1338049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4EB161F-1992-10FB-421B-03A4761F46A9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1554139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DA4972E-B603-F8C3-4AEB-1446BB4C1011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1783876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771B403-9BFE-32EC-A6B3-E398EB1A9D64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2025697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3EF248A-F17F-3622-BAD4-D68BBD40E941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2268371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51B0A53-5B4E-B115-2612-1B18296240B5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2484461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5DC3E27-0C10-56F8-09B9-85306D57ADEE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2714198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0A54E9B-9008-5D0A-3F31-70BD845B81CC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2935548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814262B-5613-2D5B-2A8D-0BE900087AFB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3178222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F5EB16D-D17E-8AF7-5A8E-535EEFAEC5FC}"/>
                </a:ext>
              </a:extLst>
            </p:cNvPr>
            <p:cNvCxnSpPr>
              <a:cxnSpLocks/>
            </p:cNvCxnSpPr>
            <p:nvPr/>
          </p:nvCxnSpPr>
          <p:spPr>
            <a:xfrm>
              <a:off x="5343525" y="3394312"/>
              <a:ext cx="4594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304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8283819-98A5-A517-3FCF-49D0DC6F5828}"/>
              </a:ext>
            </a:extLst>
          </p:cNvPr>
          <p:cNvGrpSpPr/>
          <p:nvPr/>
        </p:nvGrpSpPr>
        <p:grpSpPr>
          <a:xfrm>
            <a:off x="262504" y="203963"/>
            <a:ext cx="6578733" cy="6447576"/>
            <a:chOff x="262504" y="203963"/>
            <a:chExt cx="6578733" cy="64475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92FD988-1DA7-3954-155D-0C75A4767230}"/>
                </a:ext>
              </a:extLst>
            </p:cNvPr>
            <p:cNvGrpSpPr/>
            <p:nvPr/>
          </p:nvGrpSpPr>
          <p:grpSpPr>
            <a:xfrm>
              <a:off x="262504" y="203963"/>
              <a:ext cx="6578733" cy="6447576"/>
              <a:chOff x="1124653" y="203963"/>
              <a:chExt cx="6578733" cy="644757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6F7FC9C-0C17-C520-E986-A26409E28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4653" y="203963"/>
                <a:ext cx="6578733" cy="5524551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899E433-8CAF-4A38-34D6-37D2174DF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4653" y="5882699"/>
                <a:ext cx="2750386" cy="768840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9ED7CF-8FB9-2148-BE4E-4A7500D5E1E2}"/>
                </a:ext>
              </a:extLst>
            </p:cNvPr>
            <p:cNvSpPr/>
            <p:nvPr/>
          </p:nvSpPr>
          <p:spPr>
            <a:xfrm>
              <a:off x="638368" y="966662"/>
              <a:ext cx="550533" cy="74063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2D52C2-065C-61AD-6C84-F969D67E3D90}"/>
                </a:ext>
              </a:extLst>
            </p:cNvPr>
            <p:cNvSpPr/>
            <p:nvPr/>
          </p:nvSpPr>
          <p:spPr>
            <a:xfrm>
              <a:off x="625667" y="1919047"/>
              <a:ext cx="550533" cy="1691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7805AE-59F2-A2AF-B134-DDB0798326C9}"/>
                </a:ext>
              </a:extLst>
            </p:cNvPr>
            <p:cNvSpPr/>
            <p:nvPr/>
          </p:nvSpPr>
          <p:spPr>
            <a:xfrm>
              <a:off x="638368" y="2881651"/>
              <a:ext cx="550533" cy="1691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3D9794-2912-0813-5FCA-08C30AC2942B}"/>
                </a:ext>
              </a:extLst>
            </p:cNvPr>
            <p:cNvSpPr/>
            <p:nvPr/>
          </p:nvSpPr>
          <p:spPr>
            <a:xfrm>
              <a:off x="625666" y="3257891"/>
              <a:ext cx="550533" cy="1691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1A89FD-1170-E0E8-B8CC-BEC4C10764F8}"/>
                </a:ext>
              </a:extLst>
            </p:cNvPr>
            <p:cNvSpPr/>
            <p:nvPr/>
          </p:nvSpPr>
          <p:spPr>
            <a:xfrm>
              <a:off x="638367" y="3626966"/>
              <a:ext cx="550533" cy="587197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146FCC-8875-453B-FF96-BF59E76FE9E3}"/>
                </a:ext>
              </a:extLst>
            </p:cNvPr>
            <p:cNvSpPr/>
            <p:nvPr/>
          </p:nvSpPr>
          <p:spPr>
            <a:xfrm>
              <a:off x="1188900" y="1168231"/>
              <a:ext cx="550533" cy="1691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F1A487-1B49-AEEC-525B-0AB590D4B7B4}"/>
                </a:ext>
              </a:extLst>
            </p:cNvPr>
            <p:cNvSpPr/>
            <p:nvPr/>
          </p:nvSpPr>
          <p:spPr>
            <a:xfrm>
              <a:off x="1188900" y="1718328"/>
              <a:ext cx="550533" cy="11506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9A99E5-BB44-BFBE-564D-E770F6242B91}"/>
                </a:ext>
              </a:extLst>
            </p:cNvPr>
            <p:cNvSpPr/>
            <p:nvPr/>
          </p:nvSpPr>
          <p:spPr>
            <a:xfrm>
              <a:off x="1188900" y="3061858"/>
              <a:ext cx="550533" cy="92594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F2DA75-7AFC-5CF3-FD27-C04D01E9C9FE}"/>
                </a:ext>
              </a:extLst>
            </p:cNvPr>
            <p:cNvSpPr/>
            <p:nvPr/>
          </p:nvSpPr>
          <p:spPr>
            <a:xfrm>
              <a:off x="1188899" y="4214164"/>
              <a:ext cx="550533" cy="1691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6A23C96-BB6B-D7F5-3BEF-BBAD6ED68A30}"/>
              </a:ext>
            </a:extLst>
          </p:cNvPr>
          <p:cNvSpPr txBox="1"/>
          <p:nvPr/>
        </p:nvSpPr>
        <p:spPr>
          <a:xfrm>
            <a:off x="3684605" y="908248"/>
            <a:ext cx="60960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50" dirty="0">
                <a:solidFill>
                  <a:srgbClr val="FF0000"/>
                </a:solidFill>
              </a:rPr>
              <a:t>I buy things spontaneously</a:t>
            </a:r>
          </a:p>
          <a:p>
            <a:r>
              <a:rPr lang="en-GB" sz="1250" dirty="0"/>
              <a:t>I stick to favourite brands</a:t>
            </a:r>
          </a:p>
          <a:p>
            <a:r>
              <a:rPr lang="en-GB" sz="1250" dirty="0">
                <a:solidFill>
                  <a:srgbClr val="FF0000"/>
                </a:solidFill>
              </a:rPr>
              <a:t>I make unplanned purchases</a:t>
            </a:r>
          </a:p>
          <a:p>
            <a:r>
              <a:rPr lang="en-GB" sz="1250" dirty="0">
                <a:solidFill>
                  <a:srgbClr val="FF0000"/>
                </a:solidFill>
              </a:rPr>
              <a:t>I shop on impulse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stress over purchase choices</a:t>
            </a:r>
          </a:p>
          <a:p>
            <a:r>
              <a:rPr lang="en-GB" sz="1250" dirty="0"/>
              <a:t>I always buy the same label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worry about overspending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feel buyer's remorse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get anxious about bad deals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dread hidden fees</a:t>
            </a:r>
          </a:p>
          <a:p>
            <a:r>
              <a:rPr lang="en-GB" sz="1250" dirty="0">
                <a:solidFill>
                  <a:srgbClr val="FF0000"/>
                </a:solidFill>
              </a:rPr>
              <a:t>I treat myself frequently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second-guess my purchases</a:t>
            </a:r>
          </a:p>
          <a:p>
            <a:r>
              <a:rPr lang="en-GB" sz="1250" dirty="0"/>
              <a:t>I trust preferred brands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fear wrong choices</a:t>
            </a:r>
          </a:p>
          <a:p>
            <a:r>
              <a:rPr lang="en-GB" sz="1250" dirty="0"/>
              <a:t>I am loyal to specific shops</a:t>
            </a:r>
          </a:p>
          <a:p>
            <a:r>
              <a:rPr lang="en-GB" sz="1250" dirty="0"/>
              <a:t>I never switch retailers</a:t>
            </a:r>
          </a:p>
          <a:p>
            <a:r>
              <a:rPr lang="en-GB" sz="1250" dirty="0">
                <a:solidFill>
                  <a:srgbClr val="FF0000"/>
                </a:solidFill>
              </a:rPr>
              <a:t>I can't resist sales</a:t>
            </a:r>
          </a:p>
          <a:p>
            <a:r>
              <a:rPr lang="en-GB" sz="1250" dirty="0">
                <a:solidFill>
                  <a:srgbClr val="00B0F0"/>
                </a:solidFill>
              </a:rPr>
              <a:t>I obsess over checkout totals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4ECC733-35DA-FD79-3B77-2FF8B1DAA41E}"/>
              </a:ext>
            </a:extLst>
          </p:cNvPr>
          <p:cNvGrpSpPr/>
          <p:nvPr/>
        </p:nvGrpSpPr>
        <p:grpSpPr>
          <a:xfrm>
            <a:off x="3362631" y="1043541"/>
            <a:ext cx="398207" cy="3254006"/>
            <a:chOff x="3362631" y="1043541"/>
            <a:chExt cx="398207" cy="325400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3CC344-CC35-EA0C-1EDF-965DE641B2E6}"/>
                </a:ext>
              </a:extLst>
            </p:cNvPr>
            <p:cNvGrpSpPr/>
            <p:nvPr/>
          </p:nvGrpSpPr>
          <p:grpSpPr>
            <a:xfrm>
              <a:off x="3362631" y="1043541"/>
              <a:ext cx="398207" cy="1913511"/>
              <a:chOff x="5343525" y="1095375"/>
              <a:chExt cx="459405" cy="2298937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BF21685-A712-329F-3C92-759EF0822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095375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39F6FAD-7A8B-C818-AE5F-762495341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338049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6C49764-BE23-6CF2-D617-710839884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554139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4BEB8B2-81AE-594A-72EA-AF03EE0EDF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783876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0A5660F-FDED-32F9-989F-219987583C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025697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62B884E4-9828-70E2-D807-1E575B99E9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268371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807BE23-932E-3E87-FB7D-729EAD77A0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484461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9745893-B7B1-3D51-7490-5D3B1C39F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714198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0DA1415-3E7B-5877-300E-267509275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935548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39495AD-9CEB-AD01-E2E6-B9EE620C3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3178222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F2CD8B0-9099-B158-15DA-195EC57E1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3394312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63F3286-8C9B-E071-2BDD-47147955ED84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3141347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7C37DAB-14AC-A404-8073-B398ADD88097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3343336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60B8A2A-72A4-0C1E-11C5-1276185489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3523197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616CB60-3E19-1A69-64A1-DC7A30FBA40B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3714418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7E36A87-0F16-7B0A-B4FA-BFFAC97DA383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3915697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A5A177A-7E66-58CD-7CC7-82F5B4212E15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4117686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9831542-5CF9-622C-B4BB-0DA46E90E3BE}"/>
                </a:ext>
              </a:extLst>
            </p:cNvPr>
            <p:cNvCxnSpPr>
              <a:cxnSpLocks/>
            </p:cNvCxnSpPr>
            <p:nvPr/>
          </p:nvCxnSpPr>
          <p:spPr>
            <a:xfrm>
              <a:off x="3362631" y="4297547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304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1E20820-6A35-A67E-7755-B5F67EB2FB4E}"/>
              </a:ext>
            </a:extLst>
          </p:cNvPr>
          <p:cNvGrpSpPr/>
          <p:nvPr/>
        </p:nvGrpSpPr>
        <p:grpSpPr>
          <a:xfrm>
            <a:off x="339898" y="145013"/>
            <a:ext cx="7906853" cy="6411220"/>
            <a:chOff x="339898" y="145013"/>
            <a:chExt cx="7906853" cy="64112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C3A873-D3B6-9542-0B05-85C96FB69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898" y="145013"/>
              <a:ext cx="7906853" cy="641122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B690B7-0517-4C0F-5EA2-E42A02224ADD}"/>
                </a:ext>
              </a:extLst>
            </p:cNvPr>
            <p:cNvSpPr/>
            <p:nvPr/>
          </p:nvSpPr>
          <p:spPr>
            <a:xfrm>
              <a:off x="810144" y="1066019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407B90-910F-650B-4886-54683157B9AB}"/>
                </a:ext>
              </a:extLst>
            </p:cNvPr>
            <p:cNvSpPr/>
            <p:nvPr/>
          </p:nvSpPr>
          <p:spPr>
            <a:xfrm>
              <a:off x="814495" y="1749639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702E70-057E-A0EF-2A15-4B2C0FEC620E}"/>
                </a:ext>
              </a:extLst>
            </p:cNvPr>
            <p:cNvSpPr/>
            <p:nvPr/>
          </p:nvSpPr>
          <p:spPr>
            <a:xfrm>
              <a:off x="797079" y="2193782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1763B7-50AC-7D83-4B1B-12543C745A66}"/>
                </a:ext>
              </a:extLst>
            </p:cNvPr>
            <p:cNvSpPr/>
            <p:nvPr/>
          </p:nvSpPr>
          <p:spPr>
            <a:xfrm>
              <a:off x="775305" y="2877406"/>
              <a:ext cx="690113" cy="457355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B35A54-04C0-6DF0-7D3D-572DE2862851}"/>
                </a:ext>
              </a:extLst>
            </p:cNvPr>
            <p:cNvSpPr/>
            <p:nvPr/>
          </p:nvSpPr>
          <p:spPr>
            <a:xfrm>
              <a:off x="1465418" y="1297839"/>
              <a:ext cx="690113" cy="45179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3F38C76-D297-C309-C192-E946D18B4BB1}"/>
                </a:ext>
              </a:extLst>
            </p:cNvPr>
            <p:cNvSpPr/>
            <p:nvPr/>
          </p:nvSpPr>
          <p:spPr>
            <a:xfrm>
              <a:off x="1463444" y="1969613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390CAA-0006-63F2-EAA0-97EB90EF94FD}"/>
                </a:ext>
              </a:extLst>
            </p:cNvPr>
            <p:cNvSpPr/>
            <p:nvPr/>
          </p:nvSpPr>
          <p:spPr>
            <a:xfrm>
              <a:off x="1487192" y="2433262"/>
              <a:ext cx="666365" cy="44413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2C1EAA-6882-1840-2DC7-2FC8362BB806}"/>
                </a:ext>
              </a:extLst>
            </p:cNvPr>
            <p:cNvSpPr/>
            <p:nvPr/>
          </p:nvSpPr>
          <p:spPr>
            <a:xfrm>
              <a:off x="1463443" y="3336781"/>
              <a:ext cx="690113" cy="44413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7D8584-63FA-4961-9DFA-FEDA37B7A654}"/>
              </a:ext>
            </a:extLst>
          </p:cNvPr>
          <p:cNvSpPr txBox="1"/>
          <p:nvPr/>
        </p:nvSpPr>
        <p:spPr>
          <a:xfrm>
            <a:off x="4565794" y="992277"/>
            <a:ext cx="60947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I change topic to avoid arguments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feel deep compassion for suffering of others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am affected by other people's misfortunes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keep quiet rather than start conflict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want to protect vulnerable individuals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smooth over tense personal disagreements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feel deep compassion for anyone who suffers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share in the emotional pain of friends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yield easily to keep the peace</a:t>
            </a:r>
          </a:p>
          <a:p>
            <a:r>
              <a:rPr lang="en-GB" sz="1500" dirty="0">
                <a:solidFill>
                  <a:srgbClr val="FF0000"/>
                </a:solidFill>
              </a:rPr>
              <a:t>I avoid interpersonal confrontations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am touched by the hardships of others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I suffer along with people in trouble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3E48002-F2D2-E669-E778-8B1D4AAFBE59}"/>
              </a:ext>
            </a:extLst>
          </p:cNvPr>
          <p:cNvGrpSpPr/>
          <p:nvPr/>
        </p:nvGrpSpPr>
        <p:grpSpPr>
          <a:xfrm>
            <a:off x="3991166" y="1143270"/>
            <a:ext cx="605807" cy="2532453"/>
            <a:chOff x="3991166" y="1143270"/>
            <a:chExt cx="605807" cy="2532453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55B26CD-390D-E2F2-3FC0-AC69A3EA2E26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1143270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54382C-0018-1B55-EB81-AFF24F362251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1385944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FAFA9DB-94FC-41BC-26F6-34CB4C4E2E5C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1602034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CD68E36-9C98-6928-4117-6F67C94EBAA8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1831771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C861975-041A-6999-3A24-B946647F442E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2073592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648A628-9098-3340-A2B3-D1A3F0846606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2316266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E6FF12C-BC6B-312F-19D1-416242082BA7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2532356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7722F74-3725-ED58-2F45-2A050221D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2762093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8308C02-4D6C-2992-2E7F-A73B387BCE0C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2983443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90D486E-92C9-EB39-0888-ED21E8CED85D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3226117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F4F2DC7-75CA-8C1A-1725-C57F17290EBF}"/>
                </a:ext>
              </a:extLst>
            </p:cNvPr>
            <p:cNvCxnSpPr>
              <a:cxnSpLocks/>
            </p:cNvCxnSpPr>
            <p:nvPr/>
          </p:nvCxnSpPr>
          <p:spPr>
            <a:xfrm>
              <a:off x="3992849" y="3442207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AF96D9A-3B29-7BBB-E6CA-BB53265D3528}"/>
                </a:ext>
              </a:extLst>
            </p:cNvPr>
            <p:cNvCxnSpPr>
              <a:cxnSpLocks/>
            </p:cNvCxnSpPr>
            <p:nvPr/>
          </p:nvCxnSpPr>
          <p:spPr>
            <a:xfrm>
              <a:off x="3991166" y="3675723"/>
              <a:ext cx="6041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27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BBBCEF5-F013-7C19-23CB-D8606D9853AA}"/>
              </a:ext>
            </a:extLst>
          </p:cNvPr>
          <p:cNvGrpSpPr/>
          <p:nvPr/>
        </p:nvGrpSpPr>
        <p:grpSpPr>
          <a:xfrm>
            <a:off x="78314" y="0"/>
            <a:ext cx="7942343" cy="6858000"/>
            <a:chOff x="78314" y="0"/>
            <a:chExt cx="7942343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C7AD473-5066-A583-D694-99A2B597B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14" y="0"/>
              <a:ext cx="7942343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56D923-553E-0BD0-5EA1-80AA6EDA80FE}"/>
                </a:ext>
              </a:extLst>
            </p:cNvPr>
            <p:cNvSpPr/>
            <p:nvPr/>
          </p:nvSpPr>
          <p:spPr>
            <a:xfrm>
              <a:off x="531470" y="909266"/>
              <a:ext cx="690113" cy="67569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C0A2A8-C03A-4860-F6D7-489E3DB062DE}"/>
                </a:ext>
              </a:extLst>
            </p:cNvPr>
            <p:cNvSpPr/>
            <p:nvPr/>
          </p:nvSpPr>
          <p:spPr>
            <a:xfrm>
              <a:off x="531469" y="1818531"/>
              <a:ext cx="690113" cy="454405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E173D0-CEA1-AA1F-79B6-AC8C37FD7F8E}"/>
                </a:ext>
              </a:extLst>
            </p:cNvPr>
            <p:cNvSpPr/>
            <p:nvPr/>
          </p:nvSpPr>
          <p:spPr>
            <a:xfrm>
              <a:off x="531468" y="3183517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863288-9AF0-0B60-F84E-B6AA901AFE28}"/>
                </a:ext>
              </a:extLst>
            </p:cNvPr>
            <p:cNvSpPr/>
            <p:nvPr/>
          </p:nvSpPr>
          <p:spPr>
            <a:xfrm>
              <a:off x="1221581" y="1137126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100CE3-ECF1-8680-F892-84AB0E06EF61}"/>
                </a:ext>
              </a:extLst>
            </p:cNvPr>
            <p:cNvSpPr/>
            <p:nvPr/>
          </p:nvSpPr>
          <p:spPr>
            <a:xfrm>
              <a:off x="1221581" y="1591758"/>
              <a:ext cx="690113" cy="45440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8B61EB-C722-BA10-B3AA-DD9BEA1A5B31}"/>
                </a:ext>
              </a:extLst>
            </p:cNvPr>
            <p:cNvSpPr/>
            <p:nvPr/>
          </p:nvSpPr>
          <p:spPr>
            <a:xfrm>
              <a:off x="1221581" y="2267681"/>
              <a:ext cx="690113" cy="159701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3F801F-9339-EC1E-75A6-821F9176095A}"/>
                </a:ext>
              </a:extLst>
            </p:cNvPr>
            <p:cNvSpPr/>
            <p:nvPr/>
          </p:nvSpPr>
          <p:spPr>
            <a:xfrm>
              <a:off x="1911694" y="1363898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01CD67-8C2B-EB0A-666E-ABB1E7C257F6}"/>
                </a:ext>
              </a:extLst>
            </p:cNvPr>
            <p:cNvSpPr/>
            <p:nvPr/>
          </p:nvSpPr>
          <p:spPr>
            <a:xfrm>
              <a:off x="1911693" y="2051217"/>
              <a:ext cx="690113" cy="113229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BA729A-1DC9-01BC-8B5C-CB6FF75CDDE0}"/>
                </a:ext>
              </a:extLst>
            </p:cNvPr>
            <p:cNvSpPr/>
            <p:nvPr/>
          </p:nvSpPr>
          <p:spPr>
            <a:xfrm>
              <a:off x="1911693" y="3417044"/>
              <a:ext cx="690113" cy="219974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60C1507-2EAC-5E68-6D4A-D0B3726927B2}"/>
              </a:ext>
            </a:extLst>
          </p:cNvPr>
          <p:cNvSpPr txBox="1"/>
          <p:nvPr/>
        </p:nvSpPr>
        <p:spPr>
          <a:xfrm>
            <a:off x="4989322" y="842900"/>
            <a:ext cx="8210483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Process my fee</a:t>
            </a:r>
            <a:r>
              <a:rPr lang="en-GB" sz="1500" dirty="0">
                <a:solidFill>
                  <a:srgbClr val="00B050"/>
                </a:solidFill>
              </a:rPr>
              <a:t>lings with friends</a:t>
            </a:r>
          </a:p>
          <a:p>
            <a:r>
              <a:rPr lang="en-GB" sz="1500" dirty="0">
                <a:solidFill>
                  <a:srgbClr val="00B050"/>
                </a:solidFill>
              </a:rPr>
              <a:t>Reach out to support groups</a:t>
            </a:r>
          </a:p>
          <a:p>
            <a:r>
              <a:rPr lang="en-GB" sz="1500" dirty="0">
                <a:solidFill>
                  <a:srgbClr val="FF0000"/>
                </a:solidFill>
              </a:rPr>
              <a:t>Journal about my emotional struggles</a:t>
            </a:r>
          </a:p>
          <a:p>
            <a:r>
              <a:rPr lang="en-GB" sz="1500" dirty="0">
                <a:solidFill>
                  <a:srgbClr val="00B050"/>
                </a:solidFill>
              </a:rPr>
              <a:t>Ask family to help tra</a:t>
            </a:r>
            <a:r>
              <a:rPr lang="en-GB" sz="1500" dirty="0">
                <a:solidFill>
                  <a:srgbClr val="FF0000"/>
                </a:solidFill>
              </a:rPr>
              <a:t>ck my daily medication</a:t>
            </a:r>
          </a:p>
          <a:p>
            <a:r>
              <a:rPr lang="en-GB" sz="1500" dirty="0">
                <a:solidFill>
                  <a:srgbClr val="00B050"/>
                </a:solidFill>
              </a:rPr>
              <a:t>Talk with others who share my diagnosis</a:t>
            </a:r>
          </a:p>
          <a:p>
            <a:r>
              <a:rPr lang="en-GB" sz="1500" dirty="0">
                <a:solidFill>
                  <a:srgbClr val="FF0000"/>
                </a:solidFill>
              </a:rPr>
              <a:t>Express my frustrations about being sick</a:t>
            </a:r>
          </a:p>
          <a:p>
            <a:r>
              <a:rPr lang="en-GB" sz="1500" dirty="0">
                <a:solidFill>
                  <a:srgbClr val="00B0F0"/>
                </a:solidFill>
              </a:rPr>
              <a:t>Adjust my daily activity level to conserve energy</a:t>
            </a:r>
          </a:p>
          <a:p>
            <a:r>
              <a:rPr lang="en-GB" sz="1500" dirty="0">
                <a:solidFill>
                  <a:srgbClr val="00B0F0"/>
                </a:solidFill>
              </a:rPr>
              <a:t>Track and manage physical pain symptoms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Follow prescribed medical routines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Modify physical exercises to avoid feeling discouraged</a:t>
            </a:r>
          </a:p>
          <a:p>
            <a:r>
              <a:rPr lang="en-GB" sz="1500" dirty="0">
                <a:solidFill>
                  <a:srgbClr val="00B050"/>
                </a:solidFill>
              </a:rPr>
              <a:t>Rely on loved ones during health crises</a:t>
            </a:r>
          </a:p>
          <a:p>
            <a:r>
              <a:rPr lang="en-GB" sz="1500" dirty="0">
                <a:solidFill>
                  <a:srgbClr val="00B0F0"/>
                </a:solidFill>
              </a:rPr>
              <a:t>Take resting breaks when symptoms flare up</a:t>
            </a:r>
          </a:p>
          <a:p>
            <a:r>
              <a:rPr lang="en-GB" sz="1500" dirty="0">
                <a:solidFill>
                  <a:srgbClr val="00B0F0"/>
                </a:solidFill>
              </a:rPr>
              <a:t>Attend doctor appoin</a:t>
            </a:r>
            <a:r>
              <a:rPr lang="en-GB" sz="1500" dirty="0">
                <a:solidFill>
                  <a:srgbClr val="00B050"/>
                </a:solidFill>
              </a:rPr>
              <a:t>tments with family members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BCCDEC-D179-8F7C-58E3-A9C9FCB087C5}"/>
              </a:ext>
            </a:extLst>
          </p:cNvPr>
          <p:cNvGrpSpPr/>
          <p:nvPr/>
        </p:nvGrpSpPr>
        <p:grpSpPr>
          <a:xfrm>
            <a:off x="4198364" y="1001454"/>
            <a:ext cx="852959" cy="2755490"/>
            <a:chOff x="4198364" y="1001454"/>
            <a:chExt cx="852959" cy="275549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629248F-2C95-7DA9-40A7-5AEC57B08F59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1001454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BD973AF-C403-139E-FBF4-2DB5E6B99D22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1244128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CDED382-B5FC-CEEC-A8DD-6074F468DB49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1460218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2751570-7B35-108D-01C1-AAEF27BA28EC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1689955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3DF1F49-0E14-6B43-858C-EE724BF23502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1931776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008884D-D562-66B9-0013-71DA93F95FF4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2174450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FE1F5AC-63A8-9A1C-2BDD-E662DEF5C02A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2390540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B14748B-3648-A858-0F0E-567EED13028C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2620277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B21A07-590C-9F66-B0D1-C917B6EBEC75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2841627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20A206B-183A-D962-6F2F-B16E804DF073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3084301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8F6741A-7B3A-4F35-CD27-DC339C0FF522}"/>
                </a:ext>
              </a:extLst>
            </p:cNvPr>
            <p:cNvCxnSpPr>
              <a:cxnSpLocks/>
            </p:cNvCxnSpPr>
            <p:nvPr/>
          </p:nvCxnSpPr>
          <p:spPr>
            <a:xfrm>
              <a:off x="4200734" y="3300391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185F13-6606-EE4E-D391-AF20FF3A58F5}"/>
                </a:ext>
              </a:extLst>
            </p:cNvPr>
            <p:cNvCxnSpPr>
              <a:cxnSpLocks/>
            </p:cNvCxnSpPr>
            <p:nvPr/>
          </p:nvCxnSpPr>
          <p:spPr>
            <a:xfrm>
              <a:off x="4198364" y="3533907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002B2EF-D5CC-428C-7C5F-C4484A1DB6C2}"/>
                </a:ext>
              </a:extLst>
            </p:cNvPr>
            <p:cNvCxnSpPr>
              <a:cxnSpLocks/>
            </p:cNvCxnSpPr>
            <p:nvPr/>
          </p:nvCxnSpPr>
          <p:spPr>
            <a:xfrm>
              <a:off x="4198364" y="3756944"/>
              <a:ext cx="8505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311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44D774C-38EA-FFD5-2919-1505714F63C5}"/>
              </a:ext>
            </a:extLst>
          </p:cNvPr>
          <p:cNvGrpSpPr/>
          <p:nvPr/>
        </p:nvGrpSpPr>
        <p:grpSpPr>
          <a:xfrm>
            <a:off x="151732" y="96570"/>
            <a:ext cx="7085091" cy="6664860"/>
            <a:chOff x="151732" y="96570"/>
            <a:chExt cx="7085091" cy="66648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4DDC95-FD63-89E1-28ED-73926B2F8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732" y="96570"/>
              <a:ext cx="7085091" cy="666486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E51E2E-1EFA-EDE6-E72D-2CC88CB3E4D2}"/>
                </a:ext>
              </a:extLst>
            </p:cNvPr>
            <p:cNvSpPr/>
            <p:nvPr/>
          </p:nvSpPr>
          <p:spPr>
            <a:xfrm>
              <a:off x="559623" y="884685"/>
              <a:ext cx="601609" cy="405573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23075C-428A-C9D3-672D-7F5DF05EA4D7}"/>
                </a:ext>
              </a:extLst>
            </p:cNvPr>
            <p:cNvSpPr/>
            <p:nvPr/>
          </p:nvSpPr>
          <p:spPr>
            <a:xfrm>
              <a:off x="559622" y="1490545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0246A0-EC92-2317-9B0B-499055C16551}"/>
                </a:ext>
              </a:extLst>
            </p:cNvPr>
            <p:cNvSpPr/>
            <p:nvPr/>
          </p:nvSpPr>
          <p:spPr>
            <a:xfrm>
              <a:off x="559621" y="1897192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360154-5435-FC36-D2C7-59F0622D00E6}"/>
                </a:ext>
              </a:extLst>
            </p:cNvPr>
            <p:cNvSpPr/>
            <p:nvPr/>
          </p:nvSpPr>
          <p:spPr>
            <a:xfrm>
              <a:off x="559621" y="2506997"/>
              <a:ext cx="601609" cy="36523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3D5F2D-5237-FAA6-594E-ED3E86E2070A}"/>
                </a:ext>
              </a:extLst>
            </p:cNvPr>
            <p:cNvSpPr/>
            <p:nvPr/>
          </p:nvSpPr>
          <p:spPr>
            <a:xfrm>
              <a:off x="559620" y="3090880"/>
              <a:ext cx="601609" cy="788115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0F9715-151F-52D7-7767-11098717D29E}"/>
                </a:ext>
              </a:extLst>
            </p:cNvPr>
            <p:cNvSpPr/>
            <p:nvPr/>
          </p:nvSpPr>
          <p:spPr>
            <a:xfrm>
              <a:off x="1161229" y="1275706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FBDAFB-4339-98E1-1829-D73A6CDD73E6}"/>
                </a:ext>
              </a:extLst>
            </p:cNvPr>
            <p:cNvSpPr/>
            <p:nvPr/>
          </p:nvSpPr>
          <p:spPr>
            <a:xfrm>
              <a:off x="1161229" y="1690832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4E08C1-1783-13C1-7A05-6EB543BD0342}"/>
                </a:ext>
              </a:extLst>
            </p:cNvPr>
            <p:cNvSpPr/>
            <p:nvPr/>
          </p:nvSpPr>
          <p:spPr>
            <a:xfrm>
              <a:off x="1161229" y="2090205"/>
              <a:ext cx="601609" cy="37918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29B5CF-125A-1C55-1B27-BCCD9B8BFFDF}"/>
                </a:ext>
              </a:extLst>
            </p:cNvPr>
            <p:cNvSpPr/>
            <p:nvPr/>
          </p:nvSpPr>
          <p:spPr>
            <a:xfrm>
              <a:off x="1161228" y="2684233"/>
              <a:ext cx="601609" cy="988402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75B2988-1DCD-AF5E-6FED-8F03A117A83F}"/>
                </a:ext>
              </a:extLst>
            </p:cNvPr>
            <p:cNvSpPr/>
            <p:nvPr/>
          </p:nvSpPr>
          <p:spPr>
            <a:xfrm>
              <a:off x="1161227" y="3902850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A554ED-4523-AE27-7E6E-07749FEBE085}"/>
                </a:ext>
              </a:extLst>
            </p:cNvPr>
            <p:cNvSpPr/>
            <p:nvPr/>
          </p:nvSpPr>
          <p:spPr>
            <a:xfrm>
              <a:off x="1762836" y="876333"/>
              <a:ext cx="601609" cy="18079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481BEB-8807-279E-9892-32091F4923A8}"/>
                </a:ext>
              </a:extLst>
            </p:cNvPr>
            <p:cNvSpPr/>
            <p:nvPr/>
          </p:nvSpPr>
          <p:spPr>
            <a:xfrm>
              <a:off x="1762836" y="2902425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933700-3C5D-CABC-1BFB-0ABC4EEC6B90}"/>
                </a:ext>
              </a:extLst>
            </p:cNvPr>
            <p:cNvSpPr/>
            <p:nvPr/>
          </p:nvSpPr>
          <p:spPr>
            <a:xfrm>
              <a:off x="1762836" y="3303756"/>
              <a:ext cx="601609" cy="18118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089CB8-7E3B-ADDC-E916-D2F6624E540A}"/>
                </a:ext>
              </a:extLst>
            </p:cNvPr>
            <p:cNvSpPr/>
            <p:nvPr/>
          </p:nvSpPr>
          <p:spPr>
            <a:xfrm>
              <a:off x="1762835" y="3694778"/>
              <a:ext cx="601609" cy="389253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5FFAD05-507A-48E7-5B76-72A86DAA9340}"/>
              </a:ext>
            </a:extLst>
          </p:cNvPr>
          <p:cNvSpPr txBox="1"/>
          <p:nvPr/>
        </p:nvSpPr>
        <p:spPr>
          <a:xfrm>
            <a:off x="4540432" y="830736"/>
            <a:ext cx="70850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25" dirty="0">
                <a:solidFill>
                  <a:srgbClr val="FF0000"/>
                </a:solidFill>
              </a:rPr>
              <a:t>Believe human activity causes severe climate disruption</a:t>
            </a:r>
          </a:p>
          <a:p>
            <a:r>
              <a:rPr lang="en-GB" sz="1325" dirty="0">
                <a:solidFill>
                  <a:srgbClr val="FF0000"/>
                </a:solidFill>
              </a:rPr>
              <a:t>Concerned about the loss of global biodiversity</a:t>
            </a:r>
          </a:p>
          <a:p>
            <a:r>
              <a:rPr lang="en-GB" sz="1325" dirty="0">
                <a:solidFill>
                  <a:srgbClr val="00B0F0"/>
                </a:solidFill>
              </a:rPr>
              <a:t>Carefully sort household plastics into recycling bins</a:t>
            </a:r>
          </a:p>
          <a:p>
            <a:r>
              <a:rPr lang="en-GB" sz="1325" dirty="0">
                <a:solidFill>
                  <a:srgbClr val="FF0000"/>
                </a:solidFill>
              </a:rPr>
              <a:t>Value protecting natural ecosystems for future generations</a:t>
            </a:r>
          </a:p>
          <a:p>
            <a:r>
              <a:rPr lang="en-GB" sz="1325" dirty="0">
                <a:solidFill>
                  <a:srgbClr val="00B0F0"/>
                </a:solidFill>
              </a:rPr>
              <a:t>Consciously limit my daily household energy usage</a:t>
            </a:r>
          </a:p>
          <a:p>
            <a:r>
              <a:rPr lang="en-GB" sz="1325" dirty="0">
                <a:solidFill>
                  <a:srgbClr val="FF0000"/>
                </a:solidFill>
              </a:rPr>
              <a:t>Worry about environmental pollution in my local area</a:t>
            </a:r>
          </a:p>
          <a:p>
            <a:r>
              <a:rPr lang="en-GB" sz="1325" dirty="0">
                <a:solidFill>
                  <a:srgbClr val="00B0F0"/>
                </a:solidFill>
              </a:rPr>
              <a:t>Strive to reduce my overall ecological footprint</a:t>
            </a:r>
          </a:p>
          <a:p>
            <a:r>
              <a:rPr lang="en-GB" sz="1325" dirty="0">
                <a:solidFill>
                  <a:srgbClr val="00B0F0"/>
                </a:solidFill>
              </a:rPr>
              <a:t>Avoid purchasing single-use consumer products</a:t>
            </a:r>
          </a:p>
          <a:p>
            <a:r>
              <a:rPr lang="en-GB" sz="1325" dirty="0">
                <a:solidFill>
                  <a:srgbClr val="FF0000"/>
                </a:solidFill>
              </a:rPr>
              <a:t>Believe urgent societal action is needed to save the planet</a:t>
            </a:r>
          </a:p>
          <a:p>
            <a:r>
              <a:rPr lang="en-GB" sz="1325" dirty="0">
                <a:solidFill>
                  <a:srgbClr val="00B050"/>
                </a:solidFill>
              </a:rPr>
              <a:t>Regularly separate paper and cardboard for weekly pickup</a:t>
            </a:r>
          </a:p>
          <a:p>
            <a:r>
              <a:rPr lang="en-GB" sz="1325" dirty="0">
                <a:solidFill>
                  <a:srgbClr val="00B0F0"/>
                </a:solidFill>
              </a:rPr>
              <a:t>Make eco-friendly choices a top priority in my daily life</a:t>
            </a:r>
          </a:p>
          <a:p>
            <a:r>
              <a:rPr lang="en-GB" sz="1325" dirty="0">
                <a:solidFill>
                  <a:srgbClr val="00B050"/>
                </a:solidFill>
              </a:rPr>
              <a:t>Rinse out aluminium cans before placing them in recycling bins</a:t>
            </a:r>
          </a:p>
          <a:p>
            <a:r>
              <a:rPr lang="en-GB" sz="1325" dirty="0"/>
              <a:t>Check local municipal rules about sorting recyclable waste</a:t>
            </a:r>
          </a:p>
          <a:p>
            <a:r>
              <a:rPr lang="en-GB" sz="1325" dirty="0">
                <a:solidFill>
                  <a:srgbClr val="00B050"/>
                </a:solidFill>
              </a:rPr>
              <a:t>Consistently place plastic bottles in the proper waste containers</a:t>
            </a:r>
          </a:p>
          <a:p>
            <a:r>
              <a:rPr lang="en-GB" sz="1325" dirty="0">
                <a:solidFill>
                  <a:srgbClr val="FF0000"/>
                </a:solidFill>
              </a:rPr>
              <a:t>Believe environmental protection is a moral duty</a:t>
            </a:r>
          </a:p>
          <a:p>
            <a:r>
              <a:rPr lang="en-GB" sz="1325" dirty="0">
                <a:solidFill>
                  <a:srgbClr val="00B0F0"/>
                </a:solidFill>
              </a:rPr>
              <a:t>Limit personal water consumption during daily routines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E4B0FAD-5624-0A94-A41F-98B921843363}"/>
              </a:ext>
            </a:extLst>
          </p:cNvPr>
          <p:cNvGrpSpPr/>
          <p:nvPr/>
        </p:nvGrpSpPr>
        <p:grpSpPr>
          <a:xfrm>
            <a:off x="3776443" y="982416"/>
            <a:ext cx="827455" cy="3015422"/>
            <a:chOff x="3776443" y="982416"/>
            <a:chExt cx="398207" cy="301542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1C16DD0-4376-6CEF-4B53-457E65CFB772}"/>
                </a:ext>
              </a:extLst>
            </p:cNvPr>
            <p:cNvGrpSpPr/>
            <p:nvPr/>
          </p:nvGrpSpPr>
          <p:grpSpPr>
            <a:xfrm>
              <a:off x="3776443" y="982416"/>
              <a:ext cx="398207" cy="2008959"/>
              <a:chOff x="5343525" y="1095375"/>
              <a:chExt cx="459405" cy="2298937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E709EEC5-7B93-BA1E-04AE-34A0EC31E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095375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FBED9CF-6F31-71F8-4F75-C16684677E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338049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2DCBABE-50C0-EFF5-80F7-44B8F42789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554139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347CD3E-D65F-213F-76E3-414B79C027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1783876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34DF636-F034-0B65-1AAF-2886DFB5B8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025697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74CB9AA-1D38-2568-FD11-70BFD104BA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268371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7A2FD82-0564-10F1-D0D1-0D203ABB78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484461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DE6CFBF-3D0E-F9CD-FAF6-4242E9145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714198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6565B1E-53EF-F166-1D0E-FE1BE96BE2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2935548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2A50D76-7484-DDCD-9F5F-20FF59A10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3178222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308D819-DD47-EA1C-909E-B0899D4A5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3525" y="3394312"/>
                <a:ext cx="4594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026E765-3A97-1884-C0FE-A6F66524D379}"/>
                </a:ext>
              </a:extLst>
            </p:cNvPr>
            <p:cNvCxnSpPr>
              <a:cxnSpLocks/>
            </p:cNvCxnSpPr>
            <p:nvPr/>
          </p:nvCxnSpPr>
          <p:spPr>
            <a:xfrm>
              <a:off x="3776443" y="3184863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B351C87-E83E-0A34-59E4-EE22534EE770}"/>
                </a:ext>
              </a:extLst>
            </p:cNvPr>
            <p:cNvCxnSpPr>
              <a:cxnSpLocks/>
            </p:cNvCxnSpPr>
            <p:nvPr/>
          </p:nvCxnSpPr>
          <p:spPr>
            <a:xfrm>
              <a:off x="3776443" y="3396927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A447E1-E77E-0196-8326-A0E1C4F97893}"/>
                </a:ext>
              </a:extLst>
            </p:cNvPr>
            <p:cNvCxnSpPr>
              <a:cxnSpLocks/>
            </p:cNvCxnSpPr>
            <p:nvPr/>
          </p:nvCxnSpPr>
          <p:spPr>
            <a:xfrm>
              <a:off x="3776443" y="3585760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E758036-B111-6642-9417-F0D297B0C3B0}"/>
                </a:ext>
              </a:extLst>
            </p:cNvPr>
            <p:cNvCxnSpPr>
              <a:cxnSpLocks/>
            </p:cNvCxnSpPr>
            <p:nvPr/>
          </p:nvCxnSpPr>
          <p:spPr>
            <a:xfrm>
              <a:off x="3776443" y="3786519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72ABD6E-82E3-AF2E-087D-C6D21AC76111}"/>
                </a:ext>
              </a:extLst>
            </p:cNvPr>
            <p:cNvCxnSpPr>
              <a:cxnSpLocks/>
            </p:cNvCxnSpPr>
            <p:nvPr/>
          </p:nvCxnSpPr>
          <p:spPr>
            <a:xfrm>
              <a:off x="3776443" y="3997838"/>
              <a:ext cx="3982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243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485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Josiah King</dc:creator>
  <cp:lastModifiedBy>Josiah King</cp:lastModifiedBy>
  <cp:revision>3</cp:revision>
  <dcterms:created xsi:type="dcterms:W3CDTF">2026-08-12T09:18:09Z</dcterms:created>
  <dcterms:modified xsi:type="dcterms:W3CDTF">2026-08-12T10:12:46Z</dcterms:modified>
</cp:coreProperties>
</file>