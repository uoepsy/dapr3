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78" r:id="rId2"/>
    <p:sldId id="283" r:id="rId3"/>
    <p:sldId id="281" r:id="rId4"/>
    <p:sldId id="280" r:id="rId5"/>
    <p:sldId id="282" r:id="rId6"/>
    <p:sldId id="262" r:id="rId7"/>
    <p:sldId id="267" r:id="rId8"/>
    <p:sldId id="268" r:id="rId9"/>
    <p:sldId id="260" r:id="rId10"/>
    <p:sldId id="263" r:id="rId11"/>
    <p:sldId id="264" r:id="rId12"/>
    <p:sldId id="266" r:id="rId13"/>
    <p:sldId id="269" r:id="rId14"/>
    <p:sldId id="271" r:id="rId15"/>
    <p:sldId id="273" r:id="rId16"/>
    <p:sldId id="274" r:id="rId17"/>
    <p:sldId id="275" r:id="rId18"/>
    <p:sldId id="279"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Josiah King" initials="JK" lastIdx="1" clrIdx="0">
    <p:extLst>
      <p:ext uri="{19B8F6BF-5375-455C-9EA6-DF929625EA0E}">
        <p15:presenceInfo xmlns:p15="http://schemas.microsoft.com/office/powerpoint/2012/main" userId="S::jking34@ed.ac.uk::02072d3b-0644-4b49-84e4-ac9334524fde"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A41AE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13" d="100"/>
          <a:sy n="113" d="100"/>
        </p:scale>
        <p:origin x="456"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commentAuthors" Target="commen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6ADB7B-1ACD-4617-806F-09759791D83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C19585BC-9112-4730-9518-4F99CCB58EC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F51B4990-AAF3-43E2-8E7B-F820F6DA17B6}"/>
              </a:ext>
            </a:extLst>
          </p:cNvPr>
          <p:cNvSpPr>
            <a:spLocks noGrp="1"/>
          </p:cNvSpPr>
          <p:nvPr>
            <p:ph type="dt" sz="half" idx="10"/>
          </p:nvPr>
        </p:nvSpPr>
        <p:spPr/>
        <p:txBody>
          <a:bodyPr/>
          <a:lstStyle/>
          <a:p>
            <a:fld id="{2E7CC89D-3142-46AB-8DEE-A39EF376CEDE}" type="datetimeFigureOut">
              <a:rPr lang="en-GB" smtClean="0"/>
              <a:t>15/04/2026</a:t>
            </a:fld>
            <a:endParaRPr lang="en-GB"/>
          </a:p>
        </p:txBody>
      </p:sp>
      <p:sp>
        <p:nvSpPr>
          <p:cNvPr id="5" name="Footer Placeholder 4">
            <a:extLst>
              <a:ext uri="{FF2B5EF4-FFF2-40B4-BE49-F238E27FC236}">
                <a16:creationId xmlns:a16="http://schemas.microsoft.com/office/drawing/2014/main" id="{DAD76B9E-5A33-4FCC-8C93-F0C5290A75F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0BD23E31-0EA5-40D9-BD13-CEA9190AFD72}"/>
              </a:ext>
            </a:extLst>
          </p:cNvPr>
          <p:cNvSpPr>
            <a:spLocks noGrp="1"/>
          </p:cNvSpPr>
          <p:nvPr>
            <p:ph type="sldNum" sz="quarter" idx="12"/>
          </p:nvPr>
        </p:nvSpPr>
        <p:spPr/>
        <p:txBody>
          <a:bodyPr/>
          <a:lstStyle/>
          <a:p>
            <a:fld id="{707FE547-2A2A-4E61-8321-577ADE990ECB}" type="slidenum">
              <a:rPr lang="en-GB" smtClean="0"/>
              <a:t>‹#›</a:t>
            </a:fld>
            <a:endParaRPr lang="en-GB"/>
          </a:p>
        </p:txBody>
      </p:sp>
    </p:spTree>
    <p:extLst>
      <p:ext uri="{BB962C8B-B14F-4D97-AF65-F5344CB8AC3E}">
        <p14:creationId xmlns:p14="http://schemas.microsoft.com/office/powerpoint/2010/main" val="36043931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A891E4-CEB1-48A7-86C8-75C09F1070B3}"/>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6730DD5-2AB3-4090-BEC7-09FB8CE593A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132E953-47EB-455E-9AB3-1B89AF7BECC5}"/>
              </a:ext>
            </a:extLst>
          </p:cNvPr>
          <p:cNvSpPr>
            <a:spLocks noGrp="1"/>
          </p:cNvSpPr>
          <p:nvPr>
            <p:ph type="dt" sz="half" idx="10"/>
          </p:nvPr>
        </p:nvSpPr>
        <p:spPr/>
        <p:txBody>
          <a:bodyPr/>
          <a:lstStyle/>
          <a:p>
            <a:fld id="{2E7CC89D-3142-46AB-8DEE-A39EF376CEDE}" type="datetimeFigureOut">
              <a:rPr lang="en-GB" smtClean="0"/>
              <a:t>15/04/2026</a:t>
            </a:fld>
            <a:endParaRPr lang="en-GB"/>
          </a:p>
        </p:txBody>
      </p:sp>
      <p:sp>
        <p:nvSpPr>
          <p:cNvPr id="5" name="Footer Placeholder 4">
            <a:extLst>
              <a:ext uri="{FF2B5EF4-FFF2-40B4-BE49-F238E27FC236}">
                <a16:creationId xmlns:a16="http://schemas.microsoft.com/office/drawing/2014/main" id="{F01AF979-1DE8-4748-8C16-156A8344B08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FD87CCA6-04A8-4E13-9828-7C97B07BF2F6}"/>
              </a:ext>
            </a:extLst>
          </p:cNvPr>
          <p:cNvSpPr>
            <a:spLocks noGrp="1"/>
          </p:cNvSpPr>
          <p:nvPr>
            <p:ph type="sldNum" sz="quarter" idx="12"/>
          </p:nvPr>
        </p:nvSpPr>
        <p:spPr/>
        <p:txBody>
          <a:bodyPr/>
          <a:lstStyle/>
          <a:p>
            <a:fld id="{707FE547-2A2A-4E61-8321-577ADE990ECB}" type="slidenum">
              <a:rPr lang="en-GB" smtClean="0"/>
              <a:t>‹#›</a:t>
            </a:fld>
            <a:endParaRPr lang="en-GB"/>
          </a:p>
        </p:txBody>
      </p:sp>
    </p:spTree>
    <p:extLst>
      <p:ext uri="{BB962C8B-B14F-4D97-AF65-F5344CB8AC3E}">
        <p14:creationId xmlns:p14="http://schemas.microsoft.com/office/powerpoint/2010/main" val="5882689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46864C-6B86-4BEE-ADB3-FB0E79094F8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F99BDC0E-9D54-4EE7-B179-AF863E86F1E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3DE8E58-616F-40AF-B702-DA5B3D662BA8}"/>
              </a:ext>
            </a:extLst>
          </p:cNvPr>
          <p:cNvSpPr>
            <a:spLocks noGrp="1"/>
          </p:cNvSpPr>
          <p:nvPr>
            <p:ph type="dt" sz="half" idx="10"/>
          </p:nvPr>
        </p:nvSpPr>
        <p:spPr/>
        <p:txBody>
          <a:bodyPr/>
          <a:lstStyle/>
          <a:p>
            <a:fld id="{2E7CC89D-3142-46AB-8DEE-A39EF376CEDE}" type="datetimeFigureOut">
              <a:rPr lang="en-GB" smtClean="0"/>
              <a:t>15/04/2026</a:t>
            </a:fld>
            <a:endParaRPr lang="en-GB"/>
          </a:p>
        </p:txBody>
      </p:sp>
      <p:sp>
        <p:nvSpPr>
          <p:cNvPr id="5" name="Footer Placeholder 4">
            <a:extLst>
              <a:ext uri="{FF2B5EF4-FFF2-40B4-BE49-F238E27FC236}">
                <a16:creationId xmlns:a16="http://schemas.microsoft.com/office/drawing/2014/main" id="{CEAA56CC-EEED-4E6B-94D8-E9F3F6B40338}"/>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9C9D8505-BB98-48B1-A08A-DD7BD470C73C}"/>
              </a:ext>
            </a:extLst>
          </p:cNvPr>
          <p:cNvSpPr>
            <a:spLocks noGrp="1"/>
          </p:cNvSpPr>
          <p:nvPr>
            <p:ph type="sldNum" sz="quarter" idx="12"/>
          </p:nvPr>
        </p:nvSpPr>
        <p:spPr/>
        <p:txBody>
          <a:bodyPr/>
          <a:lstStyle/>
          <a:p>
            <a:fld id="{707FE547-2A2A-4E61-8321-577ADE990ECB}" type="slidenum">
              <a:rPr lang="en-GB" smtClean="0"/>
              <a:t>‹#›</a:t>
            </a:fld>
            <a:endParaRPr lang="en-GB"/>
          </a:p>
        </p:txBody>
      </p:sp>
    </p:spTree>
    <p:extLst>
      <p:ext uri="{BB962C8B-B14F-4D97-AF65-F5344CB8AC3E}">
        <p14:creationId xmlns:p14="http://schemas.microsoft.com/office/powerpoint/2010/main" val="40236802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27C4F7-389C-496D-8996-9850A98FD04B}"/>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5E24B9-B3D4-4FCE-A6C0-C35E64D76C3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E07CE600-B1C4-4413-9615-25B61DB49AE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101E84F9-722D-4306-B15B-C342B2CA9659}"/>
              </a:ext>
            </a:extLst>
          </p:cNvPr>
          <p:cNvSpPr>
            <a:spLocks noGrp="1"/>
          </p:cNvSpPr>
          <p:nvPr>
            <p:ph type="dt" sz="half" idx="10"/>
          </p:nvPr>
        </p:nvSpPr>
        <p:spPr/>
        <p:txBody>
          <a:bodyPr/>
          <a:lstStyle/>
          <a:p>
            <a:fld id="{2E7CC89D-3142-46AB-8DEE-A39EF376CEDE}" type="datetimeFigureOut">
              <a:rPr lang="en-GB" smtClean="0"/>
              <a:t>15/04/2026</a:t>
            </a:fld>
            <a:endParaRPr lang="en-GB"/>
          </a:p>
        </p:txBody>
      </p:sp>
      <p:sp>
        <p:nvSpPr>
          <p:cNvPr id="6" name="Footer Placeholder 5">
            <a:extLst>
              <a:ext uri="{FF2B5EF4-FFF2-40B4-BE49-F238E27FC236}">
                <a16:creationId xmlns:a16="http://schemas.microsoft.com/office/drawing/2014/main" id="{0E48CD13-F39D-4425-AAED-250CDF92D59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774246A7-567A-4610-8C86-D24E8432AE66}"/>
              </a:ext>
            </a:extLst>
          </p:cNvPr>
          <p:cNvSpPr>
            <a:spLocks noGrp="1"/>
          </p:cNvSpPr>
          <p:nvPr>
            <p:ph type="sldNum" sz="quarter" idx="12"/>
          </p:nvPr>
        </p:nvSpPr>
        <p:spPr/>
        <p:txBody>
          <a:bodyPr/>
          <a:lstStyle/>
          <a:p>
            <a:fld id="{707FE547-2A2A-4E61-8321-577ADE990ECB}" type="slidenum">
              <a:rPr lang="en-GB" smtClean="0"/>
              <a:t>‹#›</a:t>
            </a:fld>
            <a:endParaRPr lang="en-GB"/>
          </a:p>
        </p:txBody>
      </p:sp>
    </p:spTree>
    <p:extLst>
      <p:ext uri="{BB962C8B-B14F-4D97-AF65-F5344CB8AC3E}">
        <p14:creationId xmlns:p14="http://schemas.microsoft.com/office/powerpoint/2010/main" val="23159905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4560AF-9F1A-4C41-BF9D-8E30AA75F8FD}"/>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EAA47A17-0DF0-43A1-8835-CF9E10CA009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19A9F0B-834B-4163-AB4F-AC63D8A52A0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5DA36054-8D4E-4ABA-ADF0-9C4EF546433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89FF21C-ED21-44E4-93C6-622D3262E5F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79B5B4ED-6031-4F80-9990-A8C57390A917}"/>
              </a:ext>
            </a:extLst>
          </p:cNvPr>
          <p:cNvSpPr>
            <a:spLocks noGrp="1"/>
          </p:cNvSpPr>
          <p:nvPr>
            <p:ph type="dt" sz="half" idx="10"/>
          </p:nvPr>
        </p:nvSpPr>
        <p:spPr/>
        <p:txBody>
          <a:bodyPr/>
          <a:lstStyle/>
          <a:p>
            <a:fld id="{2E7CC89D-3142-46AB-8DEE-A39EF376CEDE}" type="datetimeFigureOut">
              <a:rPr lang="en-GB" smtClean="0"/>
              <a:t>15/04/2026</a:t>
            </a:fld>
            <a:endParaRPr lang="en-GB"/>
          </a:p>
        </p:txBody>
      </p:sp>
      <p:sp>
        <p:nvSpPr>
          <p:cNvPr id="8" name="Footer Placeholder 7">
            <a:extLst>
              <a:ext uri="{FF2B5EF4-FFF2-40B4-BE49-F238E27FC236}">
                <a16:creationId xmlns:a16="http://schemas.microsoft.com/office/drawing/2014/main" id="{BDEFC9E3-FDE6-42CE-A07E-09B46D55060A}"/>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7AC78A00-C3DF-4AE9-8B95-9C9508083E8E}"/>
              </a:ext>
            </a:extLst>
          </p:cNvPr>
          <p:cNvSpPr>
            <a:spLocks noGrp="1"/>
          </p:cNvSpPr>
          <p:nvPr>
            <p:ph type="sldNum" sz="quarter" idx="12"/>
          </p:nvPr>
        </p:nvSpPr>
        <p:spPr/>
        <p:txBody>
          <a:bodyPr/>
          <a:lstStyle/>
          <a:p>
            <a:fld id="{707FE547-2A2A-4E61-8321-577ADE990ECB}" type="slidenum">
              <a:rPr lang="en-GB" smtClean="0"/>
              <a:t>‹#›</a:t>
            </a:fld>
            <a:endParaRPr lang="en-GB"/>
          </a:p>
        </p:txBody>
      </p:sp>
    </p:spTree>
    <p:extLst>
      <p:ext uri="{BB962C8B-B14F-4D97-AF65-F5344CB8AC3E}">
        <p14:creationId xmlns:p14="http://schemas.microsoft.com/office/powerpoint/2010/main" val="36474848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6A5F64-2C3B-4C46-85B8-EADDE09FDE20}"/>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58BC627E-BF52-450D-9ADE-2B8F309DA2BF}"/>
              </a:ext>
            </a:extLst>
          </p:cNvPr>
          <p:cNvSpPr>
            <a:spLocks noGrp="1"/>
          </p:cNvSpPr>
          <p:nvPr>
            <p:ph type="dt" sz="half" idx="10"/>
          </p:nvPr>
        </p:nvSpPr>
        <p:spPr/>
        <p:txBody>
          <a:bodyPr/>
          <a:lstStyle/>
          <a:p>
            <a:fld id="{2E7CC89D-3142-46AB-8DEE-A39EF376CEDE}" type="datetimeFigureOut">
              <a:rPr lang="en-GB" smtClean="0"/>
              <a:t>15/04/2026</a:t>
            </a:fld>
            <a:endParaRPr lang="en-GB"/>
          </a:p>
        </p:txBody>
      </p:sp>
      <p:sp>
        <p:nvSpPr>
          <p:cNvPr id="4" name="Footer Placeholder 3">
            <a:extLst>
              <a:ext uri="{FF2B5EF4-FFF2-40B4-BE49-F238E27FC236}">
                <a16:creationId xmlns:a16="http://schemas.microsoft.com/office/drawing/2014/main" id="{BB036686-D328-452E-9BBD-D7E97258F9AE}"/>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8E7343DB-C2BE-4B56-AAD7-8EC1FD66766E}"/>
              </a:ext>
            </a:extLst>
          </p:cNvPr>
          <p:cNvSpPr>
            <a:spLocks noGrp="1"/>
          </p:cNvSpPr>
          <p:nvPr>
            <p:ph type="sldNum" sz="quarter" idx="12"/>
          </p:nvPr>
        </p:nvSpPr>
        <p:spPr/>
        <p:txBody>
          <a:bodyPr/>
          <a:lstStyle/>
          <a:p>
            <a:fld id="{707FE547-2A2A-4E61-8321-577ADE990ECB}" type="slidenum">
              <a:rPr lang="en-GB" smtClean="0"/>
              <a:t>‹#›</a:t>
            </a:fld>
            <a:endParaRPr lang="en-GB"/>
          </a:p>
        </p:txBody>
      </p:sp>
    </p:spTree>
    <p:extLst>
      <p:ext uri="{BB962C8B-B14F-4D97-AF65-F5344CB8AC3E}">
        <p14:creationId xmlns:p14="http://schemas.microsoft.com/office/powerpoint/2010/main" val="59321686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F2B7A7A-412D-4196-B1AE-F32E5550DA24}"/>
              </a:ext>
            </a:extLst>
          </p:cNvPr>
          <p:cNvSpPr>
            <a:spLocks noGrp="1"/>
          </p:cNvSpPr>
          <p:nvPr>
            <p:ph type="dt" sz="half" idx="10"/>
          </p:nvPr>
        </p:nvSpPr>
        <p:spPr/>
        <p:txBody>
          <a:bodyPr/>
          <a:lstStyle/>
          <a:p>
            <a:fld id="{2E7CC89D-3142-46AB-8DEE-A39EF376CEDE}" type="datetimeFigureOut">
              <a:rPr lang="en-GB" smtClean="0"/>
              <a:t>15/04/2026</a:t>
            </a:fld>
            <a:endParaRPr lang="en-GB"/>
          </a:p>
        </p:txBody>
      </p:sp>
      <p:sp>
        <p:nvSpPr>
          <p:cNvPr id="3" name="Footer Placeholder 2">
            <a:extLst>
              <a:ext uri="{FF2B5EF4-FFF2-40B4-BE49-F238E27FC236}">
                <a16:creationId xmlns:a16="http://schemas.microsoft.com/office/drawing/2014/main" id="{6D3A450E-530C-4CDF-AFC0-96380648B8D3}"/>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618381E6-FACB-4968-9CAA-EC740F9220FC}"/>
              </a:ext>
            </a:extLst>
          </p:cNvPr>
          <p:cNvSpPr>
            <a:spLocks noGrp="1"/>
          </p:cNvSpPr>
          <p:nvPr>
            <p:ph type="sldNum" sz="quarter" idx="12"/>
          </p:nvPr>
        </p:nvSpPr>
        <p:spPr/>
        <p:txBody>
          <a:bodyPr/>
          <a:lstStyle/>
          <a:p>
            <a:fld id="{707FE547-2A2A-4E61-8321-577ADE990ECB}" type="slidenum">
              <a:rPr lang="en-GB" smtClean="0"/>
              <a:t>‹#›</a:t>
            </a:fld>
            <a:endParaRPr lang="en-GB"/>
          </a:p>
        </p:txBody>
      </p:sp>
    </p:spTree>
    <p:extLst>
      <p:ext uri="{BB962C8B-B14F-4D97-AF65-F5344CB8AC3E}">
        <p14:creationId xmlns:p14="http://schemas.microsoft.com/office/powerpoint/2010/main" val="172575495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AF2ECA-673C-459B-A1C1-34EC015CCAF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8DDB2A3-6B34-4F0F-B84E-F301051C6B4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392136AB-A1B0-42A7-8912-9D8B6A05625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EFC2873-1117-4411-9B7E-24222B58FE5B}"/>
              </a:ext>
            </a:extLst>
          </p:cNvPr>
          <p:cNvSpPr>
            <a:spLocks noGrp="1"/>
          </p:cNvSpPr>
          <p:nvPr>
            <p:ph type="dt" sz="half" idx="10"/>
          </p:nvPr>
        </p:nvSpPr>
        <p:spPr/>
        <p:txBody>
          <a:bodyPr/>
          <a:lstStyle/>
          <a:p>
            <a:fld id="{2E7CC89D-3142-46AB-8DEE-A39EF376CEDE}" type="datetimeFigureOut">
              <a:rPr lang="en-GB" smtClean="0"/>
              <a:t>15/04/2026</a:t>
            </a:fld>
            <a:endParaRPr lang="en-GB"/>
          </a:p>
        </p:txBody>
      </p:sp>
      <p:sp>
        <p:nvSpPr>
          <p:cNvPr id="6" name="Footer Placeholder 5">
            <a:extLst>
              <a:ext uri="{FF2B5EF4-FFF2-40B4-BE49-F238E27FC236}">
                <a16:creationId xmlns:a16="http://schemas.microsoft.com/office/drawing/2014/main" id="{96B429BD-B23C-42A9-B44C-5F63468F1738}"/>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1F6711E9-CD07-474E-882A-CA6EA0EFE780}"/>
              </a:ext>
            </a:extLst>
          </p:cNvPr>
          <p:cNvSpPr>
            <a:spLocks noGrp="1"/>
          </p:cNvSpPr>
          <p:nvPr>
            <p:ph type="sldNum" sz="quarter" idx="12"/>
          </p:nvPr>
        </p:nvSpPr>
        <p:spPr/>
        <p:txBody>
          <a:bodyPr/>
          <a:lstStyle/>
          <a:p>
            <a:fld id="{707FE547-2A2A-4E61-8321-577ADE990ECB}" type="slidenum">
              <a:rPr lang="en-GB" smtClean="0"/>
              <a:t>‹#›</a:t>
            </a:fld>
            <a:endParaRPr lang="en-GB"/>
          </a:p>
        </p:txBody>
      </p:sp>
    </p:spTree>
    <p:extLst>
      <p:ext uri="{BB962C8B-B14F-4D97-AF65-F5344CB8AC3E}">
        <p14:creationId xmlns:p14="http://schemas.microsoft.com/office/powerpoint/2010/main" val="93322267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9E1E73-E610-4A5B-911B-73F0D2D4F86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7B2312D9-DE9C-4E6C-9E47-18D4950241D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7E805548-06D9-4026-BCC5-A3787665561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794478-1296-400F-B050-68EB67CD8A94}"/>
              </a:ext>
            </a:extLst>
          </p:cNvPr>
          <p:cNvSpPr>
            <a:spLocks noGrp="1"/>
          </p:cNvSpPr>
          <p:nvPr>
            <p:ph type="dt" sz="half" idx="10"/>
          </p:nvPr>
        </p:nvSpPr>
        <p:spPr/>
        <p:txBody>
          <a:bodyPr/>
          <a:lstStyle/>
          <a:p>
            <a:fld id="{2E7CC89D-3142-46AB-8DEE-A39EF376CEDE}" type="datetimeFigureOut">
              <a:rPr lang="en-GB" smtClean="0"/>
              <a:t>15/04/2026</a:t>
            </a:fld>
            <a:endParaRPr lang="en-GB"/>
          </a:p>
        </p:txBody>
      </p:sp>
      <p:sp>
        <p:nvSpPr>
          <p:cNvPr id="6" name="Footer Placeholder 5">
            <a:extLst>
              <a:ext uri="{FF2B5EF4-FFF2-40B4-BE49-F238E27FC236}">
                <a16:creationId xmlns:a16="http://schemas.microsoft.com/office/drawing/2014/main" id="{0479AD7F-72AC-4B53-AB96-6D24ED0BBDDB}"/>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3226F2A-32BC-402A-9664-5F8300639C09}"/>
              </a:ext>
            </a:extLst>
          </p:cNvPr>
          <p:cNvSpPr>
            <a:spLocks noGrp="1"/>
          </p:cNvSpPr>
          <p:nvPr>
            <p:ph type="sldNum" sz="quarter" idx="12"/>
          </p:nvPr>
        </p:nvSpPr>
        <p:spPr/>
        <p:txBody>
          <a:bodyPr/>
          <a:lstStyle/>
          <a:p>
            <a:fld id="{707FE547-2A2A-4E61-8321-577ADE990ECB}" type="slidenum">
              <a:rPr lang="en-GB" smtClean="0"/>
              <a:t>‹#›</a:t>
            </a:fld>
            <a:endParaRPr lang="en-GB"/>
          </a:p>
        </p:txBody>
      </p:sp>
    </p:spTree>
    <p:extLst>
      <p:ext uri="{BB962C8B-B14F-4D97-AF65-F5344CB8AC3E}">
        <p14:creationId xmlns:p14="http://schemas.microsoft.com/office/powerpoint/2010/main" val="8739743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B6282B-9992-4127-A1E2-72354A5B35CE}"/>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1E7109E-F300-449B-A16A-6A68A0D2719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5784701C-9966-455B-8D52-7F329FEA5F16}"/>
              </a:ext>
            </a:extLst>
          </p:cNvPr>
          <p:cNvSpPr>
            <a:spLocks noGrp="1"/>
          </p:cNvSpPr>
          <p:nvPr>
            <p:ph type="dt" sz="half" idx="10"/>
          </p:nvPr>
        </p:nvSpPr>
        <p:spPr/>
        <p:txBody>
          <a:bodyPr/>
          <a:lstStyle/>
          <a:p>
            <a:fld id="{2E7CC89D-3142-46AB-8DEE-A39EF376CEDE}" type="datetimeFigureOut">
              <a:rPr lang="en-GB" smtClean="0"/>
              <a:t>15/04/2026</a:t>
            </a:fld>
            <a:endParaRPr lang="en-GB"/>
          </a:p>
        </p:txBody>
      </p:sp>
      <p:sp>
        <p:nvSpPr>
          <p:cNvPr id="5" name="Footer Placeholder 4">
            <a:extLst>
              <a:ext uri="{FF2B5EF4-FFF2-40B4-BE49-F238E27FC236}">
                <a16:creationId xmlns:a16="http://schemas.microsoft.com/office/drawing/2014/main" id="{54288EF3-38BA-4441-9D5D-3AAE135E6BC3}"/>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697C0AF-018A-4900-8668-1D8EC4E585ED}"/>
              </a:ext>
            </a:extLst>
          </p:cNvPr>
          <p:cNvSpPr>
            <a:spLocks noGrp="1"/>
          </p:cNvSpPr>
          <p:nvPr>
            <p:ph type="sldNum" sz="quarter" idx="12"/>
          </p:nvPr>
        </p:nvSpPr>
        <p:spPr/>
        <p:txBody>
          <a:bodyPr/>
          <a:lstStyle/>
          <a:p>
            <a:fld id="{707FE547-2A2A-4E61-8321-577ADE990ECB}" type="slidenum">
              <a:rPr lang="en-GB" smtClean="0"/>
              <a:t>‹#›</a:t>
            </a:fld>
            <a:endParaRPr lang="en-GB"/>
          </a:p>
        </p:txBody>
      </p:sp>
    </p:spTree>
    <p:extLst>
      <p:ext uri="{BB962C8B-B14F-4D97-AF65-F5344CB8AC3E}">
        <p14:creationId xmlns:p14="http://schemas.microsoft.com/office/powerpoint/2010/main" val="19112714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9287083-9146-4999-8479-2CFAC024E968}"/>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7388791-3F4D-4DED-8330-585979771C4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4A4F74F0-E7F5-43C7-8842-794089A51B34}"/>
              </a:ext>
            </a:extLst>
          </p:cNvPr>
          <p:cNvSpPr>
            <a:spLocks noGrp="1"/>
          </p:cNvSpPr>
          <p:nvPr>
            <p:ph type="dt" sz="half" idx="10"/>
          </p:nvPr>
        </p:nvSpPr>
        <p:spPr/>
        <p:txBody>
          <a:bodyPr/>
          <a:lstStyle/>
          <a:p>
            <a:fld id="{2E7CC89D-3142-46AB-8DEE-A39EF376CEDE}" type="datetimeFigureOut">
              <a:rPr lang="en-GB" smtClean="0"/>
              <a:t>15/04/2026</a:t>
            </a:fld>
            <a:endParaRPr lang="en-GB"/>
          </a:p>
        </p:txBody>
      </p:sp>
      <p:sp>
        <p:nvSpPr>
          <p:cNvPr id="5" name="Footer Placeholder 4">
            <a:extLst>
              <a:ext uri="{FF2B5EF4-FFF2-40B4-BE49-F238E27FC236}">
                <a16:creationId xmlns:a16="http://schemas.microsoft.com/office/drawing/2014/main" id="{E375944F-2016-4203-89AB-AC800DC0C914}"/>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15CE183-E6CC-4F42-9752-A737372528D4}"/>
              </a:ext>
            </a:extLst>
          </p:cNvPr>
          <p:cNvSpPr>
            <a:spLocks noGrp="1"/>
          </p:cNvSpPr>
          <p:nvPr>
            <p:ph type="sldNum" sz="quarter" idx="12"/>
          </p:nvPr>
        </p:nvSpPr>
        <p:spPr/>
        <p:txBody>
          <a:bodyPr/>
          <a:lstStyle/>
          <a:p>
            <a:fld id="{707FE547-2A2A-4E61-8321-577ADE990ECB}" type="slidenum">
              <a:rPr lang="en-GB" smtClean="0"/>
              <a:t>‹#›</a:t>
            </a:fld>
            <a:endParaRPr lang="en-GB"/>
          </a:p>
        </p:txBody>
      </p:sp>
    </p:spTree>
    <p:extLst>
      <p:ext uri="{BB962C8B-B14F-4D97-AF65-F5344CB8AC3E}">
        <p14:creationId xmlns:p14="http://schemas.microsoft.com/office/powerpoint/2010/main" val="8728872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06503EB-C1A6-4BC3-8B63-0DADCFCBD3F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665BC54B-399D-4AB3-9779-23749131663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20CCD915-B559-4689-BBAE-BE7382F46EA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E7CC89D-3142-46AB-8DEE-A39EF376CEDE}" type="datetimeFigureOut">
              <a:rPr lang="en-GB" smtClean="0"/>
              <a:t>15/04/2026</a:t>
            </a:fld>
            <a:endParaRPr lang="en-GB"/>
          </a:p>
        </p:txBody>
      </p:sp>
      <p:sp>
        <p:nvSpPr>
          <p:cNvPr id="5" name="Footer Placeholder 4">
            <a:extLst>
              <a:ext uri="{FF2B5EF4-FFF2-40B4-BE49-F238E27FC236}">
                <a16:creationId xmlns:a16="http://schemas.microsoft.com/office/drawing/2014/main" id="{BDED69FE-7C55-4273-87B9-F8D6C529F9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2F9218BE-A491-4891-8CB6-8667B64E882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07FE547-2A2A-4E61-8321-577ADE990ECB}" type="slidenum">
              <a:rPr lang="en-GB" smtClean="0"/>
              <a:t>‹#›</a:t>
            </a:fld>
            <a:endParaRPr lang="en-GB"/>
          </a:p>
        </p:txBody>
      </p:sp>
    </p:spTree>
    <p:extLst>
      <p:ext uri="{BB962C8B-B14F-4D97-AF65-F5344CB8AC3E}">
        <p14:creationId xmlns:p14="http://schemas.microsoft.com/office/powerpoint/2010/main" val="260093069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F2961E81-2A8B-4E2D-93EF-5F7823990386}"/>
              </a:ext>
            </a:extLst>
          </p:cNvPr>
          <p:cNvPicPr>
            <a:picLocks noChangeAspect="1"/>
          </p:cNvPicPr>
          <p:nvPr/>
        </p:nvPicPr>
        <p:blipFill>
          <a:blip r:embed="rId2"/>
          <a:stretch>
            <a:fillRect/>
          </a:stretch>
        </p:blipFill>
        <p:spPr>
          <a:xfrm>
            <a:off x="3312393" y="621446"/>
            <a:ext cx="8945223" cy="4887007"/>
          </a:xfrm>
          <a:prstGeom prst="rect">
            <a:avLst/>
          </a:prstGeom>
        </p:spPr>
      </p:pic>
      <p:sp>
        <p:nvSpPr>
          <p:cNvPr id="6" name="TextBox 5">
            <a:extLst>
              <a:ext uri="{FF2B5EF4-FFF2-40B4-BE49-F238E27FC236}">
                <a16:creationId xmlns:a16="http://schemas.microsoft.com/office/drawing/2014/main" id="{1519AEAF-4003-41C0-A386-9B9E629497B9}"/>
              </a:ext>
            </a:extLst>
          </p:cNvPr>
          <p:cNvSpPr txBox="1"/>
          <p:nvPr/>
        </p:nvSpPr>
        <p:spPr>
          <a:xfrm>
            <a:off x="429071" y="2240819"/>
            <a:ext cx="2283114" cy="646331"/>
          </a:xfrm>
          <a:prstGeom prst="rect">
            <a:avLst/>
          </a:prstGeom>
          <a:noFill/>
        </p:spPr>
        <p:txBody>
          <a:bodyPr wrap="square" rtlCol="0">
            <a:spAutoFit/>
          </a:bodyPr>
          <a:lstStyle/>
          <a:p>
            <a:r>
              <a:rPr lang="en-GB" dirty="0">
                <a:solidFill>
                  <a:srgbClr val="A41AE4"/>
                </a:solidFill>
              </a:rPr>
              <a:t>Each row is an item (one of our variables)</a:t>
            </a:r>
          </a:p>
        </p:txBody>
      </p:sp>
      <p:sp>
        <p:nvSpPr>
          <p:cNvPr id="19" name="TextBox 18">
            <a:extLst>
              <a:ext uri="{FF2B5EF4-FFF2-40B4-BE49-F238E27FC236}">
                <a16:creationId xmlns:a16="http://schemas.microsoft.com/office/drawing/2014/main" id="{3E957946-CE17-4628-B08D-798207573E9E}"/>
              </a:ext>
            </a:extLst>
          </p:cNvPr>
          <p:cNvSpPr txBox="1"/>
          <p:nvPr/>
        </p:nvSpPr>
        <p:spPr>
          <a:xfrm>
            <a:off x="429071" y="822649"/>
            <a:ext cx="1780729" cy="1200329"/>
          </a:xfrm>
          <a:prstGeom prst="rect">
            <a:avLst/>
          </a:prstGeom>
          <a:noFill/>
        </p:spPr>
        <p:txBody>
          <a:bodyPr wrap="square" rtlCol="0">
            <a:spAutoFit/>
          </a:bodyPr>
          <a:lstStyle/>
          <a:p>
            <a:r>
              <a:rPr lang="en-GB" dirty="0">
                <a:solidFill>
                  <a:srgbClr val="A41AE4"/>
                </a:solidFill>
              </a:rPr>
              <a:t>Each column is a factor</a:t>
            </a:r>
            <a:br>
              <a:rPr lang="en-GB" dirty="0">
                <a:solidFill>
                  <a:srgbClr val="A41AE4"/>
                </a:solidFill>
              </a:rPr>
            </a:br>
            <a:r>
              <a:rPr lang="en-GB" sz="1200" dirty="0">
                <a:solidFill>
                  <a:srgbClr val="A41AE4"/>
                </a:solidFill>
              </a:rPr>
              <a:t>(these are named according to the extraction method)</a:t>
            </a:r>
          </a:p>
        </p:txBody>
      </p:sp>
      <p:cxnSp>
        <p:nvCxnSpPr>
          <p:cNvPr id="21" name="Straight Arrow Connector 20">
            <a:extLst>
              <a:ext uri="{FF2B5EF4-FFF2-40B4-BE49-F238E27FC236}">
                <a16:creationId xmlns:a16="http://schemas.microsoft.com/office/drawing/2014/main" id="{2BF88D99-D232-4D31-AC2B-AD263814ED77}"/>
              </a:ext>
            </a:extLst>
          </p:cNvPr>
          <p:cNvCxnSpPr>
            <a:cxnSpLocks/>
            <a:stCxn id="19" idx="3"/>
          </p:cNvCxnSpPr>
          <p:nvPr/>
        </p:nvCxnSpPr>
        <p:spPr>
          <a:xfrm flipV="1">
            <a:off x="2209800" y="1422402"/>
            <a:ext cx="1651000" cy="412"/>
          </a:xfrm>
          <a:prstGeom prst="straightConnector1">
            <a:avLst/>
          </a:prstGeom>
          <a:ln>
            <a:solidFill>
              <a:srgbClr val="A41AE4"/>
            </a:solidFill>
            <a:tailEnd type="triangle"/>
          </a:ln>
        </p:spPr>
        <p:style>
          <a:lnRef idx="1">
            <a:schemeClr val="accent2"/>
          </a:lnRef>
          <a:fillRef idx="0">
            <a:schemeClr val="accent2"/>
          </a:fillRef>
          <a:effectRef idx="0">
            <a:schemeClr val="accent2"/>
          </a:effectRef>
          <a:fontRef idx="minor">
            <a:schemeClr val="tx1"/>
          </a:fontRef>
        </p:style>
      </p:cxnSp>
      <p:sp>
        <p:nvSpPr>
          <p:cNvPr id="23" name="Left Brace 22">
            <a:extLst>
              <a:ext uri="{FF2B5EF4-FFF2-40B4-BE49-F238E27FC236}">
                <a16:creationId xmlns:a16="http://schemas.microsoft.com/office/drawing/2014/main" id="{7A002C84-DBF4-4C1B-92E3-9515A372B2E8}"/>
              </a:ext>
            </a:extLst>
          </p:cNvPr>
          <p:cNvSpPr/>
          <p:nvPr/>
        </p:nvSpPr>
        <p:spPr>
          <a:xfrm>
            <a:off x="2929467" y="1607762"/>
            <a:ext cx="401976" cy="2126038"/>
          </a:xfrm>
          <a:prstGeom prst="leftBrace">
            <a:avLst/>
          </a:prstGeom>
          <a:ln w="12700">
            <a:solidFill>
              <a:srgbClr val="A41AE4"/>
            </a:solidFill>
          </a:ln>
        </p:spPr>
        <p:style>
          <a:lnRef idx="1">
            <a:schemeClr val="accent2"/>
          </a:lnRef>
          <a:fillRef idx="0">
            <a:schemeClr val="accent2"/>
          </a:fillRef>
          <a:effectRef idx="0">
            <a:schemeClr val="accent2"/>
          </a:effectRef>
          <a:fontRef idx="minor">
            <a:schemeClr val="tx1"/>
          </a:fontRef>
        </p:style>
        <p:txBody>
          <a:bodyPr rtlCol="0" anchor="ctr"/>
          <a:lstStyle/>
          <a:p>
            <a:pPr algn="ctr"/>
            <a:endParaRPr lang="en-GB"/>
          </a:p>
        </p:txBody>
      </p:sp>
      <p:sp>
        <p:nvSpPr>
          <p:cNvPr id="24" name="Rectangle 23">
            <a:extLst>
              <a:ext uri="{FF2B5EF4-FFF2-40B4-BE49-F238E27FC236}">
                <a16:creationId xmlns:a16="http://schemas.microsoft.com/office/drawing/2014/main" id="{9C66D4C5-D7CE-4979-8C83-BA3107A7840E}"/>
              </a:ext>
            </a:extLst>
          </p:cNvPr>
          <p:cNvSpPr/>
          <p:nvPr/>
        </p:nvSpPr>
        <p:spPr>
          <a:xfrm>
            <a:off x="3742267" y="1536701"/>
            <a:ext cx="1327990" cy="2264420"/>
          </a:xfrm>
          <a:prstGeom prst="rect">
            <a:avLst/>
          </a:prstGeom>
          <a:noFill/>
          <a:ln>
            <a:solidFill>
              <a:srgbClr val="A41A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TextBox 11">
            <a:extLst>
              <a:ext uri="{FF2B5EF4-FFF2-40B4-BE49-F238E27FC236}">
                <a16:creationId xmlns:a16="http://schemas.microsoft.com/office/drawing/2014/main" id="{02B9EF90-F348-4C67-8F54-FA122021CEA6}"/>
              </a:ext>
            </a:extLst>
          </p:cNvPr>
          <p:cNvSpPr txBox="1"/>
          <p:nvPr/>
        </p:nvSpPr>
        <p:spPr>
          <a:xfrm>
            <a:off x="75499" y="-25167"/>
            <a:ext cx="5893501" cy="461665"/>
          </a:xfrm>
          <a:prstGeom prst="rect">
            <a:avLst/>
          </a:prstGeom>
          <a:noFill/>
        </p:spPr>
        <p:txBody>
          <a:bodyPr wrap="square" rtlCol="0">
            <a:spAutoFit/>
          </a:bodyPr>
          <a:lstStyle/>
          <a:p>
            <a:r>
              <a:rPr lang="en-GB" sz="2400" u="sng" dirty="0">
                <a:solidFill>
                  <a:srgbClr val="A41AE4"/>
                </a:solidFill>
              </a:rPr>
              <a:t>LOADINGS</a:t>
            </a:r>
          </a:p>
        </p:txBody>
      </p:sp>
    </p:spTree>
    <p:extLst>
      <p:ext uri="{BB962C8B-B14F-4D97-AF65-F5344CB8AC3E}">
        <p14:creationId xmlns:p14="http://schemas.microsoft.com/office/powerpoint/2010/main" val="12112881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F2961E81-2A8B-4E2D-93EF-5F7823990386}"/>
              </a:ext>
            </a:extLst>
          </p:cNvPr>
          <p:cNvPicPr>
            <a:picLocks noChangeAspect="1"/>
          </p:cNvPicPr>
          <p:nvPr/>
        </p:nvPicPr>
        <p:blipFill>
          <a:blip r:embed="rId2"/>
          <a:stretch>
            <a:fillRect/>
          </a:stretch>
        </p:blipFill>
        <p:spPr>
          <a:xfrm>
            <a:off x="3312393" y="621446"/>
            <a:ext cx="8945223" cy="4887007"/>
          </a:xfrm>
          <a:prstGeom prst="rect">
            <a:avLst/>
          </a:prstGeom>
        </p:spPr>
      </p:pic>
      <p:sp>
        <p:nvSpPr>
          <p:cNvPr id="6" name="TextBox 5">
            <a:extLst>
              <a:ext uri="{FF2B5EF4-FFF2-40B4-BE49-F238E27FC236}">
                <a16:creationId xmlns:a16="http://schemas.microsoft.com/office/drawing/2014/main" id="{1519AEAF-4003-41C0-A386-9B9E629497B9}"/>
              </a:ext>
            </a:extLst>
          </p:cNvPr>
          <p:cNvSpPr txBox="1"/>
          <p:nvPr/>
        </p:nvSpPr>
        <p:spPr>
          <a:xfrm>
            <a:off x="429071" y="2240819"/>
            <a:ext cx="2283114" cy="646331"/>
          </a:xfrm>
          <a:prstGeom prst="rect">
            <a:avLst/>
          </a:prstGeom>
          <a:noFill/>
        </p:spPr>
        <p:txBody>
          <a:bodyPr wrap="square" rtlCol="0">
            <a:spAutoFit/>
          </a:bodyPr>
          <a:lstStyle/>
          <a:p>
            <a:r>
              <a:rPr lang="en-GB" dirty="0">
                <a:solidFill>
                  <a:srgbClr val="A41AE4"/>
                </a:solidFill>
              </a:rPr>
              <a:t>Each row is an item (one of our variables)</a:t>
            </a:r>
          </a:p>
        </p:txBody>
      </p:sp>
      <p:sp>
        <p:nvSpPr>
          <p:cNvPr id="19" name="TextBox 18">
            <a:extLst>
              <a:ext uri="{FF2B5EF4-FFF2-40B4-BE49-F238E27FC236}">
                <a16:creationId xmlns:a16="http://schemas.microsoft.com/office/drawing/2014/main" id="{3E957946-CE17-4628-B08D-798207573E9E}"/>
              </a:ext>
            </a:extLst>
          </p:cNvPr>
          <p:cNvSpPr txBox="1"/>
          <p:nvPr/>
        </p:nvSpPr>
        <p:spPr>
          <a:xfrm>
            <a:off x="429071" y="822649"/>
            <a:ext cx="1780729" cy="1200329"/>
          </a:xfrm>
          <a:prstGeom prst="rect">
            <a:avLst/>
          </a:prstGeom>
          <a:noFill/>
        </p:spPr>
        <p:txBody>
          <a:bodyPr wrap="square" rtlCol="0">
            <a:spAutoFit/>
          </a:bodyPr>
          <a:lstStyle/>
          <a:p>
            <a:r>
              <a:rPr lang="en-GB" dirty="0">
                <a:solidFill>
                  <a:srgbClr val="A41AE4"/>
                </a:solidFill>
              </a:rPr>
              <a:t>Each column is a factor</a:t>
            </a:r>
            <a:br>
              <a:rPr lang="en-GB" dirty="0">
                <a:solidFill>
                  <a:srgbClr val="A41AE4"/>
                </a:solidFill>
              </a:rPr>
            </a:br>
            <a:r>
              <a:rPr lang="en-GB" sz="1200" dirty="0">
                <a:solidFill>
                  <a:srgbClr val="A41AE4"/>
                </a:solidFill>
              </a:rPr>
              <a:t>(these are named according to the extraction method)</a:t>
            </a:r>
          </a:p>
        </p:txBody>
      </p:sp>
      <p:cxnSp>
        <p:nvCxnSpPr>
          <p:cNvPr id="21" name="Straight Arrow Connector 20">
            <a:extLst>
              <a:ext uri="{FF2B5EF4-FFF2-40B4-BE49-F238E27FC236}">
                <a16:creationId xmlns:a16="http://schemas.microsoft.com/office/drawing/2014/main" id="{2BF88D99-D232-4D31-AC2B-AD263814ED77}"/>
              </a:ext>
            </a:extLst>
          </p:cNvPr>
          <p:cNvCxnSpPr>
            <a:cxnSpLocks/>
            <a:stCxn id="19" idx="3"/>
          </p:cNvCxnSpPr>
          <p:nvPr/>
        </p:nvCxnSpPr>
        <p:spPr>
          <a:xfrm flipV="1">
            <a:off x="2209800" y="1422402"/>
            <a:ext cx="1651000" cy="412"/>
          </a:xfrm>
          <a:prstGeom prst="straightConnector1">
            <a:avLst/>
          </a:prstGeom>
          <a:ln>
            <a:solidFill>
              <a:srgbClr val="A41AE4"/>
            </a:solidFill>
            <a:tailEnd type="triangle"/>
          </a:ln>
        </p:spPr>
        <p:style>
          <a:lnRef idx="1">
            <a:schemeClr val="accent2"/>
          </a:lnRef>
          <a:fillRef idx="0">
            <a:schemeClr val="accent2"/>
          </a:fillRef>
          <a:effectRef idx="0">
            <a:schemeClr val="accent2"/>
          </a:effectRef>
          <a:fontRef idx="minor">
            <a:schemeClr val="tx1"/>
          </a:fontRef>
        </p:style>
      </p:cxnSp>
      <p:sp>
        <p:nvSpPr>
          <p:cNvPr id="23" name="Left Brace 22">
            <a:extLst>
              <a:ext uri="{FF2B5EF4-FFF2-40B4-BE49-F238E27FC236}">
                <a16:creationId xmlns:a16="http://schemas.microsoft.com/office/drawing/2014/main" id="{7A002C84-DBF4-4C1B-92E3-9515A372B2E8}"/>
              </a:ext>
            </a:extLst>
          </p:cNvPr>
          <p:cNvSpPr/>
          <p:nvPr/>
        </p:nvSpPr>
        <p:spPr>
          <a:xfrm>
            <a:off x="2929467" y="1607762"/>
            <a:ext cx="401976" cy="2126038"/>
          </a:xfrm>
          <a:prstGeom prst="leftBrace">
            <a:avLst/>
          </a:prstGeom>
          <a:ln w="12700">
            <a:solidFill>
              <a:srgbClr val="A41AE4"/>
            </a:solidFill>
          </a:ln>
        </p:spPr>
        <p:style>
          <a:lnRef idx="1">
            <a:schemeClr val="accent2"/>
          </a:lnRef>
          <a:fillRef idx="0">
            <a:schemeClr val="accent2"/>
          </a:fillRef>
          <a:effectRef idx="0">
            <a:schemeClr val="accent2"/>
          </a:effectRef>
          <a:fontRef idx="minor">
            <a:schemeClr val="tx1"/>
          </a:fontRef>
        </p:style>
        <p:txBody>
          <a:bodyPr rtlCol="0" anchor="ctr"/>
          <a:lstStyle/>
          <a:p>
            <a:pPr algn="ctr"/>
            <a:endParaRPr lang="en-GB"/>
          </a:p>
        </p:txBody>
      </p:sp>
      <p:sp>
        <p:nvSpPr>
          <p:cNvPr id="24" name="Rectangle 23">
            <a:extLst>
              <a:ext uri="{FF2B5EF4-FFF2-40B4-BE49-F238E27FC236}">
                <a16:creationId xmlns:a16="http://schemas.microsoft.com/office/drawing/2014/main" id="{9C66D4C5-D7CE-4979-8C83-BA3107A7840E}"/>
              </a:ext>
            </a:extLst>
          </p:cNvPr>
          <p:cNvSpPr/>
          <p:nvPr/>
        </p:nvSpPr>
        <p:spPr>
          <a:xfrm>
            <a:off x="3742267" y="1536701"/>
            <a:ext cx="1327990" cy="2264420"/>
          </a:xfrm>
          <a:prstGeom prst="rect">
            <a:avLst/>
          </a:prstGeom>
          <a:noFill/>
          <a:ln>
            <a:solidFill>
              <a:srgbClr val="A41A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TextBox 11">
            <a:extLst>
              <a:ext uri="{FF2B5EF4-FFF2-40B4-BE49-F238E27FC236}">
                <a16:creationId xmlns:a16="http://schemas.microsoft.com/office/drawing/2014/main" id="{02B9EF90-F348-4C67-8F54-FA122021CEA6}"/>
              </a:ext>
            </a:extLst>
          </p:cNvPr>
          <p:cNvSpPr txBox="1"/>
          <p:nvPr/>
        </p:nvSpPr>
        <p:spPr>
          <a:xfrm>
            <a:off x="75499" y="-25167"/>
            <a:ext cx="5893501" cy="461665"/>
          </a:xfrm>
          <a:prstGeom prst="rect">
            <a:avLst/>
          </a:prstGeom>
          <a:noFill/>
        </p:spPr>
        <p:txBody>
          <a:bodyPr wrap="square" rtlCol="0">
            <a:spAutoFit/>
          </a:bodyPr>
          <a:lstStyle/>
          <a:p>
            <a:r>
              <a:rPr lang="en-GB" sz="2400" u="sng" dirty="0">
                <a:solidFill>
                  <a:srgbClr val="A41AE4"/>
                </a:solidFill>
              </a:rPr>
              <a:t>LOADINGS</a:t>
            </a:r>
          </a:p>
        </p:txBody>
      </p:sp>
      <p:sp>
        <p:nvSpPr>
          <p:cNvPr id="9" name="TextBox 8">
            <a:extLst>
              <a:ext uri="{FF2B5EF4-FFF2-40B4-BE49-F238E27FC236}">
                <a16:creationId xmlns:a16="http://schemas.microsoft.com/office/drawing/2014/main" id="{0EB27A0A-0A8E-47AD-B3A8-2C716FB8128A}"/>
              </a:ext>
            </a:extLst>
          </p:cNvPr>
          <p:cNvSpPr txBox="1"/>
          <p:nvPr/>
        </p:nvSpPr>
        <p:spPr>
          <a:xfrm>
            <a:off x="7121745" y="2887150"/>
            <a:ext cx="4796871" cy="1969770"/>
          </a:xfrm>
          <a:prstGeom prst="rect">
            <a:avLst/>
          </a:prstGeom>
          <a:noFill/>
        </p:spPr>
        <p:txBody>
          <a:bodyPr wrap="square" rtlCol="0">
            <a:spAutoFit/>
          </a:bodyPr>
          <a:lstStyle/>
          <a:p>
            <a:r>
              <a:rPr lang="en-GB" dirty="0">
                <a:solidFill>
                  <a:srgbClr val="A41AE4"/>
                </a:solidFill>
              </a:rPr>
              <a:t>A squared loading reflects the proportion of variance in an item that is explained by a factor.</a:t>
            </a:r>
          </a:p>
          <a:p>
            <a:endParaRPr lang="en-GB" dirty="0">
              <a:solidFill>
                <a:srgbClr val="A41AE4"/>
              </a:solidFill>
            </a:endParaRPr>
          </a:p>
          <a:p>
            <a:endParaRPr lang="en-GB" dirty="0">
              <a:solidFill>
                <a:srgbClr val="A41AE4"/>
              </a:solidFill>
            </a:endParaRPr>
          </a:p>
          <a:p>
            <a:r>
              <a:rPr lang="en-GB" dirty="0">
                <a:solidFill>
                  <a:srgbClr val="A41AE4"/>
                </a:solidFill>
              </a:rPr>
              <a:t>Loadings &gt; 1 are a problem! </a:t>
            </a:r>
            <a:br>
              <a:rPr lang="en-GB" dirty="0">
                <a:solidFill>
                  <a:srgbClr val="A41AE4"/>
                </a:solidFill>
              </a:rPr>
            </a:br>
            <a:r>
              <a:rPr lang="en-GB" sz="1600" dirty="0">
                <a:solidFill>
                  <a:srgbClr val="A41AE4"/>
                </a:solidFill>
              </a:rPr>
              <a:t>(a factor can’t explain more than 100% of the variance in an item!)</a:t>
            </a:r>
          </a:p>
        </p:txBody>
      </p:sp>
      <p:sp>
        <p:nvSpPr>
          <p:cNvPr id="10" name="TextBox 9">
            <a:extLst>
              <a:ext uri="{FF2B5EF4-FFF2-40B4-BE49-F238E27FC236}">
                <a16:creationId xmlns:a16="http://schemas.microsoft.com/office/drawing/2014/main" id="{38A4E531-FCB1-4FD3-8F3A-4ECE09E4C498}"/>
              </a:ext>
            </a:extLst>
          </p:cNvPr>
          <p:cNvSpPr txBox="1"/>
          <p:nvPr/>
        </p:nvSpPr>
        <p:spPr>
          <a:xfrm>
            <a:off x="7121745" y="1508921"/>
            <a:ext cx="4641184" cy="646331"/>
          </a:xfrm>
          <a:prstGeom prst="rect">
            <a:avLst/>
          </a:prstGeom>
          <a:noFill/>
        </p:spPr>
        <p:txBody>
          <a:bodyPr wrap="square">
            <a:spAutoFit/>
          </a:bodyPr>
          <a:lstStyle/>
          <a:p>
            <a:r>
              <a:rPr lang="en-GB" dirty="0">
                <a:solidFill>
                  <a:srgbClr val="A41AE4"/>
                </a:solidFill>
              </a:rPr>
              <a:t>Loadings show the association between each item and each factor. </a:t>
            </a:r>
          </a:p>
        </p:txBody>
      </p:sp>
    </p:spTree>
    <p:extLst>
      <p:ext uri="{BB962C8B-B14F-4D97-AF65-F5344CB8AC3E}">
        <p14:creationId xmlns:p14="http://schemas.microsoft.com/office/powerpoint/2010/main" val="395749476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F2961E81-2A8B-4E2D-93EF-5F7823990386}"/>
              </a:ext>
            </a:extLst>
          </p:cNvPr>
          <p:cNvPicPr>
            <a:picLocks noChangeAspect="1"/>
          </p:cNvPicPr>
          <p:nvPr/>
        </p:nvPicPr>
        <p:blipFill>
          <a:blip r:embed="rId2"/>
          <a:stretch>
            <a:fillRect/>
          </a:stretch>
        </p:blipFill>
        <p:spPr>
          <a:xfrm>
            <a:off x="3312393" y="621446"/>
            <a:ext cx="8945223" cy="4887007"/>
          </a:xfrm>
          <a:prstGeom prst="rect">
            <a:avLst/>
          </a:prstGeom>
        </p:spPr>
      </p:pic>
      <p:sp>
        <p:nvSpPr>
          <p:cNvPr id="6" name="TextBox 5">
            <a:extLst>
              <a:ext uri="{FF2B5EF4-FFF2-40B4-BE49-F238E27FC236}">
                <a16:creationId xmlns:a16="http://schemas.microsoft.com/office/drawing/2014/main" id="{1519AEAF-4003-41C0-A386-9B9E629497B9}"/>
              </a:ext>
            </a:extLst>
          </p:cNvPr>
          <p:cNvSpPr txBox="1"/>
          <p:nvPr/>
        </p:nvSpPr>
        <p:spPr>
          <a:xfrm>
            <a:off x="429071" y="2240819"/>
            <a:ext cx="2283114" cy="646331"/>
          </a:xfrm>
          <a:prstGeom prst="rect">
            <a:avLst/>
          </a:prstGeom>
          <a:noFill/>
        </p:spPr>
        <p:txBody>
          <a:bodyPr wrap="square" rtlCol="0">
            <a:spAutoFit/>
          </a:bodyPr>
          <a:lstStyle/>
          <a:p>
            <a:r>
              <a:rPr lang="en-GB" dirty="0">
                <a:solidFill>
                  <a:srgbClr val="A41AE4"/>
                </a:solidFill>
              </a:rPr>
              <a:t>Each row is an item (one of our variables)</a:t>
            </a:r>
          </a:p>
        </p:txBody>
      </p:sp>
      <p:sp>
        <p:nvSpPr>
          <p:cNvPr id="19" name="TextBox 18">
            <a:extLst>
              <a:ext uri="{FF2B5EF4-FFF2-40B4-BE49-F238E27FC236}">
                <a16:creationId xmlns:a16="http://schemas.microsoft.com/office/drawing/2014/main" id="{3E957946-CE17-4628-B08D-798207573E9E}"/>
              </a:ext>
            </a:extLst>
          </p:cNvPr>
          <p:cNvSpPr txBox="1"/>
          <p:nvPr/>
        </p:nvSpPr>
        <p:spPr>
          <a:xfrm>
            <a:off x="429071" y="822649"/>
            <a:ext cx="1780729" cy="1200329"/>
          </a:xfrm>
          <a:prstGeom prst="rect">
            <a:avLst/>
          </a:prstGeom>
          <a:noFill/>
        </p:spPr>
        <p:txBody>
          <a:bodyPr wrap="square" rtlCol="0">
            <a:spAutoFit/>
          </a:bodyPr>
          <a:lstStyle/>
          <a:p>
            <a:r>
              <a:rPr lang="en-GB" dirty="0">
                <a:solidFill>
                  <a:srgbClr val="A41AE4"/>
                </a:solidFill>
              </a:rPr>
              <a:t>Each column is a factor</a:t>
            </a:r>
            <a:br>
              <a:rPr lang="en-GB" dirty="0">
                <a:solidFill>
                  <a:srgbClr val="A41AE4"/>
                </a:solidFill>
              </a:rPr>
            </a:br>
            <a:r>
              <a:rPr lang="en-GB" sz="1200" dirty="0">
                <a:solidFill>
                  <a:srgbClr val="A41AE4"/>
                </a:solidFill>
              </a:rPr>
              <a:t>(these are named according to the extraction method)</a:t>
            </a:r>
          </a:p>
        </p:txBody>
      </p:sp>
      <p:cxnSp>
        <p:nvCxnSpPr>
          <p:cNvPr id="21" name="Straight Arrow Connector 20">
            <a:extLst>
              <a:ext uri="{FF2B5EF4-FFF2-40B4-BE49-F238E27FC236}">
                <a16:creationId xmlns:a16="http://schemas.microsoft.com/office/drawing/2014/main" id="{2BF88D99-D232-4D31-AC2B-AD263814ED77}"/>
              </a:ext>
            </a:extLst>
          </p:cNvPr>
          <p:cNvCxnSpPr>
            <a:cxnSpLocks/>
            <a:stCxn id="19" idx="3"/>
          </p:cNvCxnSpPr>
          <p:nvPr/>
        </p:nvCxnSpPr>
        <p:spPr>
          <a:xfrm flipV="1">
            <a:off x="2209800" y="1422402"/>
            <a:ext cx="1651000" cy="412"/>
          </a:xfrm>
          <a:prstGeom prst="straightConnector1">
            <a:avLst/>
          </a:prstGeom>
          <a:ln>
            <a:solidFill>
              <a:srgbClr val="A41AE4"/>
            </a:solidFill>
            <a:tailEnd type="triangle"/>
          </a:ln>
        </p:spPr>
        <p:style>
          <a:lnRef idx="1">
            <a:schemeClr val="accent2"/>
          </a:lnRef>
          <a:fillRef idx="0">
            <a:schemeClr val="accent2"/>
          </a:fillRef>
          <a:effectRef idx="0">
            <a:schemeClr val="accent2"/>
          </a:effectRef>
          <a:fontRef idx="minor">
            <a:schemeClr val="tx1"/>
          </a:fontRef>
        </p:style>
      </p:cxnSp>
      <p:sp>
        <p:nvSpPr>
          <p:cNvPr id="23" name="Left Brace 22">
            <a:extLst>
              <a:ext uri="{FF2B5EF4-FFF2-40B4-BE49-F238E27FC236}">
                <a16:creationId xmlns:a16="http://schemas.microsoft.com/office/drawing/2014/main" id="{7A002C84-DBF4-4C1B-92E3-9515A372B2E8}"/>
              </a:ext>
            </a:extLst>
          </p:cNvPr>
          <p:cNvSpPr/>
          <p:nvPr/>
        </p:nvSpPr>
        <p:spPr>
          <a:xfrm>
            <a:off x="2929467" y="1607762"/>
            <a:ext cx="401976" cy="2126038"/>
          </a:xfrm>
          <a:prstGeom prst="leftBrace">
            <a:avLst/>
          </a:prstGeom>
          <a:ln w="12700">
            <a:solidFill>
              <a:srgbClr val="A41AE4"/>
            </a:solidFill>
          </a:ln>
        </p:spPr>
        <p:style>
          <a:lnRef idx="1">
            <a:schemeClr val="accent2"/>
          </a:lnRef>
          <a:fillRef idx="0">
            <a:schemeClr val="accent2"/>
          </a:fillRef>
          <a:effectRef idx="0">
            <a:schemeClr val="accent2"/>
          </a:effectRef>
          <a:fontRef idx="minor">
            <a:schemeClr val="tx1"/>
          </a:fontRef>
        </p:style>
        <p:txBody>
          <a:bodyPr rtlCol="0" anchor="ctr"/>
          <a:lstStyle/>
          <a:p>
            <a:pPr algn="ctr"/>
            <a:endParaRPr lang="en-GB"/>
          </a:p>
        </p:txBody>
      </p:sp>
      <p:sp>
        <p:nvSpPr>
          <p:cNvPr id="24" name="Rectangle 23">
            <a:extLst>
              <a:ext uri="{FF2B5EF4-FFF2-40B4-BE49-F238E27FC236}">
                <a16:creationId xmlns:a16="http://schemas.microsoft.com/office/drawing/2014/main" id="{9C66D4C5-D7CE-4979-8C83-BA3107A7840E}"/>
              </a:ext>
            </a:extLst>
          </p:cNvPr>
          <p:cNvSpPr/>
          <p:nvPr/>
        </p:nvSpPr>
        <p:spPr>
          <a:xfrm>
            <a:off x="3742267" y="1536701"/>
            <a:ext cx="1327990" cy="2264420"/>
          </a:xfrm>
          <a:prstGeom prst="rect">
            <a:avLst/>
          </a:prstGeom>
          <a:noFill/>
          <a:ln>
            <a:solidFill>
              <a:srgbClr val="A41A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TextBox 11">
            <a:extLst>
              <a:ext uri="{FF2B5EF4-FFF2-40B4-BE49-F238E27FC236}">
                <a16:creationId xmlns:a16="http://schemas.microsoft.com/office/drawing/2014/main" id="{02B9EF90-F348-4C67-8F54-FA122021CEA6}"/>
              </a:ext>
            </a:extLst>
          </p:cNvPr>
          <p:cNvSpPr txBox="1"/>
          <p:nvPr/>
        </p:nvSpPr>
        <p:spPr>
          <a:xfrm>
            <a:off x="75499" y="-25167"/>
            <a:ext cx="5893501" cy="461665"/>
          </a:xfrm>
          <a:prstGeom prst="rect">
            <a:avLst/>
          </a:prstGeom>
          <a:noFill/>
        </p:spPr>
        <p:txBody>
          <a:bodyPr wrap="square" rtlCol="0">
            <a:spAutoFit/>
          </a:bodyPr>
          <a:lstStyle/>
          <a:p>
            <a:r>
              <a:rPr lang="en-GB" sz="2400" u="sng" dirty="0">
                <a:solidFill>
                  <a:srgbClr val="A41AE4"/>
                </a:solidFill>
              </a:rPr>
              <a:t>LOADINGS (Orthogonal or No Rotation)</a:t>
            </a:r>
          </a:p>
        </p:txBody>
      </p:sp>
      <p:sp>
        <p:nvSpPr>
          <p:cNvPr id="9" name="TextBox 8">
            <a:extLst>
              <a:ext uri="{FF2B5EF4-FFF2-40B4-BE49-F238E27FC236}">
                <a16:creationId xmlns:a16="http://schemas.microsoft.com/office/drawing/2014/main" id="{0EB27A0A-0A8E-47AD-B3A8-2C716FB8128A}"/>
              </a:ext>
            </a:extLst>
          </p:cNvPr>
          <p:cNvSpPr txBox="1"/>
          <p:nvPr/>
        </p:nvSpPr>
        <p:spPr>
          <a:xfrm>
            <a:off x="7121745" y="2887150"/>
            <a:ext cx="4796871" cy="1077218"/>
          </a:xfrm>
          <a:prstGeom prst="rect">
            <a:avLst/>
          </a:prstGeom>
          <a:noFill/>
        </p:spPr>
        <p:txBody>
          <a:bodyPr wrap="square" rtlCol="0">
            <a:spAutoFit/>
          </a:bodyPr>
          <a:lstStyle/>
          <a:p>
            <a:r>
              <a:rPr lang="en-GB" dirty="0">
                <a:solidFill>
                  <a:srgbClr val="A41AE4"/>
                </a:solidFill>
              </a:rPr>
              <a:t>A squared loading reflects the proportion of variance in an item that is explained by a factor.  </a:t>
            </a:r>
          </a:p>
          <a:p>
            <a:r>
              <a:rPr lang="en-GB" sz="1400" dirty="0">
                <a:solidFill>
                  <a:srgbClr val="A41AE4"/>
                </a:solidFill>
              </a:rPr>
              <a:t>e.g., 0.48</a:t>
            </a:r>
            <a:r>
              <a:rPr lang="en-GB" sz="1400" b="0" i="0" dirty="0">
                <a:solidFill>
                  <a:srgbClr val="A41AE4"/>
                </a:solidFill>
                <a:effectLst/>
                <a:latin typeface="-apple-system"/>
              </a:rPr>
              <a:t>² </a:t>
            </a:r>
            <a:r>
              <a:rPr lang="en-GB" sz="1400" dirty="0">
                <a:solidFill>
                  <a:srgbClr val="A41AE4"/>
                </a:solidFill>
              </a:rPr>
              <a:t> = 0.23</a:t>
            </a:r>
          </a:p>
          <a:p>
            <a:r>
              <a:rPr lang="en-GB" sz="1400" dirty="0">
                <a:solidFill>
                  <a:srgbClr val="A41AE4"/>
                </a:solidFill>
              </a:rPr>
              <a:t>23% of the variance in Q10 is explained by Factor 2</a:t>
            </a:r>
          </a:p>
        </p:txBody>
      </p:sp>
      <p:sp>
        <p:nvSpPr>
          <p:cNvPr id="10" name="TextBox 9">
            <a:extLst>
              <a:ext uri="{FF2B5EF4-FFF2-40B4-BE49-F238E27FC236}">
                <a16:creationId xmlns:a16="http://schemas.microsoft.com/office/drawing/2014/main" id="{38A4E531-FCB1-4FD3-8F3A-4ECE09E4C498}"/>
              </a:ext>
            </a:extLst>
          </p:cNvPr>
          <p:cNvSpPr txBox="1"/>
          <p:nvPr/>
        </p:nvSpPr>
        <p:spPr>
          <a:xfrm>
            <a:off x="7121745" y="1508921"/>
            <a:ext cx="4641184" cy="1077218"/>
          </a:xfrm>
          <a:prstGeom prst="rect">
            <a:avLst/>
          </a:prstGeom>
          <a:noFill/>
        </p:spPr>
        <p:txBody>
          <a:bodyPr wrap="square">
            <a:spAutoFit/>
          </a:bodyPr>
          <a:lstStyle/>
          <a:p>
            <a:r>
              <a:rPr lang="en-GB" dirty="0">
                <a:solidFill>
                  <a:srgbClr val="A41AE4"/>
                </a:solidFill>
              </a:rPr>
              <a:t>Loadings show the association between each item and each factor. </a:t>
            </a:r>
          </a:p>
          <a:p>
            <a:r>
              <a:rPr lang="en-GB" sz="1400" dirty="0">
                <a:solidFill>
                  <a:srgbClr val="A41AE4"/>
                </a:solidFill>
              </a:rPr>
              <a:t>With no rotation or an orthogonal rotation these are correlation coefficients. </a:t>
            </a:r>
            <a:endParaRPr lang="en-GB" sz="1400" baseline="-25000" dirty="0">
              <a:solidFill>
                <a:srgbClr val="A41AE4"/>
              </a:solidFill>
            </a:endParaRPr>
          </a:p>
        </p:txBody>
      </p:sp>
      <p:cxnSp>
        <p:nvCxnSpPr>
          <p:cNvPr id="4" name="Straight Connector 3">
            <a:extLst>
              <a:ext uri="{FF2B5EF4-FFF2-40B4-BE49-F238E27FC236}">
                <a16:creationId xmlns:a16="http://schemas.microsoft.com/office/drawing/2014/main" id="{21B60257-75A3-4DEA-A2E1-D94F831BF493}"/>
              </a:ext>
            </a:extLst>
          </p:cNvPr>
          <p:cNvCxnSpPr/>
          <p:nvPr/>
        </p:nvCxnSpPr>
        <p:spPr>
          <a:xfrm>
            <a:off x="8296275" y="1057275"/>
            <a:ext cx="1619250" cy="0"/>
          </a:xfrm>
          <a:prstGeom prst="line">
            <a:avLst/>
          </a:prstGeom>
          <a:ln w="38100">
            <a:solidFill>
              <a:srgbClr val="FF0000"/>
            </a:solidFill>
          </a:ln>
        </p:spPr>
        <p:style>
          <a:lnRef idx="1">
            <a:schemeClr val="accent2"/>
          </a:lnRef>
          <a:fillRef idx="0">
            <a:schemeClr val="accent2"/>
          </a:fillRef>
          <a:effectRef idx="0">
            <a:schemeClr val="accent2"/>
          </a:effectRef>
          <a:fontRef idx="minor">
            <a:schemeClr val="tx1"/>
          </a:fontRef>
        </p:style>
      </p:cxnSp>
      <p:grpSp>
        <p:nvGrpSpPr>
          <p:cNvPr id="34" name="Group 33">
            <a:extLst>
              <a:ext uri="{FF2B5EF4-FFF2-40B4-BE49-F238E27FC236}">
                <a16:creationId xmlns:a16="http://schemas.microsoft.com/office/drawing/2014/main" id="{3763495A-D04B-449B-9336-7F70E8C0089E}"/>
              </a:ext>
            </a:extLst>
          </p:cNvPr>
          <p:cNvGrpSpPr/>
          <p:nvPr/>
        </p:nvGrpSpPr>
        <p:grpSpPr>
          <a:xfrm>
            <a:off x="7561200" y="4260140"/>
            <a:ext cx="4197496" cy="2496626"/>
            <a:chOff x="486440" y="312156"/>
            <a:chExt cx="4197496" cy="2496626"/>
          </a:xfrm>
        </p:grpSpPr>
        <p:sp>
          <p:nvSpPr>
            <p:cNvPr id="35" name="Oval 34">
              <a:extLst>
                <a:ext uri="{FF2B5EF4-FFF2-40B4-BE49-F238E27FC236}">
                  <a16:creationId xmlns:a16="http://schemas.microsoft.com/office/drawing/2014/main" id="{120AFB90-041A-41E2-8021-FE753C030D81}"/>
                </a:ext>
              </a:extLst>
            </p:cNvPr>
            <p:cNvSpPr/>
            <p:nvPr/>
          </p:nvSpPr>
          <p:spPr>
            <a:xfrm>
              <a:off x="2024323" y="672742"/>
              <a:ext cx="1100667" cy="1077218"/>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dirty="0">
                  <a:solidFill>
                    <a:schemeClr val="tx1"/>
                  </a:solidFill>
                </a:rPr>
                <a:t>Q10</a:t>
              </a:r>
            </a:p>
            <a:p>
              <a:pPr algn="ctr"/>
              <a:endParaRPr lang="en-GB" sz="1400" dirty="0">
                <a:solidFill>
                  <a:schemeClr val="tx1"/>
                </a:solidFill>
              </a:endParaRPr>
            </a:p>
            <a:p>
              <a:pPr algn="ctr"/>
              <a:endParaRPr lang="en-GB" sz="1400" dirty="0">
                <a:solidFill>
                  <a:schemeClr val="tx1"/>
                </a:solidFill>
              </a:endParaRPr>
            </a:p>
          </p:txBody>
        </p:sp>
        <p:sp>
          <p:nvSpPr>
            <p:cNvPr id="36" name="Oval 35">
              <a:extLst>
                <a:ext uri="{FF2B5EF4-FFF2-40B4-BE49-F238E27FC236}">
                  <a16:creationId xmlns:a16="http://schemas.microsoft.com/office/drawing/2014/main" id="{2B0E4DF3-F6E0-4FFE-93EB-1F1B74293664}"/>
                </a:ext>
              </a:extLst>
            </p:cNvPr>
            <p:cNvSpPr/>
            <p:nvPr/>
          </p:nvSpPr>
          <p:spPr>
            <a:xfrm>
              <a:off x="2729238" y="874900"/>
              <a:ext cx="1100667" cy="1077218"/>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dirty="0">
                  <a:solidFill>
                    <a:schemeClr val="tx1"/>
                  </a:solidFill>
                </a:rPr>
                <a:t>       ML2</a:t>
              </a:r>
            </a:p>
          </p:txBody>
        </p:sp>
        <p:sp>
          <p:nvSpPr>
            <p:cNvPr id="37" name="Oval 36">
              <a:extLst>
                <a:ext uri="{FF2B5EF4-FFF2-40B4-BE49-F238E27FC236}">
                  <a16:creationId xmlns:a16="http://schemas.microsoft.com/office/drawing/2014/main" id="{C3D35DCD-B18C-480B-92FD-9B02EA8E8E7D}"/>
                </a:ext>
              </a:extLst>
            </p:cNvPr>
            <p:cNvSpPr/>
            <p:nvPr/>
          </p:nvSpPr>
          <p:spPr>
            <a:xfrm>
              <a:off x="1505739" y="1325396"/>
              <a:ext cx="1100667" cy="1077218"/>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dirty="0">
                  <a:solidFill>
                    <a:schemeClr val="tx1"/>
                  </a:solidFill>
                </a:rPr>
                <a:t>ML1</a:t>
              </a:r>
            </a:p>
          </p:txBody>
        </p:sp>
        <p:sp>
          <p:nvSpPr>
            <p:cNvPr id="38" name="TextBox 37">
              <a:extLst>
                <a:ext uri="{FF2B5EF4-FFF2-40B4-BE49-F238E27FC236}">
                  <a16:creationId xmlns:a16="http://schemas.microsoft.com/office/drawing/2014/main" id="{08F9F24C-DC2B-44B1-A885-20A8F84E010B}"/>
                </a:ext>
              </a:extLst>
            </p:cNvPr>
            <p:cNvSpPr txBox="1"/>
            <p:nvPr/>
          </p:nvSpPr>
          <p:spPr>
            <a:xfrm>
              <a:off x="2606406" y="2162451"/>
              <a:ext cx="2077530" cy="646331"/>
            </a:xfrm>
            <a:prstGeom prst="rect">
              <a:avLst/>
            </a:prstGeom>
            <a:noFill/>
          </p:spPr>
          <p:txBody>
            <a:bodyPr wrap="square" rtlCol="0">
              <a:spAutoFit/>
            </a:bodyPr>
            <a:lstStyle/>
            <a:p>
              <a:r>
                <a:rPr lang="en-GB" sz="1200" dirty="0"/>
                <a:t>rotate = “none”</a:t>
              </a:r>
            </a:p>
            <a:p>
              <a:r>
                <a:rPr lang="en-GB" sz="1200" dirty="0"/>
                <a:t>means that ML1 and ML2 are uncorrelated (no overlap)</a:t>
              </a:r>
            </a:p>
          </p:txBody>
        </p:sp>
        <p:cxnSp>
          <p:nvCxnSpPr>
            <p:cNvPr id="39" name="Straight Arrow Connector 38">
              <a:extLst>
                <a:ext uri="{FF2B5EF4-FFF2-40B4-BE49-F238E27FC236}">
                  <a16:creationId xmlns:a16="http://schemas.microsoft.com/office/drawing/2014/main" id="{27ECE7C7-0E1C-43E5-B61D-77FC835C10A6}"/>
                </a:ext>
              </a:extLst>
            </p:cNvPr>
            <p:cNvCxnSpPr>
              <a:cxnSpLocks/>
            </p:cNvCxnSpPr>
            <p:nvPr/>
          </p:nvCxnSpPr>
          <p:spPr>
            <a:xfrm flipH="1">
              <a:off x="2960823" y="672742"/>
              <a:ext cx="394044" cy="618296"/>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40" name="TextBox 39">
              <a:extLst>
                <a:ext uri="{FF2B5EF4-FFF2-40B4-BE49-F238E27FC236}">
                  <a16:creationId xmlns:a16="http://schemas.microsoft.com/office/drawing/2014/main" id="{465FDB86-A93E-4932-9C05-605DD688CA12}"/>
                </a:ext>
              </a:extLst>
            </p:cNvPr>
            <p:cNvSpPr txBox="1"/>
            <p:nvPr/>
          </p:nvSpPr>
          <p:spPr>
            <a:xfrm>
              <a:off x="3312335" y="312156"/>
              <a:ext cx="1371601" cy="461665"/>
            </a:xfrm>
            <a:prstGeom prst="rect">
              <a:avLst/>
            </a:prstGeom>
            <a:noFill/>
            <a:ln>
              <a:noFill/>
            </a:ln>
          </p:spPr>
          <p:txBody>
            <a:bodyPr wrap="square" rtlCol="0">
              <a:spAutoFit/>
            </a:bodyPr>
            <a:lstStyle/>
            <a:p>
              <a:r>
                <a:rPr lang="en-GB" sz="1200" dirty="0">
                  <a:solidFill>
                    <a:schemeClr val="accent6"/>
                  </a:solidFill>
                </a:rPr>
                <a:t>Variance in Q10 explained by ML2</a:t>
              </a:r>
            </a:p>
          </p:txBody>
        </p:sp>
        <p:cxnSp>
          <p:nvCxnSpPr>
            <p:cNvPr id="41" name="Straight Arrow Connector 40">
              <a:extLst>
                <a:ext uri="{FF2B5EF4-FFF2-40B4-BE49-F238E27FC236}">
                  <a16:creationId xmlns:a16="http://schemas.microsoft.com/office/drawing/2014/main" id="{22C0AD0A-3881-40E2-BECE-500920B93A85}"/>
                </a:ext>
              </a:extLst>
            </p:cNvPr>
            <p:cNvCxnSpPr>
              <a:cxnSpLocks/>
            </p:cNvCxnSpPr>
            <p:nvPr/>
          </p:nvCxnSpPr>
          <p:spPr>
            <a:xfrm>
              <a:off x="1532670" y="1291038"/>
              <a:ext cx="833368" cy="277264"/>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ED506DE6-49AC-4F89-8C17-1C1148B3EC1B}"/>
                </a:ext>
              </a:extLst>
            </p:cNvPr>
            <p:cNvSpPr txBox="1"/>
            <p:nvPr/>
          </p:nvSpPr>
          <p:spPr>
            <a:xfrm>
              <a:off x="486440" y="878547"/>
              <a:ext cx="1277596" cy="461665"/>
            </a:xfrm>
            <a:prstGeom prst="rect">
              <a:avLst/>
            </a:prstGeom>
            <a:noFill/>
          </p:spPr>
          <p:txBody>
            <a:bodyPr wrap="square" rtlCol="0">
              <a:spAutoFit/>
            </a:bodyPr>
            <a:lstStyle/>
            <a:p>
              <a:r>
                <a:rPr lang="en-GB" sz="1200" dirty="0">
                  <a:solidFill>
                    <a:schemeClr val="accent6"/>
                  </a:solidFill>
                </a:rPr>
                <a:t>Variance in Q10 explained by ML1</a:t>
              </a:r>
            </a:p>
          </p:txBody>
        </p:sp>
      </p:grpSp>
    </p:spTree>
    <p:extLst>
      <p:ext uri="{BB962C8B-B14F-4D97-AF65-F5344CB8AC3E}">
        <p14:creationId xmlns:p14="http://schemas.microsoft.com/office/powerpoint/2010/main" val="35615416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5289AD6-4496-4E3E-9826-2F63976ED24A}"/>
              </a:ext>
            </a:extLst>
          </p:cNvPr>
          <p:cNvPicPr>
            <a:picLocks noChangeAspect="1"/>
          </p:cNvPicPr>
          <p:nvPr/>
        </p:nvPicPr>
        <p:blipFill>
          <a:blip r:embed="rId2"/>
          <a:stretch>
            <a:fillRect/>
          </a:stretch>
        </p:blipFill>
        <p:spPr>
          <a:xfrm>
            <a:off x="3299793" y="632993"/>
            <a:ext cx="8869013" cy="6011114"/>
          </a:xfrm>
          <a:prstGeom prst="rect">
            <a:avLst/>
          </a:prstGeom>
        </p:spPr>
      </p:pic>
      <p:sp>
        <p:nvSpPr>
          <p:cNvPr id="6" name="TextBox 5">
            <a:extLst>
              <a:ext uri="{FF2B5EF4-FFF2-40B4-BE49-F238E27FC236}">
                <a16:creationId xmlns:a16="http://schemas.microsoft.com/office/drawing/2014/main" id="{1519AEAF-4003-41C0-A386-9B9E629497B9}"/>
              </a:ext>
            </a:extLst>
          </p:cNvPr>
          <p:cNvSpPr txBox="1"/>
          <p:nvPr/>
        </p:nvSpPr>
        <p:spPr>
          <a:xfrm>
            <a:off x="429071" y="2240819"/>
            <a:ext cx="2283114" cy="646331"/>
          </a:xfrm>
          <a:prstGeom prst="rect">
            <a:avLst/>
          </a:prstGeom>
          <a:noFill/>
        </p:spPr>
        <p:txBody>
          <a:bodyPr wrap="square" rtlCol="0">
            <a:spAutoFit/>
          </a:bodyPr>
          <a:lstStyle/>
          <a:p>
            <a:r>
              <a:rPr lang="en-GB" dirty="0">
                <a:solidFill>
                  <a:srgbClr val="A41AE4"/>
                </a:solidFill>
              </a:rPr>
              <a:t>Each row is an item (one of our variables)</a:t>
            </a:r>
          </a:p>
        </p:txBody>
      </p:sp>
      <p:sp>
        <p:nvSpPr>
          <p:cNvPr id="19" name="TextBox 18">
            <a:extLst>
              <a:ext uri="{FF2B5EF4-FFF2-40B4-BE49-F238E27FC236}">
                <a16:creationId xmlns:a16="http://schemas.microsoft.com/office/drawing/2014/main" id="{3E957946-CE17-4628-B08D-798207573E9E}"/>
              </a:ext>
            </a:extLst>
          </p:cNvPr>
          <p:cNvSpPr txBox="1"/>
          <p:nvPr/>
        </p:nvSpPr>
        <p:spPr>
          <a:xfrm>
            <a:off x="429071" y="822649"/>
            <a:ext cx="1780729" cy="1200329"/>
          </a:xfrm>
          <a:prstGeom prst="rect">
            <a:avLst/>
          </a:prstGeom>
          <a:noFill/>
        </p:spPr>
        <p:txBody>
          <a:bodyPr wrap="square" rtlCol="0">
            <a:spAutoFit/>
          </a:bodyPr>
          <a:lstStyle/>
          <a:p>
            <a:r>
              <a:rPr lang="en-GB" dirty="0">
                <a:solidFill>
                  <a:srgbClr val="A41AE4"/>
                </a:solidFill>
              </a:rPr>
              <a:t>Each column is a factor</a:t>
            </a:r>
            <a:br>
              <a:rPr lang="en-GB" dirty="0">
                <a:solidFill>
                  <a:srgbClr val="A41AE4"/>
                </a:solidFill>
              </a:rPr>
            </a:br>
            <a:r>
              <a:rPr lang="en-GB" sz="1200" dirty="0">
                <a:solidFill>
                  <a:srgbClr val="A41AE4"/>
                </a:solidFill>
              </a:rPr>
              <a:t>(these are named according to the extraction method)</a:t>
            </a:r>
          </a:p>
        </p:txBody>
      </p:sp>
      <p:cxnSp>
        <p:nvCxnSpPr>
          <p:cNvPr id="21" name="Straight Arrow Connector 20">
            <a:extLst>
              <a:ext uri="{FF2B5EF4-FFF2-40B4-BE49-F238E27FC236}">
                <a16:creationId xmlns:a16="http://schemas.microsoft.com/office/drawing/2014/main" id="{2BF88D99-D232-4D31-AC2B-AD263814ED77}"/>
              </a:ext>
            </a:extLst>
          </p:cNvPr>
          <p:cNvCxnSpPr>
            <a:cxnSpLocks/>
            <a:stCxn id="19" idx="3"/>
          </p:cNvCxnSpPr>
          <p:nvPr/>
        </p:nvCxnSpPr>
        <p:spPr>
          <a:xfrm flipV="1">
            <a:off x="2209800" y="1422402"/>
            <a:ext cx="1651000" cy="412"/>
          </a:xfrm>
          <a:prstGeom prst="straightConnector1">
            <a:avLst/>
          </a:prstGeom>
          <a:ln>
            <a:solidFill>
              <a:srgbClr val="A41AE4"/>
            </a:solidFill>
            <a:tailEnd type="triangle"/>
          </a:ln>
        </p:spPr>
        <p:style>
          <a:lnRef idx="1">
            <a:schemeClr val="accent2"/>
          </a:lnRef>
          <a:fillRef idx="0">
            <a:schemeClr val="accent2"/>
          </a:fillRef>
          <a:effectRef idx="0">
            <a:schemeClr val="accent2"/>
          </a:effectRef>
          <a:fontRef idx="minor">
            <a:schemeClr val="tx1"/>
          </a:fontRef>
        </p:style>
      </p:cxnSp>
      <p:sp>
        <p:nvSpPr>
          <p:cNvPr id="23" name="Left Brace 22">
            <a:extLst>
              <a:ext uri="{FF2B5EF4-FFF2-40B4-BE49-F238E27FC236}">
                <a16:creationId xmlns:a16="http://schemas.microsoft.com/office/drawing/2014/main" id="{7A002C84-DBF4-4C1B-92E3-9515A372B2E8}"/>
              </a:ext>
            </a:extLst>
          </p:cNvPr>
          <p:cNvSpPr/>
          <p:nvPr/>
        </p:nvSpPr>
        <p:spPr>
          <a:xfrm>
            <a:off x="2929467" y="1607762"/>
            <a:ext cx="401976" cy="2126038"/>
          </a:xfrm>
          <a:prstGeom prst="leftBrace">
            <a:avLst/>
          </a:prstGeom>
          <a:ln w="12700">
            <a:solidFill>
              <a:srgbClr val="A41AE4"/>
            </a:solidFill>
          </a:ln>
        </p:spPr>
        <p:style>
          <a:lnRef idx="1">
            <a:schemeClr val="accent2"/>
          </a:lnRef>
          <a:fillRef idx="0">
            <a:schemeClr val="accent2"/>
          </a:fillRef>
          <a:effectRef idx="0">
            <a:schemeClr val="accent2"/>
          </a:effectRef>
          <a:fontRef idx="minor">
            <a:schemeClr val="tx1"/>
          </a:fontRef>
        </p:style>
        <p:txBody>
          <a:bodyPr rtlCol="0" anchor="ctr"/>
          <a:lstStyle/>
          <a:p>
            <a:pPr algn="ctr"/>
            <a:endParaRPr lang="en-GB"/>
          </a:p>
        </p:txBody>
      </p:sp>
      <p:sp>
        <p:nvSpPr>
          <p:cNvPr id="24" name="Rectangle 23">
            <a:extLst>
              <a:ext uri="{FF2B5EF4-FFF2-40B4-BE49-F238E27FC236}">
                <a16:creationId xmlns:a16="http://schemas.microsoft.com/office/drawing/2014/main" id="{9C66D4C5-D7CE-4979-8C83-BA3107A7840E}"/>
              </a:ext>
            </a:extLst>
          </p:cNvPr>
          <p:cNvSpPr/>
          <p:nvPr/>
        </p:nvSpPr>
        <p:spPr>
          <a:xfrm>
            <a:off x="3742267" y="1536701"/>
            <a:ext cx="1327990" cy="2264420"/>
          </a:xfrm>
          <a:prstGeom prst="rect">
            <a:avLst/>
          </a:prstGeom>
          <a:noFill/>
          <a:ln>
            <a:solidFill>
              <a:srgbClr val="A41A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TextBox 11">
            <a:extLst>
              <a:ext uri="{FF2B5EF4-FFF2-40B4-BE49-F238E27FC236}">
                <a16:creationId xmlns:a16="http://schemas.microsoft.com/office/drawing/2014/main" id="{02B9EF90-F348-4C67-8F54-FA122021CEA6}"/>
              </a:ext>
            </a:extLst>
          </p:cNvPr>
          <p:cNvSpPr txBox="1"/>
          <p:nvPr/>
        </p:nvSpPr>
        <p:spPr>
          <a:xfrm>
            <a:off x="75499" y="-25167"/>
            <a:ext cx="5893501" cy="461665"/>
          </a:xfrm>
          <a:prstGeom prst="rect">
            <a:avLst/>
          </a:prstGeom>
          <a:noFill/>
        </p:spPr>
        <p:txBody>
          <a:bodyPr wrap="square" rtlCol="0">
            <a:spAutoFit/>
          </a:bodyPr>
          <a:lstStyle/>
          <a:p>
            <a:r>
              <a:rPr lang="en-GB" sz="2400" u="sng" dirty="0">
                <a:solidFill>
                  <a:srgbClr val="A41AE4"/>
                </a:solidFill>
              </a:rPr>
              <a:t>LOADINGS (Oblique Rotation)</a:t>
            </a:r>
          </a:p>
        </p:txBody>
      </p:sp>
      <p:sp>
        <p:nvSpPr>
          <p:cNvPr id="9" name="TextBox 8">
            <a:extLst>
              <a:ext uri="{FF2B5EF4-FFF2-40B4-BE49-F238E27FC236}">
                <a16:creationId xmlns:a16="http://schemas.microsoft.com/office/drawing/2014/main" id="{0EB27A0A-0A8E-47AD-B3A8-2C716FB8128A}"/>
              </a:ext>
            </a:extLst>
          </p:cNvPr>
          <p:cNvSpPr txBox="1"/>
          <p:nvPr/>
        </p:nvSpPr>
        <p:spPr>
          <a:xfrm>
            <a:off x="7121745" y="2887150"/>
            <a:ext cx="4796871" cy="1354217"/>
          </a:xfrm>
          <a:prstGeom prst="rect">
            <a:avLst/>
          </a:prstGeom>
          <a:noFill/>
        </p:spPr>
        <p:txBody>
          <a:bodyPr wrap="square" rtlCol="0">
            <a:spAutoFit/>
          </a:bodyPr>
          <a:lstStyle/>
          <a:p>
            <a:r>
              <a:rPr lang="en-GB" dirty="0">
                <a:solidFill>
                  <a:srgbClr val="A41AE4"/>
                </a:solidFill>
              </a:rPr>
              <a:t>A squared loading reflects the proportion of variance in an item that is uniquely explained by a factor.  </a:t>
            </a:r>
          </a:p>
          <a:p>
            <a:r>
              <a:rPr lang="en-GB" sz="1400" dirty="0">
                <a:solidFill>
                  <a:srgbClr val="A41AE4"/>
                </a:solidFill>
              </a:rPr>
              <a:t>e.g., 0.60</a:t>
            </a:r>
            <a:r>
              <a:rPr lang="en-GB" sz="1400" b="0" i="0" dirty="0">
                <a:solidFill>
                  <a:srgbClr val="A41AE4"/>
                </a:solidFill>
                <a:effectLst/>
                <a:latin typeface="-apple-system"/>
              </a:rPr>
              <a:t>² </a:t>
            </a:r>
            <a:r>
              <a:rPr lang="en-GB" sz="1400" dirty="0">
                <a:solidFill>
                  <a:srgbClr val="A41AE4"/>
                </a:solidFill>
              </a:rPr>
              <a:t> = 0.36</a:t>
            </a:r>
          </a:p>
          <a:p>
            <a:r>
              <a:rPr lang="en-GB" sz="1400" dirty="0">
                <a:solidFill>
                  <a:srgbClr val="A41AE4"/>
                </a:solidFill>
              </a:rPr>
              <a:t>36% of the variance in Q10 is explained by Factor 2</a:t>
            </a:r>
          </a:p>
        </p:txBody>
      </p:sp>
      <p:sp>
        <p:nvSpPr>
          <p:cNvPr id="10" name="TextBox 9">
            <a:extLst>
              <a:ext uri="{FF2B5EF4-FFF2-40B4-BE49-F238E27FC236}">
                <a16:creationId xmlns:a16="http://schemas.microsoft.com/office/drawing/2014/main" id="{38A4E531-FCB1-4FD3-8F3A-4ECE09E4C498}"/>
              </a:ext>
            </a:extLst>
          </p:cNvPr>
          <p:cNvSpPr txBox="1"/>
          <p:nvPr/>
        </p:nvSpPr>
        <p:spPr>
          <a:xfrm>
            <a:off x="7121744" y="1508921"/>
            <a:ext cx="5070255" cy="1436291"/>
          </a:xfrm>
          <a:prstGeom prst="rect">
            <a:avLst/>
          </a:prstGeom>
          <a:noFill/>
        </p:spPr>
        <p:txBody>
          <a:bodyPr wrap="square">
            <a:spAutoFit/>
          </a:bodyPr>
          <a:lstStyle/>
          <a:p>
            <a:r>
              <a:rPr lang="en-GB" dirty="0">
                <a:solidFill>
                  <a:srgbClr val="A41AE4"/>
                </a:solidFill>
              </a:rPr>
              <a:t>Loadings show the association between each item and each factor. </a:t>
            </a:r>
          </a:p>
          <a:p>
            <a:r>
              <a:rPr lang="en-GB" sz="1400" dirty="0">
                <a:solidFill>
                  <a:srgbClr val="A41AE4"/>
                </a:solidFill>
              </a:rPr>
              <a:t>With an oblique rotation, the pattern matrix shows something similar to standardised regression coefficients:</a:t>
            </a:r>
          </a:p>
          <a:p>
            <a:r>
              <a:rPr lang="en-GB" sz="1400" dirty="0" err="1">
                <a:solidFill>
                  <a:srgbClr val="A41AE4"/>
                </a:solidFill>
              </a:rPr>
              <a:t>item</a:t>
            </a:r>
            <a:r>
              <a:rPr lang="en-GB" sz="1400" baseline="-25000" dirty="0" err="1">
                <a:solidFill>
                  <a:srgbClr val="A41AE4"/>
                </a:solidFill>
              </a:rPr>
              <a:t>i</a:t>
            </a:r>
            <a:r>
              <a:rPr lang="en-GB" sz="1400" dirty="0">
                <a:solidFill>
                  <a:srgbClr val="A41AE4"/>
                </a:solidFill>
                <a:latin typeface="Helvetica Neue"/>
              </a:rPr>
              <a:t> </a:t>
            </a:r>
            <a:r>
              <a:rPr lang="en-GB" sz="1400" dirty="0">
                <a:solidFill>
                  <a:srgbClr val="A41AE4"/>
                </a:solidFill>
              </a:rPr>
              <a:t>= loading</a:t>
            </a:r>
            <a:r>
              <a:rPr lang="en-GB" sz="1400" baseline="-25000" dirty="0">
                <a:solidFill>
                  <a:srgbClr val="A41AE4"/>
                </a:solidFill>
              </a:rPr>
              <a:t>F1,i</a:t>
            </a:r>
            <a:r>
              <a:rPr lang="en-GB" sz="1400" dirty="0">
                <a:solidFill>
                  <a:srgbClr val="A41AE4"/>
                </a:solidFill>
              </a:rPr>
              <a:t>*Factor1 + loading</a:t>
            </a:r>
            <a:r>
              <a:rPr lang="en-GB" sz="1400" baseline="-25000" dirty="0">
                <a:solidFill>
                  <a:srgbClr val="A41AE4"/>
                </a:solidFill>
              </a:rPr>
              <a:t>F2,i</a:t>
            </a:r>
            <a:r>
              <a:rPr lang="en-GB" sz="1400" dirty="0">
                <a:solidFill>
                  <a:srgbClr val="A41AE4"/>
                </a:solidFill>
              </a:rPr>
              <a:t>*Factor2 + … + </a:t>
            </a:r>
            <a:r>
              <a:rPr lang="en-GB" sz="1400" dirty="0" err="1">
                <a:solidFill>
                  <a:srgbClr val="A41AE4"/>
                </a:solidFill>
              </a:rPr>
              <a:t>uniqueness</a:t>
            </a:r>
            <a:r>
              <a:rPr lang="en-GB" sz="1400" baseline="-25000" dirty="0" err="1">
                <a:solidFill>
                  <a:srgbClr val="A41AE4"/>
                </a:solidFill>
              </a:rPr>
              <a:t>i</a:t>
            </a:r>
            <a:endParaRPr lang="en-GB" sz="1400" baseline="-25000" dirty="0">
              <a:solidFill>
                <a:srgbClr val="A41AE4"/>
              </a:solidFill>
            </a:endParaRPr>
          </a:p>
          <a:p>
            <a:endParaRPr lang="en-GB" sz="1400" baseline="-25000" dirty="0">
              <a:solidFill>
                <a:srgbClr val="A41AE4"/>
              </a:solidFill>
            </a:endParaRPr>
          </a:p>
        </p:txBody>
      </p:sp>
      <p:cxnSp>
        <p:nvCxnSpPr>
          <p:cNvPr id="13" name="Straight Connector 12">
            <a:extLst>
              <a:ext uri="{FF2B5EF4-FFF2-40B4-BE49-F238E27FC236}">
                <a16:creationId xmlns:a16="http://schemas.microsoft.com/office/drawing/2014/main" id="{4EA116A4-2B28-4492-90D1-5D775E1B5E30}"/>
              </a:ext>
            </a:extLst>
          </p:cNvPr>
          <p:cNvCxnSpPr>
            <a:cxnSpLocks/>
          </p:cNvCxnSpPr>
          <p:nvPr/>
        </p:nvCxnSpPr>
        <p:spPr>
          <a:xfrm>
            <a:off x="8296275" y="1057275"/>
            <a:ext cx="2066925" cy="0"/>
          </a:xfrm>
          <a:prstGeom prst="line">
            <a:avLst/>
          </a:prstGeom>
          <a:ln w="38100">
            <a:solidFill>
              <a:srgbClr val="FF0000"/>
            </a:solidFill>
          </a:ln>
        </p:spPr>
        <p:style>
          <a:lnRef idx="1">
            <a:schemeClr val="accent2"/>
          </a:lnRef>
          <a:fillRef idx="0">
            <a:schemeClr val="accent2"/>
          </a:fillRef>
          <a:effectRef idx="0">
            <a:schemeClr val="accent2"/>
          </a:effectRef>
          <a:fontRef idx="minor">
            <a:schemeClr val="tx1"/>
          </a:fontRef>
        </p:style>
      </p:cxnSp>
      <p:grpSp>
        <p:nvGrpSpPr>
          <p:cNvPr id="15" name="Group 14">
            <a:extLst>
              <a:ext uri="{FF2B5EF4-FFF2-40B4-BE49-F238E27FC236}">
                <a16:creationId xmlns:a16="http://schemas.microsoft.com/office/drawing/2014/main" id="{0354BDAE-A5CD-4F11-9828-040C16236B48}"/>
              </a:ext>
            </a:extLst>
          </p:cNvPr>
          <p:cNvGrpSpPr/>
          <p:nvPr/>
        </p:nvGrpSpPr>
        <p:grpSpPr>
          <a:xfrm>
            <a:off x="6993392" y="4292663"/>
            <a:ext cx="4897889" cy="2434896"/>
            <a:chOff x="5511259" y="3283956"/>
            <a:chExt cx="4897889" cy="2434896"/>
          </a:xfrm>
        </p:grpSpPr>
        <p:sp>
          <p:nvSpPr>
            <p:cNvPr id="16" name="Oval 15">
              <a:extLst>
                <a:ext uri="{FF2B5EF4-FFF2-40B4-BE49-F238E27FC236}">
                  <a16:creationId xmlns:a16="http://schemas.microsoft.com/office/drawing/2014/main" id="{76E2686C-066A-4E80-91BB-208B27ED24EA}"/>
                </a:ext>
              </a:extLst>
            </p:cNvPr>
            <p:cNvSpPr/>
            <p:nvPr/>
          </p:nvSpPr>
          <p:spPr>
            <a:xfrm>
              <a:off x="6810830" y="3845833"/>
              <a:ext cx="1100667" cy="1077218"/>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400" dirty="0">
                  <a:solidFill>
                    <a:schemeClr val="tx1"/>
                  </a:solidFill>
                </a:rPr>
                <a:t>Q10               </a:t>
              </a:r>
            </a:p>
            <a:p>
              <a:pPr algn="ctr"/>
              <a:endParaRPr lang="en-GB" sz="1400" dirty="0">
                <a:solidFill>
                  <a:schemeClr val="tx1"/>
                </a:solidFill>
              </a:endParaRPr>
            </a:p>
            <a:p>
              <a:pPr algn="ctr"/>
              <a:endParaRPr lang="en-GB" sz="1400" dirty="0">
                <a:solidFill>
                  <a:schemeClr val="tx1"/>
                </a:solidFill>
              </a:endParaRPr>
            </a:p>
          </p:txBody>
        </p:sp>
        <p:sp>
          <p:nvSpPr>
            <p:cNvPr id="17" name="Oval 16">
              <a:extLst>
                <a:ext uri="{FF2B5EF4-FFF2-40B4-BE49-F238E27FC236}">
                  <a16:creationId xmlns:a16="http://schemas.microsoft.com/office/drawing/2014/main" id="{F1000354-F43C-4474-AC92-25D3084E1CC2}"/>
                </a:ext>
              </a:extLst>
            </p:cNvPr>
            <p:cNvSpPr/>
            <p:nvPr/>
          </p:nvSpPr>
          <p:spPr>
            <a:xfrm>
              <a:off x="7386226" y="4219297"/>
              <a:ext cx="1100667" cy="1077218"/>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dirty="0">
                  <a:solidFill>
                    <a:schemeClr val="tx1"/>
                  </a:solidFill>
                </a:rPr>
                <a:t>       </a:t>
              </a:r>
            </a:p>
            <a:p>
              <a:pPr algn="ctr"/>
              <a:r>
                <a:rPr lang="en-GB" sz="1400" dirty="0">
                  <a:solidFill>
                    <a:schemeClr val="tx1"/>
                  </a:solidFill>
                </a:rPr>
                <a:t>       ML2</a:t>
              </a:r>
            </a:p>
            <a:p>
              <a:pPr algn="ctr"/>
              <a:endParaRPr lang="en-GB" sz="1400" dirty="0">
                <a:solidFill>
                  <a:schemeClr val="tx1"/>
                </a:solidFill>
              </a:endParaRPr>
            </a:p>
            <a:p>
              <a:pPr algn="ctr"/>
              <a:endParaRPr lang="en-GB" sz="1400" dirty="0">
                <a:solidFill>
                  <a:schemeClr val="tx1"/>
                </a:solidFill>
              </a:endParaRPr>
            </a:p>
            <a:p>
              <a:pPr algn="ctr"/>
              <a:endParaRPr lang="en-GB" sz="1400" dirty="0">
                <a:solidFill>
                  <a:schemeClr val="tx1"/>
                </a:solidFill>
              </a:endParaRPr>
            </a:p>
          </p:txBody>
        </p:sp>
        <p:sp>
          <p:nvSpPr>
            <p:cNvPr id="18" name="Oval 17">
              <a:extLst>
                <a:ext uri="{FF2B5EF4-FFF2-40B4-BE49-F238E27FC236}">
                  <a16:creationId xmlns:a16="http://schemas.microsoft.com/office/drawing/2014/main" id="{E7999FD8-209A-4AE2-A0F9-CF759F73B79B}"/>
                </a:ext>
              </a:extLst>
            </p:cNvPr>
            <p:cNvSpPr/>
            <p:nvPr/>
          </p:nvSpPr>
          <p:spPr>
            <a:xfrm>
              <a:off x="7273286" y="4633705"/>
              <a:ext cx="1100667" cy="1077218"/>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400" dirty="0">
                <a:solidFill>
                  <a:schemeClr val="tx1"/>
                </a:solidFill>
              </a:endParaRPr>
            </a:p>
            <a:p>
              <a:pPr algn="ctr"/>
              <a:endParaRPr lang="en-GB" sz="1400" dirty="0">
                <a:solidFill>
                  <a:schemeClr val="tx1"/>
                </a:solidFill>
              </a:endParaRPr>
            </a:p>
            <a:p>
              <a:pPr algn="ctr"/>
              <a:endParaRPr lang="en-GB" sz="1400" dirty="0">
                <a:solidFill>
                  <a:schemeClr val="tx1"/>
                </a:solidFill>
              </a:endParaRPr>
            </a:p>
            <a:p>
              <a:pPr algn="ctr"/>
              <a:r>
                <a:rPr lang="en-GB" sz="1400" dirty="0">
                  <a:solidFill>
                    <a:schemeClr val="tx1"/>
                  </a:solidFill>
                </a:rPr>
                <a:t>ML1</a:t>
              </a:r>
            </a:p>
          </p:txBody>
        </p:sp>
        <p:sp>
          <p:nvSpPr>
            <p:cNvPr id="20" name="TextBox 19">
              <a:extLst>
                <a:ext uri="{FF2B5EF4-FFF2-40B4-BE49-F238E27FC236}">
                  <a16:creationId xmlns:a16="http://schemas.microsoft.com/office/drawing/2014/main" id="{3E92A4EB-AD9F-4267-A16E-94E82451856B}"/>
                </a:ext>
              </a:extLst>
            </p:cNvPr>
            <p:cNvSpPr txBox="1"/>
            <p:nvPr/>
          </p:nvSpPr>
          <p:spPr>
            <a:xfrm>
              <a:off x="8331618" y="5072521"/>
              <a:ext cx="2077530" cy="646331"/>
            </a:xfrm>
            <a:prstGeom prst="rect">
              <a:avLst/>
            </a:prstGeom>
            <a:noFill/>
          </p:spPr>
          <p:txBody>
            <a:bodyPr wrap="square" rtlCol="0">
              <a:spAutoFit/>
            </a:bodyPr>
            <a:lstStyle/>
            <a:p>
              <a:r>
                <a:rPr lang="en-GB" sz="1200" dirty="0"/>
                <a:t>oblique rotation</a:t>
              </a:r>
            </a:p>
            <a:p>
              <a:r>
                <a:rPr lang="en-GB" sz="1200" dirty="0"/>
                <a:t>means that ML1 and ML2 are correlated (overlap)</a:t>
              </a:r>
            </a:p>
          </p:txBody>
        </p:sp>
        <p:cxnSp>
          <p:nvCxnSpPr>
            <p:cNvPr id="22" name="Straight Arrow Connector 21">
              <a:extLst>
                <a:ext uri="{FF2B5EF4-FFF2-40B4-BE49-F238E27FC236}">
                  <a16:creationId xmlns:a16="http://schemas.microsoft.com/office/drawing/2014/main" id="{A46ACA3C-3292-4663-AB0A-6EE8E3992798}"/>
                </a:ext>
              </a:extLst>
            </p:cNvPr>
            <p:cNvCxnSpPr>
              <a:cxnSpLocks/>
            </p:cNvCxnSpPr>
            <p:nvPr/>
          </p:nvCxnSpPr>
          <p:spPr>
            <a:xfrm flipH="1">
              <a:off x="7705725" y="3671414"/>
              <a:ext cx="227748" cy="752237"/>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10283DB4-D201-4FD8-9270-1892B113A965}"/>
                </a:ext>
              </a:extLst>
            </p:cNvPr>
            <p:cNvSpPr txBox="1"/>
            <p:nvPr/>
          </p:nvSpPr>
          <p:spPr>
            <a:xfrm>
              <a:off x="7888250" y="3283956"/>
              <a:ext cx="1371601" cy="461665"/>
            </a:xfrm>
            <a:prstGeom prst="rect">
              <a:avLst/>
            </a:prstGeom>
            <a:noFill/>
            <a:ln>
              <a:noFill/>
            </a:ln>
          </p:spPr>
          <p:txBody>
            <a:bodyPr wrap="square" rtlCol="0">
              <a:spAutoFit/>
            </a:bodyPr>
            <a:lstStyle/>
            <a:p>
              <a:r>
                <a:rPr lang="en-GB" sz="1200" dirty="0">
                  <a:solidFill>
                    <a:schemeClr val="accent6"/>
                  </a:solidFill>
                </a:rPr>
                <a:t>Variance in Q10 explained by ML2</a:t>
              </a:r>
            </a:p>
          </p:txBody>
        </p:sp>
        <p:cxnSp>
          <p:nvCxnSpPr>
            <p:cNvPr id="26" name="Straight Arrow Connector 25">
              <a:extLst>
                <a:ext uri="{FF2B5EF4-FFF2-40B4-BE49-F238E27FC236}">
                  <a16:creationId xmlns:a16="http://schemas.microsoft.com/office/drawing/2014/main" id="{E3781CEF-26F8-44DA-B38C-38CAB16D92E5}"/>
                </a:ext>
              </a:extLst>
            </p:cNvPr>
            <p:cNvCxnSpPr>
              <a:cxnSpLocks/>
            </p:cNvCxnSpPr>
            <p:nvPr/>
          </p:nvCxnSpPr>
          <p:spPr>
            <a:xfrm flipV="1">
              <a:off x="6649332" y="4883877"/>
              <a:ext cx="736894" cy="308496"/>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3F4DD1CD-61A2-4684-9C5F-6BD70BC0C9CA}"/>
                </a:ext>
              </a:extLst>
            </p:cNvPr>
            <p:cNvSpPr txBox="1"/>
            <p:nvPr/>
          </p:nvSpPr>
          <p:spPr>
            <a:xfrm>
              <a:off x="5511259" y="4976186"/>
              <a:ext cx="1277596" cy="461665"/>
            </a:xfrm>
            <a:prstGeom prst="rect">
              <a:avLst/>
            </a:prstGeom>
            <a:noFill/>
          </p:spPr>
          <p:txBody>
            <a:bodyPr wrap="square" rtlCol="0">
              <a:spAutoFit/>
            </a:bodyPr>
            <a:lstStyle/>
            <a:p>
              <a:r>
                <a:rPr lang="en-GB" sz="1200" dirty="0">
                  <a:solidFill>
                    <a:schemeClr val="accent6"/>
                  </a:solidFill>
                </a:rPr>
                <a:t>Variance in Q10 explained by ML1</a:t>
              </a:r>
            </a:p>
          </p:txBody>
        </p:sp>
      </p:grpSp>
      <p:pic>
        <p:nvPicPr>
          <p:cNvPr id="28" name="Picture 27">
            <a:extLst>
              <a:ext uri="{FF2B5EF4-FFF2-40B4-BE49-F238E27FC236}">
                <a16:creationId xmlns:a16="http://schemas.microsoft.com/office/drawing/2014/main" id="{9970F187-5A7A-44B5-9C8B-220B7A6F5BB2}"/>
              </a:ext>
            </a:extLst>
          </p:cNvPr>
          <p:cNvPicPr>
            <a:picLocks noChangeAspect="1"/>
          </p:cNvPicPr>
          <p:nvPr/>
        </p:nvPicPr>
        <p:blipFill>
          <a:blip r:embed="rId3"/>
          <a:stretch>
            <a:fillRect/>
          </a:stretch>
        </p:blipFill>
        <p:spPr>
          <a:xfrm>
            <a:off x="3299865" y="6543324"/>
            <a:ext cx="485843" cy="257211"/>
          </a:xfrm>
          <a:prstGeom prst="rect">
            <a:avLst/>
          </a:prstGeom>
        </p:spPr>
      </p:pic>
      <p:grpSp>
        <p:nvGrpSpPr>
          <p:cNvPr id="8" name="Group 7">
            <a:extLst>
              <a:ext uri="{FF2B5EF4-FFF2-40B4-BE49-F238E27FC236}">
                <a16:creationId xmlns:a16="http://schemas.microsoft.com/office/drawing/2014/main" id="{341C2EA1-CDE7-4AAC-8129-802BD7D4DF42}"/>
              </a:ext>
            </a:extLst>
          </p:cNvPr>
          <p:cNvGrpSpPr/>
          <p:nvPr/>
        </p:nvGrpSpPr>
        <p:grpSpPr>
          <a:xfrm>
            <a:off x="3802178" y="1563897"/>
            <a:ext cx="1268079" cy="2237224"/>
            <a:chOff x="3802178" y="1563897"/>
            <a:chExt cx="1268079" cy="2237224"/>
          </a:xfrm>
        </p:grpSpPr>
        <p:sp>
          <p:nvSpPr>
            <p:cNvPr id="7" name="Rectangle 6">
              <a:extLst>
                <a:ext uri="{FF2B5EF4-FFF2-40B4-BE49-F238E27FC236}">
                  <a16:creationId xmlns:a16="http://schemas.microsoft.com/office/drawing/2014/main" id="{D1CF2316-E7BD-4898-8341-5E3D935BC910}"/>
                </a:ext>
              </a:extLst>
            </p:cNvPr>
            <p:cNvSpPr/>
            <p:nvPr/>
          </p:nvSpPr>
          <p:spPr>
            <a:xfrm>
              <a:off x="3860800" y="3370997"/>
              <a:ext cx="560636" cy="430124"/>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Rectangle 28">
              <a:extLst>
                <a:ext uri="{FF2B5EF4-FFF2-40B4-BE49-F238E27FC236}">
                  <a16:creationId xmlns:a16="http://schemas.microsoft.com/office/drawing/2014/main" id="{D85449DD-638C-4BE6-B733-32369B830BA8}"/>
                </a:ext>
              </a:extLst>
            </p:cNvPr>
            <p:cNvSpPr/>
            <p:nvPr/>
          </p:nvSpPr>
          <p:spPr>
            <a:xfrm>
              <a:off x="3802178" y="2887150"/>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Rectangle 29">
              <a:extLst>
                <a:ext uri="{FF2B5EF4-FFF2-40B4-BE49-F238E27FC236}">
                  <a16:creationId xmlns:a16="http://schemas.microsoft.com/office/drawing/2014/main" id="{3F0C8E04-86EF-4D5C-A988-5A9A3AAA95B2}"/>
                </a:ext>
              </a:extLst>
            </p:cNvPr>
            <p:cNvSpPr/>
            <p:nvPr/>
          </p:nvSpPr>
          <p:spPr>
            <a:xfrm>
              <a:off x="4450999" y="2669434"/>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Rectangle 30">
              <a:extLst>
                <a:ext uri="{FF2B5EF4-FFF2-40B4-BE49-F238E27FC236}">
                  <a16:creationId xmlns:a16="http://schemas.microsoft.com/office/drawing/2014/main" id="{C6FF974E-3E17-4A13-886F-1470F0627B37}"/>
                </a:ext>
              </a:extLst>
            </p:cNvPr>
            <p:cNvSpPr/>
            <p:nvPr/>
          </p:nvSpPr>
          <p:spPr>
            <a:xfrm>
              <a:off x="4426734" y="3137245"/>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Rectangle 31">
              <a:extLst>
                <a:ext uri="{FF2B5EF4-FFF2-40B4-BE49-F238E27FC236}">
                  <a16:creationId xmlns:a16="http://schemas.microsoft.com/office/drawing/2014/main" id="{A4A0312D-C8C3-4FF3-BB28-E3DCF7EFC45F}"/>
                </a:ext>
              </a:extLst>
            </p:cNvPr>
            <p:cNvSpPr/>
            <p:nvPr/>
          </p:nvSpPr>
          <p:spPr>
            <a:xfrm>
              <a:off x="4426734" y="2435682"/>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Rectangle 32">
              <a:extLst>
                <a:ext uri="{FF2B5EF4-FFF2-40B4-BE49-F238E27FC236}">
                  <a16:creationId xmlns:a16="http://schemas.microsoft.com/office/drawing/2014/main" id="{26DEFA3F-F8A2-4A99-B56F-54CBD2E9242A}"/>
                </a:ext>
              </a:extLst>
            </p:cNvPr>
            <p:cNvSpPr/>
            <p:nvPr/>
          </p:nvSpPr>
          <p:spPr>
            <a:xfrm>
              <a:off x="3848550" y="2217813"/>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ectangle 33">
              <a:extLst>
                <a:ext uri="{FF2B5EF4-FFF2-40B4-BE49-F238E27FC236}">
                  <a16:creationId xmlns:a16="http://schemas.microsoft.com/office/drawing/2014/main" id="{0189923C-AB0D-40DE-84C2-1DE1E1016823}"/>
                </a:ext>
              </a:extLst>
            </p:cNvPr>
            <p:cNvSpPr/>
            <p:nvPr/>
          </p:nvSpPr>
          <p:spPr>
            <a:xfrm>
              <a:off x="4432097" y="2009350"/>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Rectangle 34">
              <a:extLst>
                <a:ext uri="{FF2B5EF4-FFF2-40B4-BE49-F238E27FC236}">
                  <a16:creationId xmlns:a16="http://schemas.microsoft.com/office/drawing/2014/main" id="{EEC1A9E4-7F8D-41F6-8A23-63BC6A726910}"/>
                </a:ext>
              </a:extLst>
            </p:cNvPr>
            <p:cNvSpPr/>
            <p:nvPr/>
          </p:nvSpPr>
          <p:spPr>
            <a:xfrm>
              <a:off x="3844581" y="1774363"/>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Rectangle 35">
              <a:extLst>
                <a:ext uri="{FF2B5EF4-FFF2-40B4-BE49-F238E27FC236}">
                  <a16:creationId xmlns:a16="http://schemas.microsoft.com/office/drawing/2014/main" id="{68967D0A-E8CA-4429-B21E-0A313909E292}"/>
                </a:ext>
              </a:extLst>
            </p:cNvPr>
            <p:cNvSpPr/>
            <p:nvPr/>
          </p:nvSpPr>
          <p:spPr>
            <a:xfrm>
              <a:off x="3802178" y="1563897"/>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31513011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02B9EF90-F348-4C67-8F54-FA122021CEA6}"/>
              </a:ext>
            </a:extLst>
          </p:cNvPr>
          <p:cNvSpPr txBox="1"/>
          <p:nvPr/>
        </p:nvSpPr>
        <p:spPr>
          <a:xfrm>
            <a:off x="75499" y="-25167"/>
            <a:ext cx="8010168" cy="461665"/>
          </a:xfrm>
          <a:prstGeom prst="rect">
            <a:avLst/>
          </a:prstGeom>
          <a:noFill/>
        </p:spPr>
        <p:txBody>
          <a:bodyPr wrap="square" rtlCol="0">
            <a:spAutoFit/>
          </a:bodyPr>
          <a:lstStyle/>
          <a:p>
            <a:r>
              <a:rPr lang="en-GB" sz="2400" u="sng" dirty="0">
                <a:solidFill>
                  <a:srgbClr val="A41AE4"/>
                </a:solidFill>
              </a:rPr>
              <a:t>RABBIT HOLE: STRUCTURE MATRIX vs PATTERN MATRIX</a:t>
            </a:r>
          </a:p>
        </p:txBody>
      </p:sp>
      <p:grpSp>
        <p:nvGrpSpPr>
          <p:cNvPr id="15" name="Group 14">
            <a:extLst>
              <a:ext uri="{FF2B5EF4-FFF2-40B4-BE49-F238E27FC236}">
                <a16:creationId xmlns:a16="http://schemas.microsoft.com/office/drawing/2014/main" id="{0354BDAE-A5CD-4F11-9828-040C16236B48}"/>
              </a:ext>
            </a:extLst>
          </p:cNvPr>
          <p:cNvGrpSpPr/>
          <p:nvPr/>
        </p:nvGrpSpPr>
        <p:grpSpPr>
          <a:xfrm>
            <a:off x="1787388" y="4300595"/>
            <a:ext cx="1676063" cy="1924358"/>
            <a:chOff x="6810830" y="3845833"/>
            <a:chExt cx="1676063" cy="1924358"/>
          </a:xfrm>
        </p:grpSpPr>
        <p:sp>
          <p:nvSpPr>
            <p:cNvPr id="16" name="Oval 15">
              <a:extLst>
                <a:ext uri="{FF2B5EF4-FFF2-40B4-BE49-F238E27FC236}">
                  <a16:creationId xmlns:a16="http://schemas.microsoft.com/office/drawing/2014/main" id="{76E2686C-066A-4E80-91BB-208B27ED24EA}"/>
                </a:ext>
              </a:extLst>
            </p:cNvPr>
            <p:cNvSpPr/>
            <p:nvPr/>
          </p:nvSpPr>
          <p:spPr>
            <a:xfrm>
              <a:off x="6810830" y="3845833"/>
              <a:ext cx="1100667" cy="1077218"/>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400" dirty="0">
                  <a:solidFill>
                    <a:schemeClr val="tx1"/>
                  </a:solidFill>
                </a:rPr>
                <a:t>Q10               </a:t>
              </a:r>
            </a:p>
            <a:p>
              <a:pPr algn="ctr"/>
              <a:endParaRPr lang="en-GB" sz="1400" dirty="0">
                <a:solidFill>
                  <a:schemeClr val="tx1"/>
                </a:solidFill>
              </a:endParaRPr>
            </a:p>
            <a:p>
              <a:pPr algn="ctr"/>
              <a:endParaRPr lang="en-GB" sz="1400" dirty="0">
                <a:solidFill>
                  <a:schemeClr val="tx1"/>
                </a:solidFill>
              </a:endParaRPr>
            </a:p>
          </p:txBody>
        </p:sp>
        <p:sp>
          <p:nvSpPr>
            <p:cNvPr id="17" name="Oval 16">
              <a:extLst>
                <a:ext uri="{FF2B5EF4-FFF2-40B4-BE49-F238E27FC236}">
                  <a16:creationId xmlns:a16="http://schemas.microsoft.com/office/drawing/2014/main" id="{F1000354-F43C-4474-AC92-25D3084E1CC2}"/>
                </a:ext>
              </a:extLst>
            </p:cNvPr>
            <p:cNvSpPr/>
            <p:nvPr/>
          </p:nvSpPr>
          <p:spPr>
            <a:xfrm>
              <a:off x="7386226" y="4219297"/>
              <a:ext cx="1100667" cy="1077218"/>
            </a:xfrm>
            <a:prstGeom prst="ellipse">
              <a:avLst/>
            </a:prstGeom>
            <a:noFill/>
            <a:ln>
              <a:solidFill>
                <a:schemeClr val="bg2">
                  <a:lumMod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dirty="0">
                  <a:solidFill>
                    <a:schemeClr val="tx1"/>
                  </a:solidFill>
                </a:rPr>
                <a:t>       </a:t>
              </a:r>
            </a:p>
            <a:p>
              <a:pPr algn="ctr"/>
              <a:r>
                <a:rPr lang="en-GB" sz="1400" dirty="0">
                  <a:solidFill>
                    <a:schemeClr val="bg2">
                      <a:lumMod val="75000"/>
                    </a:schemeClr>
                  </a:solidFill>
                </a:rPr>
                <a:t>       ML2</a:t>
              </a:r>
            </a:p>
            <a:p>
              <a:pPr algn="ctr"/>
              <a:endParaRPr lang="en-GB" sz="1400" dirty="0">
                <a:solidFill>
                  <a:schemeClr val="tx1"/>
                </a:solidFill>
              </a:endParaRPr>
            </a:p>
            <a:p>
              <a:pPr algn="ctr"/>
              <a:endParaRPr lang="en-GB" sz="1400" dirty="0">
                <a:solidFill>
                  <a:schemeClr val="tx1"/>
                </a:solidFill>
              </a:endParaRPr>
            </a:p>
            <a:p>
              <a:pPr algn="ctr"/>
              <a:endParaRPr lang="en-GB" sz="1400" dirty="0">
                <a:solidFill>
                  <a:schemeClr val="tx1"/>
                </a:solidFill>
              </a:endParaRPr>
            </a:p>
          </p:txBody>
        </p:sp>
        <p:sp>
          <p:nvSpPr>
            <p:cNvPr id="18" name="Oval 17">
              <a:extLst>
                <a:ext uri="{FF2B5EF4-FFF2-40B4-BE49-F238E27FC236}">
                  <a16:creationId xmlns:a16="http://schemas.microsoft.com/office/drawing/2014/main" id="{E7999FD8-209A-4AE2-A0F9-CF759F73B79B}"/>
                </a:ext>
              </a:extLst>
            </p:cNvPr>
            <p:cNvSpPr/>
            <p:nvPr/>
          </p:nvSpPr>
          <p:spPr>
            <a:xfrm>
              <a:off x="7230951" y="4692973"/>
              <a:ext cx="1100667" cy="1077218"/>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400" dirty="0">
                <a:solidFill>
                  <a:schemeClr val="tx1"/>
                </a:solidFill>
              </a:endParaRPr>
            </a:p>
            <a:p>
              <a:pPr algn="ctr"/>
              <a:endParaRPr lang="en-GB" sz="1400" dirty="0">
                <a:solidFill>
                  <a:schemeClr val="tx1"/>
                </a:solidFill>
              </a:endParaRPr>
            </a:p>
            <a:p>
              <a:pPr algn="ctr"/>
              <a:endParaRPr lang="en-GB" sz="1400" dirty="0">
                <a:solidFill>
                  <a:schemeClr val="tx1"/>
                </a:solidFill>
              </a:endParaRPr>
            </a:p>
            <a:p>
              <a:pPr algn="ctr"/>
              <a:r>
                <a:rPr lang="en-GB" sz="1400" dirty="0">
                  <a:solidFill>
                    <a:schemeClr val="tx1"/>
                  </a:solidFill>
                </a:rPr>
                <a:t>ML1</a:t>
              </a:r>
            </a:p>
          </p:txBody>
        </p:sp>
      </p:grpSp>
      <p:pic>
        <p:nvPicPr>
          <p:cNvPr id="4" name="Picture 3">
            <a:extLst>
              <a:ext uri="{FF2B5EF4-FFF2-40B4-BE49-F238E27FC236}">
                <a16:creationId xmlns:a16="http://schemas.microsoft.com/office/drawing/2014/main" id="{C01118E9-9649-417B-A306-9EFBC4614B6F}"/>
              </a:ext>
            </a:extLst>
          </p:cNvPr>
          <p:cNvPicPr>
            <a:picLocks noChangeAspect="1"/>
          </p:cNvPicPr>
          <p:nvPr/>
        </p:nvPicPr>
        <p:blipFill>
          <a:blip r:embed="rId2"/>
          <a:stretch>
            <a:fillRect/>
          </a:stretch>
        </p:blipFill>
        <p:spPr>
          <a:xfrm>
            <a:off x="3260551" y="423638"/>
            <a:ext cx="8478433" cy="3467584"/>
          </a:xfrm>
          <a:prstGeom prst="rect">
            <a:avLst/>
          </a:prstGeom>
        </p:spPr>
      </p:pic>
      <p:grpSp>
        <p:nvGrpSpPr>
          <p:cNvPr id="29" name="Group 28">
            <a:extLst>
              <a:ext uri="{FF2B5EF4-FFF2-40B4-BE49-F238E27FC236}">
                <a16:creationId xmlns:a16="http://schemas.microsoft.com/office/drawing/2014/main" id="{872BABA9-4332-48C8-87F8-DA14197902B1}"/>
              </a:ext>
            </a:extLst>
          </p:cNvPr>
          <p:cNvGrpSpPr/>
          <p:nvPr/>
        </p:nvGrpSpPr>
        <p:grpSpPr>
          <a:xfrm>
            <a:off x="4636932" y="4300595"/>
            <a:ext cx="1676063" cy="1924358"/>
            <a:chOff x="6810830" y="3845833"/>
            <a:chExt cx="1676063" cy="1924358"/>
          </a:xfrm>
        </p:grpSpPr>
        <p:sp>
          <p:nvSpPr>
            <p:cNvPr id="30" name="Oval 29">
              <a:extLst>
                <a:ext uri="{FF2B5EF4-FFF2-40B4-BE49-F238E27FC236}">
                  <a16:creationId xmlns:a16="http://schemas.microsoft.com/office/drawing/2014/main" id="{30B6EE96-99FE-4F30-92DD-64E27ED20ADF}"/>
                </a:ext>
              </a:extLst>
            </p:cNvPr>
            <p:cNvSpPr/>
            <p:nvPr/>
          </p:nvSpPr>
          <p:spPr>
            <a:xfrm>
              <a:off x="6810830" y="3845833"/>
              <a:ext cx="1100667" cy="1077218"/>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400" dirty="0">
                  <a:solidFill>
                    <a:schemeClr val="tx1"/>
                  </a:solidFill>
                </a:rPr>
                <a:t>Q10               </a:t>
              </a:r>
            </a:p>
            <a:p>
              <a:pPr algn="ctr"/>
              <a:endParaRPr lang="en-GB" sz="1400" dirty="0">
                <a:solidFill>
                  <a:schemeClr val="tx1"/>
                </a:solidFill>
              </a:endParaRPr>
            </a:p>
            <a:p>
              <a:pPr algn="ctr"/>
              <a:endParaRPr lang="en-GB" sz="1400" dirty="0">
                <a:solidFill>
                  <a:schemeClr val="tx1"/>
                </a:solidFill>
              </a:endParaRPr>
            </a:p>
          </p:txBody>
        </p:sp>
        <p:sp>
          <p:nvSpPr>
            <p:cNvPr id="31" name="Oval 30">
              <a:extLst>
                <a:ext uri="{FF2B5EF4-FFF2-40B4-BE49-F238E27FC236}">
                  <a16:creationId xmlns:a16="http://schemas.microsoft.com/office/drawing/2014/main" id="{261C28C7-6A8C-4269-8039-23C64C954131}"/>
                </a:ext>
              </a:extLst>
            </p:cNvPr>
            <p:cNvSpPr/>
            <p:nvPr/>
          </p:nvSpPr>
          <p:spPr>
            <a:xfrm>
              <a:off x="7386226" y="4219297"/>
              <a:ext cx="1100667" cy="1077218"/>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dirty="0">
                  <a:solidFill>
                    <a:schemeClr val="tx1"/>
                  </a:solidFill>
                </a:rPr>
                <a:t>       </a:t>
              </a:r>
            </a:p>
            <a:p>
              <a:pPr algn="ctr"/>
              <a:r>
                <a:rPr lang="en-GB" sz="1400" dirty="0">
                  <a:solidFill>
                    <a:schemeClr val="tx1"/>
                  </a:solidFill>
                </a:rPr>
                <a:t>       ML2</a:t>
              </a:r>
            </a:p>
            <a:p>
              <a:pPr algn="ctr"/>
              <a:endParaRPr lang="en-GB" sz="1400" dirty="0">
                <a:solidFill>
                  <a:schemeClr val="tx1"/>
                </a:solidFill>
              </a:endParaRPr>
            </a:p>
            <a:p>
              <a:pPr algn="ctr"/>
              <a:endParaRPr lang="en-GB" sz="1400" dirty="0">
                <a:solidFill>
                  <a:schemeClr val="tx1"/>
                </a:solidFill>
              </a:endParaRPr>
            </a:p>
            <a:p>
              <a:pPr algn="ctr"/>
              <a:endParaRPr lang="en-GB" sz="1400" dirty="0">
                <a:solidFill>
                  <a:schemeClr val="tx1"/>
                </a:solidFill>
              </a:endParaRPr>
            </a:p>
          </p:txBody>
        </p:sp>
        <p:sp>
          <p:nvSpPr>
            <p:cNvPr id="32" name="Oval 31">
              <a:extLst>
                <a:ext uri="{FF2B5EF4-FFF2-40B4-BE49-F238E27FC236}">
                  <a16:creationId xmlns:a16="http://schemas.microsoft.com/office/drawing/2014/main" id="{400007EE-CCFE-4B15-B059-846DC1E85392}"/>
                </a:ext>
              </a:extLst>
            </p:cNvPr>
            <p:cNvSpPr/>
            <p:nvPr/>
          </p:nvSpPr>
          <p:spPr>
            <a:xfrm>
              <a:off x="7230951" y="4692973"/>
              <a:ext cx="1100667" cy="1077218"/>
            </a:xfrm>
            <a:prstGeom prst="ellipse">
              <a:avLst/>
            </a:prstGeom>
            <a:noFill/>
            <a:ln>
              <a:solidFill>
                <a:schemeClr val="bg2">
                  <a:lumMod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400" dirty="0">
                <a:solidFill>
                  <a:schemeClr val="tx1"/>
                </a:solidFill>
              </a:endParaRPr>
            </a:p>
            <a:p>
              <a:pPr algn="ctr"/>
              <a:endParaRPr lang="en-GB" sz="1400" dirty="0">
                <a:solidFill>
                  <a:schemeClr val="tx1"/>
                </a:solidFill>
              </a:endParaRPr>
            </a:p>
            <a:p>
              <a:pPr algn="ctr"/>
              <a:endParaRPr lang="en-GB" sz="1400" dirty="0">
                <a:solidFill>
                  <a:schemeClr val="tx1"/>
                </a:solidFill>
              </a:endParaRPr>
            </a:p>
            <a:p>
              <a:pPr algn="ctr"/>
              <a:r>
                <a:rPr lang="en-GB" sz="1400" dirty="0">
                  <a:solidFill>
                    <a:schemeClr val="bg2">
                      <a:lumMod val="75000"/>
                    </a:schemeClr>
                  </a:solidFill>
                </a:rPr>
                <a:t>ML1</a:t>
              </a:r>
            </a:p>
          </p:txBody>
        </p:sp>
      </p:grpSp>
      <p:cxnSp>
        <p:nvCxnSpPr>
          <p:cNvPr id="7" name="Straight Arrow Connector 6">
            <a:extLst>
              <a:ext uri="{FF2B5EF4-FFF2-40B4-BE49-F238E27FC236}">
                <a16:creationId xmlns:a16="http://schemas.microsoft.com/office/drawing/2014/main" id="{B614BF2E-BBAA-46A8-BF78-EC817E3D2D33}"/>
              </a:ext>
            </a:extLst>
          </p:cNvPr>
          <p:cNvCxnSpPr>
            <a:cxnSpLocks/>
          </p:cNvCxnSpPr>
          <p:nvPr/>
        </p:nvCxnSpPr>
        <p:spPr>
          <a:xfrm flipH="1">
            <a:off x="2499852" y="3826919"/>
            <a:ext cx="1600200" cy="1483306"/>
          </a:xfrm>
          <a:prstGeom prst="straightConnector1">
            <a:avLst/>
          </a:prstGeom>
          <a:ln w="12700">
            <a:tailEnd type="triangle"/>
          </a:ln>
        </p:spPr>
        <p:style>
          <a:lnRef idx="1">
            <a:schemeClr val="accent6"/>
          </a:lnRef>
          <a:fillRef idx="0">
            <a:schemeClr val="accent6"/>
          </a:fillRef>
          <a:effectRef idx="0">
            <a:schemeClr val="accent6"/>
          </a:effectRef>
          <a:fontRef idx="minor">
            <a:schemeClr val="tx1"/>
          </a:fontRef>
        </p:style>
      </p:cxnSp>
      <p:cxnSp>
        <p:nvCxnSpPr>
          <p:cNvPr id="33" name="Straight Arrow Connector 32">
            <a:extLst>
              <a:ext uri="{FF2B5EF4-FFF2-40B4-BE49-F238E27FC236}">
                <a16:creationId xmlns:a16="http://schemas.microsoft.com/office/drawing/2014/main" id="{7FDDBA15-E3CA-42A3-8EC0-CE70142CF45B}"/>
              </a:ext>
            </a:extLst>
          </p:cNvPr>
          <p:cNvCxnSpPr>
            <a:cxnSpLocks/>
          </p:cNvCxnSpPr>
          <p:nvPr/>
        </p:nvCxnSpPr>
        <p:spPr>
          <a:xfrm>
            <a:off x="4833953" y="3826919"/>
            <a:ext cx="645073" cy="1175530"/>
          </a:xfrm>
          <a:prstGeom prst="straightConnector1">
            <a:avLst/>
          </a:prstGeom>
          <a:ln w="12700">
            <a:tailEnd type="triangle"/>
          </a:ln>
        </p:spPr>
        <p:style>
          <a:lnRef idx="1">
            <a:schemeClr val="accent6"/>
          </a:lnRef>
          <a:fillRef idx="0">
            <a:schemeClr val="accent6"/>
          </a:fillRef>
          <a:effectRef idx="0">
            <a:schemeClr val="accent6"/>
          </a:effectRef>
          <a:fontRef idx="minor">
            <a:schemeClr val="tx1"/>
          </a:fontRef>
        </p:style>
      </p:cxnSp>
      <p:sp>
        <p:nvSpPr>
          <p:cNvPr id="37" name="TextBox 36">
            <a:extLst>
              <a:ext uri="{FF2B5EF4-FFF2-40B4-BE49-F238E27FC236}">
                <a16:creationId xmlns:a16="http://schemas.microsoft.com/office/drawing/2014/main" id="{0AB66053-05F8-46DC-90F1-7AE959335435}"/>
              </a:ext>
            </a:extLst>
          </p:cNvPr>
          <p:cNvSpPr txBox="1"/>
          <p:nvPr/>
        </p:nvSpPr>
        <p:spPr>
          <a:xfrm>
            <a:off x="5607386" y="1090455"/>
            <a:ext cx="6378201" cy="3293209"/>
          </a:xfrm>
          <a:prstGeom prst="rect">
            <a:avLst/>
          </a:prstGeom>
          <a:noFill/>
        </p:spPr>
        <p:txBody>
          <a:bodyPr wrap="square" rtlCol="0">
            <a:spAutoFit/>
          </a:bodyPr>
          <a:lstStyle/>
          <a:p>
            <a:r>
              <a:rPr lang="en-GB" sz="1600" dirty="0">
                <a:solidFill>
                  <a:srgbClr val="A41AE4"/>
                </a:solidFill>
              </a:rPr>
              <a:t>When an oblique rotation is used, factors can be correlated. Therefore to get the </a:t>
            </a:r>
            <a:r>
              <a:rPr lang="en-GB" sz="1600" i="1" dirty="0">
                <a:solidFill>
                  <a:srgbClr val="A41AE4"/>
                </a:solidFill>
              </a:rPr>
              <a:t>unique </a:t>
            </a:r>
            <a:r>
              <a:rPr lang="en-GB" sz="1600" dirty="0">
                <a:solidFill>
                  <a:srgbClr val="A41AE4"/>
                </a:solidFill>
              </a:rPr>
              <a:t>association between item and factors, we use the “pattern matrix”. This is what </a:t>
            </a:r>
            <a:r>
              <a:rPr lang="en-GB" sz="1600" dirty="0">
                <a:solidFill>
                  <a:srgbClr val="A41AE4"/>
                </a:solidFill>
                <a:latin typeface="Courier New" panose="02070309020205020404" pitchFamily="49" charset="0"/>
                <a:cs typeface="Courier New" panose="02070309020205020404" pitchFamily="49" charset="0"/>
              </a:rPr>
              <a:t>fa()</a:t>
            </a:r>
            <a:r>
              <a:rPr lang="en-GB" sz="1600" dirty="0">
                <a:solidFill>
                  <a:srgbClr val="A41AE4"/>
                </a:solidFill>
              </a:rPr>
              <a:t> prints by default. </a:t>
            </a:r>
            <a:br>
              <a:rPr lang="en-GB" sz="1600" dirty="0">
                <a:solidFill>
                  <a:srgbClr val="A41AE4"/>
                </a:solidFill>
              </a:rPr>
            </a:br>
            <a:br>
              <a:rPr lang="en-GB" sz="1600" dirty="0">
                <a:solidFill>
                  <a:srgbClr val="A41AE4"/>
                </a:solidFill>
              </a:rPr>
            </a:br>
            <a:r>
              <a:rPr lang="en-GB" sz="1600" dirty="0">
                <a:solidFill>
                  <a:srgbClr val="A41AE4"/>
                </a:solidFill>
              </a:rPr>
              <a:t>The loadings in the pattern matrix are similar to regression weights from a model of </a:t>
            </a:r>
            <a:r>
              <a:rPr lang="en-GB" sz="1600" dirty="0">
                <a:solidFill>
                  <a:srgbClr val="A41AE4"/>
                </a:solidFill>
                <a:latin typeface="Courier New" panose="02070309020205020404" pitchFamily="49" charset="0"/>
                <a:cs typeface="Courier New" panose="02070309020205020404" pitchFamily="49" charset="0"/>
              </a:rPr>
              <a:t>item ~ factor1 + factor2</a:t>
            </a:r>
            <a:r>
              <a:rPr lang="en-GB" sz="1600" dirty="0">
                <a:solidFill>
                  <a:srgbClr val="A41AE4"/>
                </a:solidFill>
              </a:rPr>
              <a:t>. </a:t>
            </a:r>
          </a:p>
          <a:p>
            <a:endParaRPr lang="en-GB" sz="1600" dirty="0">
              <a:solidFill>
                <a:srgbClr val="A41AE4"/>
              </a:solidFill>
            </a:endParaRPr>
          </a:p>
          <a:p>
            <a:r>
              <a:rPr lang="en-GB" sz="1600" dirty="0">
                <a:solidFill>
                  <a:srgbClr val="A41AE4"/>
                </a:solidFill>
              </a:rPr>
              <a:t>Behind the scenes, there is also the “Structure matrix” which contains the correlations </a:t>
            </a:r>
            <a:r>
              <a:rPr lang="en-GB" sz="1600" dirty="0" err="1">
                <a:solidFill>
                  <a:srgbClr val="A41AE4"/>
                </a:solidFill>
                <a:latin typeface="Courier New" panose="02070309020205020404" pitchFamily="49" charset="0"/>
                <a:cs typeface="Courier New" panose="02070309020205020404" pitchFamily="49" charset="0"/>
              </a:rPr>
              <a:t>cor</a:t>
            </a:r>
            <a:r>
              <a:rPr lang="en-GB" sz="1600" dirty="0">
                <a:solidFill>
                  <a:srgbClr val="A41AE4"/>
                </a:solidFill>
                <a:latin typeface="Courier New" panose="02070309020205020404" pitchFamily="49" charset="0"/>
                <a:cs typeface="Courier New" panose="02070309020205020404" pitchFamily="49" charset="0"/>
              </a:rPr>
              <a:t>(item, factor1) </a:t>
            </a:r>
            <a:r>
              <a:rPr lang="en-GB" sz="1600" dirty="0">
                <a:solidFill>
                  <a:srgbClr val="A41AE4"/>
                </a:solidFill>
              </a:rPr>
              <a:t>and </a:t>
            </a:r>
            <a:r>
              <a:rPr lang="en-GB" sz="1600" dirty="0" err="1">
                <a:solidFill>
                  <a:srgbClr val="A41AE4"/>
                </a:solidFill>
                <a:latin typeface="Courier New" panose="02070309020205020404" pitchFamily="49" charset="0"/>
                <a:cs typeface="Courier New" panose="02070309020205020404" pitchFamily="49" charset="0"/>
              </a:rPr>
              <a:t>cor</a:t>
            </a:r>
            <a:r>
              <a:rPr lang="en-GB" sz="1600" dirty="0">
                <a:solidFill>
                  <a:srgbClr val="A41AE4"/>
                </a:solidFill>
                <a:latin typeface="Courier New" panose="02070309020205020404" pitchFamily="49" charset="0"/>
                <a:cs typeface="Courier New" panose="02070309020205020404" pitchFamily="49" charset="0"/>
              </a:rPr>
              <a:t>(item, factor2)</a:t>
            </a:r>
            <a:r>
              <a:rPr lang="en-GB" sz="1600" dirty="0">
                <a:solidFill>
                  <a:srgbClr val="A41AE4"/>
                </a:solidFill>
              </a:rPr>
              <a:t>. </a:t>
            </a:r>
          </a:p>
          <a:p>
            <a:endParaRPr lang="en-GB" sz="1600" dirty="0">
              <a:solidFill>
                <a:srgbClr val="A41AE4"/>
              </a:solidFill>
            </a:endParaRPr>
          </a:p>
          <a:p>
            <a:r>
              <a:rPr lang="en-GB" sz="1600" dirty="0">
                <a:solidFill>
                  <a:srgbClr val="A41AE4"/>
                </a:solidFill>
              </a:rPr>
              <a:t>If the factors are </a:t>
            </a:r>
            <a:r>
              <a:rPr lang="en-GB" sz="1600" b="1" dirty="0">
                <a:solidFill>
                  <a:srgbClr val="A41AE4"/>
                </a:solidFill>
              </a:rPr>
              <a:t>not</a:t>
            </a:r>
            <a:r>
              <a:rPr lang="en-GB" sz="1600" dirty="0">
                <a:solidFill>
                  <a:srgbClr val="A41AE4"/>
                </a:solidFill>
              </a:rPr>
              <a:t> correlated (by definition they are uncorrelated when no rotation or an orthogonal rotation is used), then pattern matrix and structure matrix are identical. </a:t>
            </a:r>
          </a:p>
        </p:txBody>
      </p:sp>
    </p:spTree>
    <p:extLst>
      <p:ext uri="{BB962C8B-B14F-4D97-AF65-F5344CB8AC3E}">
        <p14:creationId xmlns:p14="http://schemas.microsoft.com/office/powerpoint/2010/main" val="7587120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1C8C94CF-7DC4-4322-AEB2-964A1AC2E220}"/>
              </a:ext>
            </a:extLst>
          </p:cNvPr>
          <p:cNvPicPr>
            <a:picLocks noChangeAspect="1"/>
          </p:cNvPicPr>
          <p:nvPr/>
        </p:nvPicPr>
        <p:blipFill>
          <a:blip r:embed="rId2"/>
          <a:stretch>
            <a:fillRect/>
          </a:stretch>
        </p:blipFill>
        <p:spPr>
          <a:xfrm>
            <a:off x="3299793" y="632993"/>
            <a:ext cx="8869013" cy="6011114"/>
          </a:xfrm>
          <a:prstGeom prst="rect">
            <a:avLst/>
          </a:prstGeom>
        </p:spPr>
      </p:pic>
      <p:sp>
        <p:nvSpPr>
          <p:cNvPr id="11" name="TextBox 10">
            <a:extLst>
              <a:ext uri="{FF2B5EF4-FFF2-40B4-BE49-F238E27FC236}">
                <a16:creationId xmlns:a16="http://schemas.microsoft.com/office/drawing/2014/main" id="{493E50EB-A39A-4313-86FF-0F97860C9441}"/>
              </a:ext>
            </a:extLst>
          </p:cNvPr>
          <p:cNvSpPr txBox="1"/>
          <p:nvPr/>
        </p:nvSpPr>
        <p:spPr>
          <a:xfrm>
            <a:off x="7342455" y="1671975"/>
            <a:ext cx="4281898" cy="2246769"/>
          </a:xfrm>
          <a:prstGeom prst="rect">
            <a:avLst/>
          </a:prstGeom>
          <a:noFill/>
        </p:spPr>
        <p:txBody>
          <a:bodyPr wrap="square" rtlCol="0">
            <a:spAutoFit/>
          </a:bodyPr>
          <a:lstStyle/>
          <a:p>
            <a:r>
              <a:rPr lang="en-GB" dirty="0">
                <a:solidFill>
                  <a:srgbClr val="A41AE4"/>
                </a:solidFill>
              </a:rPr>
              <a:t>communalities give us the proportion of variance in an item that is explained by all the factors.</a:t>
            </a:r>
            <a:br>
              <a:rPr lang="en-GB" dirty="0">
                <a:solidFill>
                  <a:srgbClr val="A41AE4"/>
                </a:solidFill>
              </a:rPr>
            </a:br>
            <a:br>
              <a:rPr lang="en-GB" dirty="0">
                <a:solidFill>
                  <a:srgbClr val="A41AE4"/>
                </a:solidFill>
              </a:rPr>
            </a:br>
            <a:r>
              <a:rPr lang="en-GB" sz="1600" dirty="0">
                <a:solidFill>
                  <a:srgbClr val="A41AE4"/>
                </a:solidFill>
              </a:rPr>
              <a:t>e.g., 36% of the variance in Q10 is explained by the two factors</a:t>
            </a:r>
          </a:p>
          <a:p>
            <a:endParaRPr lang="en-GB" dirty="0">
              <a:solidFill>
                <a:srgbClr val="A41AE4"/>
              </a:solidFill>
            </a:endParaRPr>
          </a:p>
          <a:p>
            <a:endParaRPr lang="en-GB" dirty="0">
              <a:solidFill>
                <a:srgbClr val="A41AE4"/>
              </a:solidFill>
            </a:endParaRPr>
          </a:p>
        </p:txBody>
      </p:sp>
      <p:sp>
        <p:nvSpPr>
          <p:cNvPr id="2" name="Rectangle 1">
            <a:extLst>
              <a:ext uri="{FF2B5EF4-FFF2-40B4-BE49-F238E27FC236}">
                <a16:creationId xmlns:a16="http://schemas.microsoft.com/office/drawing/2014/main" id="{973AA02F-BB14-4BEB-A454-A7473E202E72}"/>
              </a:ext>
            </a:extLst>
          </p:cNvPr>
          <p:cNvSpPr/>
          <p:nvPr/>
        </p:nvSpPr>
        <p:spPr>
          <a:xfrm>
            <a:off x="5095875" y="1536701"/>
            <a:ext cx="584200" cy="2301874"/>
          </a:xfrm>
          <a:prstGeom prst="rect">
            <a:avLst/>
          </a:prstGeom>
          <a:noFill/>
          <a:ln>
            <a:solidFill>
              <a:srgbClr val="A41A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5" name="Picture 4">
            <a:extLst>
              <a:ext uri="{FF2B5EF4-FFF2-40B4-BE49-F238E27FC236}">
                <a16:creationId xmlns:a16="http://schemas.microsoft.com/office/drawing/2014/main" id="{55E84974-7B99-44B6-95DB-0AE9672C2C10}"/>
              </a:ext>
            </a:extLst>
          </p:cNvPr>
          <p:cNvPicPr>
            <a:picLocks noChangeAspect="1"/>
          </p:cNvPicPr>
          <p:nvPr/>
        </p:nvPicPr>
        <p:blipFill>
          <a:blip r:embed="rId3"/>
          <a:stretch>
            <a:fillRect/>
          </a:stretch>
        </p:blipFill>
        <p:spPr>
          <a:xfrm>
            <a:off x="3290340" y="6543324"/>
            <a:ext cx="485843" cy="257211"/>
          </a:xfrm>
          <a:prstGeom prst="rect">
            <a:avLst/>
          </a:prstGeom>
        </p:spPr>
      </p:pic>
      <p:sp>
        <p:nvSpPr>
          <p:cNvPr id="7" name="TextBox 6">
            <a:extLst>
              <a:ext uri="{FF2B5EF4-FFF2-40B4-BE49-F238E27FC236}">
                <a16:creationId xmlns:a16="http://schemas.microsoft.com/office/drawing/2014/main" id="{00BCC5D6-B545-47FA-A82A-A3583E5DFB59}"/>
              </a:ext>
            </a:extLst>
          </p:cNvPr>
          <p:cNvSpPr txBox="1"/>
          <p:nvPr/>
        </p:nvSpPr>
        <p:spPr>
          <a:xfrm>
            <a:off x="75499" y="-25167"/>
            <a:ext cx="5893501" cy="461665"/>
          </a:xfrm>
          <a:prstGeom prst="rect">
            <a:avLst/>
          </a:prstGeom>
          <a:noFill/>
        </p:spPr>
        <p:txBody>
          <a:bodyPr wrap="square" rtlCol="0">
            <a:spAutoFit/>
          </a:bodyPr>
          <a:lstStyle/>
          <a:p>
            <a:r>
              <a:rPr lang="en-GB" sz="2400" u="sng" dirty="0">
                <a:solidFill>
                  <a:srgbClr val="A41AE4"/>
                </a:solidFill>
              </a:rPr>
              <a:t>COMMUNALITIES</a:t>
            </a:r>
          </a:p>
        </p:txBody>
      </p:sp>
      <p:sp>
        <p:nvSpPr>
          <p:cNvPr id="10" name="TextBox 9">
            <a:extLst>
              <a:ext uri="{FF2B5EF4-FFF2-40B4-BE49-F238E27FC236}">
                <a16:creationId xmlns:a16="http://schemas.microsoft.com/office/drawing/2014/main" id="{CA693DA6-75BD-465E-81C2-3E5FF56F222B}"/>
              </a:ext>
            </a:extLst>
          </p:cNvPr>
          <p:cNvSpPr txBox="1"/>
          <p:nvPr/>
        </p:nvSpPr>
        <p:spPr>
          <a:xfrm>
            <a:off x="6577013" y="6087070"/>
            <a:ext cx="5614987" cy="738664"/>
          </a:xfrm>
          <a:prstGeom prst="rect">
            <a:avLst/>
          </a:prstGeom>
          <a:noFill/>
        </p:spPr>
        <p:txBody>
          <a:bodyPr wrap="square">
            <a:spAutoFit/>
          </a:bodyPr>
          <a:lstStyle/>
          <a:p>
            <a:pPr algn="r"/>
            <a:r>
              <a:rPr lang="en-GB" sz="1400" dirty="0">
                <a:solidFill>
                  <a:srgbClr val="A41AE4"/>
                </a:solidFill>
              </a:rPr>
              <a:t>If no rotation or an orthogonal rotation is used, then we can get these numbers by taking the all the loadings for a given item, squaring them, and adding them up. </a:t>
            </a:r>
          </a:p>
        </p:txBody>
      </p:sp>
      <p:grpSp>
        <p:nvGrpSpPr>
          <p:cNvPr id="13" name="Group 12">
            <a:extLst>
              <a:ext uri="{FF2B5EF4-FFF2-40B4-BE49-F238E27FC236}">
                <a16:creationId xmlns:a16="http://schemas.microsoft.com/office/drawing/2014/main" id="{DF20B865-7DB7-4D59-9A58-9EC2F6ABB830}"/>
              </a:ext>
            </a:extLst>
          </p:cNvPr>
          <p:cNvGrpSpPr/>
          <p:nvPr/>
        </p:nvGrpSpPr>
        <p:grpSpPr>
          <a:xfrm>
            <a:off x="3802178" y="1563897"/>
            <a:ext cx="1268079" cy="2237224"/>
            <a:chOff x="3802178" y="1563897"/>
            <a:chExt cx="1268079" cy="2237224"/>
          </a:xfrm>
        </p:grpSpPr>
        <p:sp>
          <p:nvSpPr>
            <p:cNvPr id="14" name="Rectangle 13">
              <a:extLst>
                <a:ext uri="{FF2B5EF4-FFF2-40B4-BE49-F238E27FC236}">
                  <a16:creationId xmlns:a16="http://schemas.microsoft.com/office/drawing/2014/main" id="{04E15550-888B-44A3-BF53-42ED8FB4A0FB}"/>
                </a:ext>
              </a:extLst>
            </p:cNvPr>
            <p:cNvSpPr/>
            <p:nvPr/>
          </p:nvSpPr>
          <p:spPr>
            <a:xfrm>
              <a:off x="3860800" y="3370997"/>
              <a:ext cx="560636" cy="430124"/>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a:extLst>
                <a:ext uri="{FF2B5EF4-FFF2-40B4-BE49-F238E27FC236}">
                  <a16:creationId xmlns:a16="http://schemas.microsoft.com/office/drawing/2014/main" id="{CA7CCEEE-4300-4A9C-A5EC-7755B320AA10}"/>
                </a:ext>
              </a:extLst>
            </p:cNvPr>
            <p:cNvSpPr/>
            <p:nvPr/>
          </p:nvSpPr>
          <p:spPr>
            <a:xfrm>
              <a:off x="3802178" y="2887150"/>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a:extLst>
                <a:ext uri="{FF2B5EF4-FFF2-40B4-BE49-F238E27FC236}">
                  <a16:creationId xmlns:a16="http://schemas.microsoft.com/office/drawing/2014/main" id="{779EF872-682E-41F0-AE68-6DF47D312A7B}"/>
                </a:ext>
              </a:extLst>
            </p:cNvPr>
            <p:cNvSpPr/>
            <p:nvPr/>
          </p:nvSpPr>
          <p:spPr>
            <a:xfrm>
              <a:off x="4450999" y="2669434"/>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Rectangle 16">
              <a:extLst>
                <a:ext uri="{FF2B5EF4-FFF2-40B4-BE49-F238E27FC236}">
                  <a16:creationId xmlns:a16="http://schemas.microsoft.com/office/drawing/2014/main" id="{CCA73B30-19D2-478E-8849-927D0BD4A667}"/>
                </a:ext>
              </a:extLst>
            </p:cNvPr>
            <p:cNvSpPr/>
            <p:nvPr/>
          </p:nvSpPr>
          <p:spPr>
            <a:xfrm>
              <a:off x="4426734" y="3137245"/>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ectangle 17">
              <a:extLst>
                <a:ext uri="{FF2B5EF4-FFF2-40B4-BE49-F238E27FC236}">
                  <a16:creationId xmlns:a16="http://schemas.microsoft.com/office/drawing/2014/main" id="{A546E341-07A8-474F-87D6-ADAFE047D08C}"/>
                </a:ext>
              </a:extLst>
            </p:cNvPr>
            <p:cNvSpPr/>
            <p:nvPr/>
          </p:nvSpPr>
          <p:spPr>
            <a:xfrm>
              <a:off x="4426734" y="2435682"/>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Rectangle 18">
              <a:extLst>
                <a:ext uri="{FF2B5EF4-FFF2-40B4-BE49-F238E27FC236}">
                  <a16:creationId xmlns:a16="http://schemas.microsoft.com/office/drawing/2014/main" id="{0A3DCED0-12C2-4458-BB76-508EC6D60D39}"/>
                </a:ext>
              </a:extLst>
            </p:cNvPr>
            <p:cNvSpPr/>
            <p:nvPr/>
          </p:nvSpPr>
          <p:spPr>
            <a:xfrm>
              <a:off x="3848550" y="2217813"/>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Rectangle 19">
              <a:extLst>
                <a:ext uri="{FF2B5EF4-FFF2-40B4-BE49-F238E27FC236}">
                  <a16:creationId xmlns:a16="http://schemas.microsoft.com/office/drawing/2014/main" id="{7D33650C-88D2-4A2F-815D-42F7F42F1E15}"/>
                </a:ext>
              </a:extLst>
            </p:cNvPr>
            <p:cNvSpPr/>
            <p:nvPr/>
          </p:nvSpPr>
          <p:spPr>
            <a:xfrm>
              <a:off x="4432097" y="2009350"/>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ectangle 20">
              <a:extLst>
                <a:ext uri="{FF2B5EF4-FFF2-40B4-BE49-F238E27FC236}">
                  <a16:creationId xmlns:a16="http://schemas.microsoft.com/office/drawing/2014/main" id="{7785F3D1-6D9A-4EDF-B980-30F5FC34B94C}"/>
                </a:ext>
              </a:extLst>
            </p:cNvPr>
            <p:cNvSpPr/>
            <p:nvPr/>
          </p:nvSpPr>
          <p:spPr>
            <a:xfrm>
              <a:off x="3844581" y="1774363"/>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Rectangle 21">
              <a:extLst>
                <a:ext uri="{FF2B5EF4-FFF2-40B4-BE49-F238E27FC236}">
                  <a16:creationId xmlns:a16="http://schemas.microsoft.com/office/drawing/2014/main" id="{C47B3E29-7DCF-4F00-A884-CCAAFDFB3C62}"/>
                </a:ext>
              </a:extLst>
            </p:cNvPr>
            <p:cNvSpPr/>
            <p:nvPr/>
          </p:nvSpPr>
          <p:spPr>
            <a:xfrm>
              <a:off x="3802178" y="1563897"/>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11828094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695647E8-BA94-48C8-833D-3C94D0931C7D}"/>
              </a:ext>
            </a:extLst>
          </p:cNvPr>
          <p:cNvPicPr>
            <a:picLocks noChangeAspect="1"/>
          </p:cNvPicPr>
          <p:nvPr/>
        </p:nvPicPr>
        <p:blipFill>
          <a:blip r:embed="rId2"/>
          <a:stretch>
            <a:fillRect/>
          </a:stretch>
        </p:blipFill>
        <p:spPr>
          <a:xfrm>
            <a:off x="3299793" y="632993"/>
            <a:ext cx="8869013" cy="6011114"/>
          </a:xfrm>
          <a:prstGeom prst="rect">
            <a:avLst/>
          </a:prstGeom>
        </p:spPr>
      </p:pic>
      <p:sp>
        <p:nvSpPr>
          <p:cNvPr id="11" name="TextBox 10">
            <a:extLst>
              <a:ext uri="{FF2B5EF4-FFF2-40B4-BE49-F238E27FC236}">
                <a16:creationId xmlns:a16="http://schemas.microsoft.com/office/drawing/2014/main" id="{493E50EB-A39A-4313-86FF-0F97860C9441}"/>
              </a:ext>
            </a:extLst>
          </p:cNvPr>
          <p:cNvSpPr txBox="1"/>
          <p:nvPr/>
        </p:nvSpPr>
        <p:spPr>
          <a:xfrm>
            <a:off x="7338602" y="1409822"/>
            <a:ext cx="4281898" cy="1692771"/>
          </a:xfrm>
          <a:prstGeom prst="rect">
            <a:avLst/>
          </a:prstGeom>
          <a:noFill/>
        </p:spPr>
        <p:txBody>
          <a:bodyPr wrap="square" rtlCol="0">
            <a:spAutoFit/>
          </a:bodyPr>
          <a:lstStyle/>
          <a:p>
            <a:r>
              <a:rPr lang="en-GB" dirty="0">
                <a:solidFill>
                  <a:srgbClr val="A41AE4"/>
                </a:solidFill>
              </a:rPr>
              <a:t>The proportion of variance in each item that is left </a:t>
            </a:r>
            <a:r>
              <a:rPr lang="en-GB" i="1" dirty="0">
                <a:solidFill>
                  <a:srgbClr val="A41AE4"/>
                </a:solidFill>
              </a:rPr>
              <a:t>unexplained</a:t>
            </a:r>
            <a:r>
              <a:rPr lang="en-GB" dirty="0">
                <a:solidFill>
                  <a:srgbClr val="A41AE4"/>
                </a:solidFill>
              </a:rPr>
              <a:t> by the factors is 1 minus the communality. </a:t>
            </a:r>
            <a:br>
              <a:rPr lang="en-GB" dirty="0">
                <a:solidFill>
                  <a:srgbClr val="A41AE4"/>
                </a:solidFill>
              </a:rPr>
            </a:br>
            <a:endParaRPr lang="en-GB" dirty="0">
              <a:solidFill>
                <a:srgbClr val="A41AE4"/>
              </a:solidFill>
            </a:endParaRPr>
          </a:p>
          <a:p>
            <a:r>
              <a:rPr lang="en-GB" sz="1600" dirty="0">
                <a:solidFill>
                  <a:srgbClr val="A41AE4"/>
                </a:solidFill>
              </a:rPr>
              <a:t>e.g., 64% of the variance in Q10 is left unexplained</a:t>
            </a:r>
          </a:p>
        </p:txBody>
      </p:sp>
      <p:sp>
        <p:nvSpPr>
          <p:cNvPr id="7" name="Rectangle 6">
            <a:extLst>
              <a:ext uri="{FF2B5EF4-FFF2-40B4-BE49-F238E27FC236}">
                <a16:creationId xmlns:a16="http://schemas.microsoft.com/office/drawing/2014/main" id="{784F6F5B-D766-4856-B749-EDD476E6C58D}"/>
              </a:ext>
            </a:extLst>
          </p:cNvPr>
          <p:cNvSpPr/>
          <p:nvPr/>
        </p:nvSpPr>
        <p:spPr>
          <a:xfrm>
            <a:off x="5692774" y="1536701"/>
            <a:ext cx="669925" cy="2292350"/>
          </a:xfrm>
          <a:prstGeom prst="rect">
            <a:avLst/>
          </a:prstGeom>
          <a:noFill/>
          <a:ln>
            <a:solidFill>
              <a:srgbClr val="A41A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Box 7">
            <a:extLst>
              <a:ext uri="{FF2B5EF4-FFF2-40B4-BE49-F238E27FC236}">
                <a16:creationId xmlns:a16="http://schemas.microsoft.com/office/drawing/2014/main" id="{E35F28DC-BFB5-4A99-96DD-FCB2CFBB942D}"/>
              </a:ext>
            </a:extLst>
          </p:cNvPr>
          <p:cNvSpPr txBox="1"/>
          <p:nvPr/>
        </p:nvSpPr>
        <p:spPr>
          <a:xfrm>
            <a:off x="75499" y="-25167"/>
            <a:ext cx="5893501" cy="461665"/>
          </a:xfrm>
          <a:prstGeom prst="rect">
            <a:avLst/>
          </a:prstGeom>
          <a:noFill/>
        </p:spPr>
        <p:txBody>
          <a:bodyPr wrap="square" rtlCol="0">
            <a:spAutoFit/>
          </a:bodyPr>
          <a:lstStyle/>
          <a:p>
            <a:r>
              <a:rPr lang="en-GB" sz="2400" u="sng" dirty="0">
                <a:solidFill>
                  <a:srgbClr val="A41AE4"/>
                </a:solidFill>
              </a:rPr>
              <a:t>UNIQUENESS</a:t>
            </a:r>
          </a:p>
        </p:txBody>
      </p:sp>
      <p:pic>
        <p:nvPicPr>
          <p:cNvPr id="12" name="Picture 11">
            <a:extLst>
              <a:ext uri="{FF2B5EF4-FFF2-40B4-BE49-F238E27FC236}">
                <a16:creationId xmlns:a16="http://schemas.microsoft.com/office/drawing/2014/main" id="{283E6214-8AF8-47B6-A3AB-545FCD77AEEC}"/>
              </a:ext>
            </a:extLst>
          </p:cNvPr>
          <p:cNvPicPr>
            <a:picLocks noChangeAspect="1"/>
          </p:cNvPicPr>
          <p:nvPr/>
        </p:nvPicPr>
        <p:blipFill>
          <a:blip r:embed="rId3"/>
          <a:stretch>
            <a:fillRect/>
          </a:stretch>
        </p:blipFill>
        <p:spPr>
          <a:xfrm>
            <a:off x="3290340" y="6543324"/>
            <a:ext cx="485843" cy="257211"/>
          </a:xfrm>
          <a:prstGeom prst="rect">
            <a:avLst/>
          </a:prstGeom>
        </p:spPr>
      </p:pic>
      <p:grpSp>
        <p:nvGrpSpPr>
          <p:cNvPr id="13" name="Group 12">
            <a:extLst>
              <a:ext uri="{FF2B5EF4-FFF2-40B4-BE49-F238E27FC236}">
                <a16:creationId xmlns:a16="http://schemas.microsoft.com/office/drawing/2014/main" id="{F85CD59F-1A06-4300-8AB8-92B46EDE91C7}"/>
              </a:ext>
            </a:extLst>
          </p:cNvPr>
          <p:cNvGrpSpPr/>
          <p:nvPr/>
        </p:nvGrpSpPr>
        <p:grpSpPr>
          <a:xfrm>
            <a:off x="3802178" y="1563897"/>
            <a:ext cx="1268079" cy="2237224"/>
            <a:chOff x="3802178" y="1563897"/>
            <a:chExt cx="1268079" cy="2237224"/>
          </a:xfrm>
        </p:grpSpPr>
        <p:sp>
          <p:nvSpPr>
            <p:cNvPr id="14" name="Rectangle 13">
              <a:extLst>
                <a:ext uri="{FF2B5EF4-FFF2-40B4-BE49-F238E27FC236}">
                  <a16:creationId xmlns:a16="http://schemas.microsoft.com/office/drawing/2014/main" id="{0C580B16-9F00-4C7D-A919-35C50D436612}"/>
                </a:ext>
              </a:extLst>
            </p:cNvPr>
            <p:cNvSpPr/>
            <p:nvPr/>
          </p:nvSpPr>
          <p:spPr>
            <a:xfrm>
              <a:off x="3860800" y="3370997"/>
              <a:ext cx="560636" cy="430124"/>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a:extLst>
                <a:ext uri="{FF2B5EF4-FFF2-40B4-BE49-F238E27FC236}">
                  <a16:creationId xmlns:a16="http://schemas.microsoft.com/office/drawing/2014/main" id="{32C65079-6650-4058-AF4E-11072A167CC2}"/>
                </a:ext>
              </a:extLst>
            </p:cNvPr>
            <p:cNvSpPr/>
            <p:nvPr/>
          </p:nvSpPr>
          <p:spPr>
            <a:xfrm>
              <a:off x="3802178" y="2887150"/>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a:extLst>
                <a:ext uri="{FF2B5EF4-FFF2-40B4-BE49-F238E27FC236}">
                  <a16:creationId xmlns:a16="http://schemas.microsoft.com/office/drawing/2014/main" id="{522E083B-0D49-43D1-8289-C659F83BEB71}"/>
                </a:ext>
              </a:extLst>
            </p:cNvPr>
            <p:cNvSpPr/>
            <p:nvPr/>
          </p:nvSpPr>
          <p:spPr>
            <a:xfrm>
              <a:off x="4450999" y="2669434"/>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Rectangle 16">
              <a:extLst>
                <a:ext uri="{FF2B5EF4-FFF2-40B4-BE49-F238E27FC236}">
                  <a16:creationId xmlns:a16="http://schemas.microsoft.com/office/drawing/2014/main" id="{18F7DA98-09CE-42E3-B96D-71E0B21986CC}"/>
                </a:ext>
              </a:extLst>
            </p:cNvPr>
            <p:cNvSpPr/>
            <p:nvPr/>
          </p:nvSpPr>
          <p:spPr>
            <a:xfrm>
              <a:off x="4426734" y="3137245"/>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ectangle 17">
              <a:extLst>
                <a:ext uri="{FF2B5EF4-FFF2-40B4-BE49-F238E27FC236}">
                  <a16:creationId xmlns:a16="http://schemas.microsoft.com/office/drawing/2014/main" id="{BA2CA5A9-87C2-4883-93CB-6EF57CBEFCF8}"/>
                </a:ext>
              </a:extLst>
            </p:cNvPr>
            <p:cNvSpPr/>
            <p:nvPr/>
          </p:nvSpPr>
          <p:spPr>
            <a:xfrm>
              <a:off x="4426734" y="2435682"/>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Rectangle 18">
              <a:extLst>
                <a:ext uri="{FF2B5EF4-FFF2-40B4-BE49-F238E27FC236}">
                  <a16:creationId xmlns:a16="http://schemas.microsoft.com/office/drawing/2014/main" id="{A402147F-CEDE-4FC4-AEE6-3C0D091C86C8}"/>
                </a:ext>
              </a:extLst>
            </p:cNvPr>
            <p:cNvSpPr/>
            <p:nvPr/>
          </p:nvSpPr>
          <p:spPr>
            <a:xfrm>
              <a:off x="3848550" y="2217813"/>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Rectangle 19">
              <a:extLst>
                <a:ext uri="{FF2B5EF4-FFF2-40B4-BE49-F238E27FC236}">
                  <a16:creationId xmlns:a16="http://schemas.microsoft.com/office/drawing/2014/main" id="{09A51840-80E8-4ACB-8659-3502B61D80F3}"/>
                </a:ext>
              </a:extLst>
            </p:cNvPr>
            <p:cNvSpPr/>
            <p:nvPr/>
          </p:nvSpPr>
          <p:spPr>
            <a:xfrm>
              <a:off x="4432097" y="2009350"/>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ectangle 20">
              <a:extLst>
                <a:ext uri="{FF2B5EF4-FFF2-40B4-BE49-F238E27FC236}">
                  <a16:creationId xmlns:a16="http://schemas.microsoft.com/office/drawing/2014/main" id="{1BDCE0F4-72EA-4DC9-872F-90AD079235FB}"/>
                </a:ext>
              </a:extLst>
            </p:cNvPr>
            <p:cNvSpPr/>
            <p:nvPr/>
          </p:nvSpPr>
          <p:spPr>
            <a:xfrm>
              <a:off x="3844581" y="1774363"/>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Rectangle 21">
              <a:extLst>
                <a:ext uri="{FF2B5EF4-FFF2-40B4-BE49-F238E27FC236}">
                  <a16:creationId xmlns:a16="http://schemas.microsoft.com/office/drawing/2014/main" id="{735CC3A8-D0BA-428E-B937-F9DF680D1A5F}"/>
                </a:ext>
              </a:extLst>
            </p:cNvPr>
            <p:cNvSpPr/>
            <p:nvPr/>
          </p:nvSpPr>
          <p:spPr>
            <a:xfrm>
              <a:off x="3802178" y="1563897"/>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115825933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4A8C04FB-9565-4DA5-AF4C-2105E148A23F}"/>
              </a:ext>
            </a:extLst>
          </p:cNvPr>
          <p:cNvPicPr>
            <a:picLocks noChangeAspect="1"/>
          </p:cNvPicPr>
          <p:nvPr/>
        </p:nvPicPr>
        <p:blipFill>
          <a:blip r:embed="rId2"/>
          <a:stretch>
            <a:fillRect/>
          </a:stretch>
        </p:blipFill>
        <p:spPr>
          <a:xfrm>
            <a:off x="3299793" y="632993"/>
            <a:ext cx="8869013" cy="6011114"/>
          </a:xfrm>
          <a:prstGeom prst="rect">
            <a:avLst/>
          </a:prstGeom>
        </p:spPr>
      </p:pic>
      <p:sp>
        <p:nvSpPr>
          <p:cNvPr id="11" name="TextBox 10">
            <a:extLst>
              <a:ext uri="{FF2B5EF4-FFF2-40B4-BE49-F238E27FC236}">
                <a16:creationId xmlns:a16="http://schemas.microsoft.com/office/drawing/2014/main" id="{493E50EB-A39A-4313-86FF-0F97860C9441}"/>
              </a:ext>
            </a:extLst>
          </p:cNvPr>
          <p:cNvSpPr txBox="1"/>
          <p:nvPr/>
        </p:nvSpPr>
        <p:spPr>
          <a:xfrm>
            <a:off x="7338602" y="1409822"/>
            <a:ext cx="4281898" cy="2031325"/>
          </a:xfrm>
          <a:prstGeom prst="rect">
            <a:avLst/>
          </a:prstGeom>
          <a:noFill/>
        </p:spPr>
        <p:txBody>
          <a:bodyPr wrap="square" rtlCol="0">
            <a:spAutoFit/>
          </a:bodyPr>
          <a:lstStyle/>
          <a:p>
            <a:r>
              <a:rPr lang="en-GB" dirty="0">
                <a:solidFill>
                  <a:srgbClr val="A41AE4"/>
                </a:solidFill>
              </a:rPr>
              <a:t>The extent to which a given item loads on to a single factor vs onto multiple factors is termed ‘complexity’. </a:t>
            </a:r>
            <a:br>
              <a:rPr lang="en-GB" dirty="0">
                <a:solidFill>
                  <a:srgbClr val="A41AE4"/>
                </a:solidFill>
              </a:rPr>
            </a:br>
            <a:endParaRPr lang="en-GB" dirty="0">
              <a:solidFill>
                <a:srgbClr val="A41AE4"/>
              </a:solidFill>
            </a:endParaRPr>
          </a:p>
          <a:p>
            <a:r>
              <a:rPr lang="en-GB" dirty="0">
                <a:solidFill>
                  <a:srgbClr val="A41AE4"/>
                </a:solidFill>
              </a:rPr>
              <a:t>It equals 1 if an item loads only on one factor, 2 if it loads evenly on 2 factors, and so on. </a:t>
            </a:r>
            <a:endParaRPr lang="en-GB" sz="1400" dirty="0">
              <a:solidFill>
                <a:srgbClr val="A41AE4"/>
              </a:solidFill>
            </a:endParaRPr>
          </a:p>
        </p:txBody>
      </p:sp>
      <p:sp>
        <p:nvSpPr>
          <p:cNvPr id="5" name="Rectangle 4">
            <a:extLst>
              <a:ext uri="{FF2B5EF4-FFF2-40B4-BE49-F238E27FC236}">
                <a16:creationId xmlns:a16="http://schemas.microsoft.com/office/drawing/2014/main" id="{B1057B80-52F8-4291-8FFC-AF3B21F9FA65}"/>
              </a:ext>
            </a:extLst>
          </p:cNvPr>
          <p:cNvSpPr/>
          <p:nvPr/>
        </p:nvSpPr>
        <p:spPr>
          <a:xfrm>
            <a:off x="6359525" y="1530349"/>
            <a:ext cx="498475" cy="2289175"/>
          </a:xfrm>
          <a:prstGeom prst="rect">
            <a:avLst/>
          </a:prstGeom>
          <a:noFill/>
          <a:ln>
            <a:solidFill>
              <a:srgbClr val="A41A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Box 7">
            <a:extLst>
              <a:ext uri="{FF2B5EF4-FFF2-40B4-BE49-F238E27FC236}">
                <a16:creationId xmlns:a16="http://schemas.microsoft.com/office/drawing/2014/main" id="{F1F1BB60-76C3-42C7-886D-6F0159D8DADD}"/>
              </a:ext>
            </a:extLst>
          </p:cNvPr>
          <p:cNvSpPr txBox="1"/>
          <p:nvPr/>
        </p:nvSpPr>
        <p:spPr>
          <a:xfrm>
            <a:off x="75499" y="-25167"/>
            <a:ext cx="5893501" cy="461665"/>
          </a:xfrm>
          <a:prstGeom prst="rect">
            <a:avLst/>
          </a:prstGeom>
          <a:noFill/>
        </p:spPr>
        <p:txBody>
          <a:bodyPr wrap="square" rtlCol="0">
            <a:spAutoFit/>
          </a:bodyPr>
          <a:lstStyle/>
          <a:p>
            <a:r>
              <a:rPr lang="en-GB" sz="2400" u="sng" dirty="0">
                <a:solidFill>
                  <a:srgbClr val="A41AE4"/>
                </a:solidFill>
              </a:rPr>
              <a:t>COMPLEXITY</a:t>
            </a:r>
          </a:p>
        </p:txBody>
      </p:sp>
      <p:pic>
        <p:nvPicPr>
          <p:cNvPr id="10" name="Picture 9">
            <a:extLst>
              <a:ext uri="{FF2B5EF4-FFF2-40B4-BE49-F238E27FC236}">
                <a16:creationId xmlns:a16="http://schemas.microsoft.com/office/drawing/2014/main" id="{1968AD3B-F521-4EED-AD85-90FB16B64B51}"/>
              </a:ext>
            </a:extLst>
          </p:cNvPr>
          <p:cNvPicPr>
            <a:picLocks noChangeAspect="1"/>
          </p:cNvPicPr>
          <p:nvPr/>
        </p:nvPicPr>
        <p:blipFill>
          <a:blip r:embed="rId3"/>
          <a:stretch>
            <a:fillRect/>
          </a:stretch>
        </p:blipFill>
        <p:spPr>
          <a:xfrm>
            <a:off x="3290340" y="6543324"/>
            <a:ext cx="485843" cy="257211"/>
          </a:xfrm>
          <a:prstGeom prst="rect">
            <a:avLst/>
          </a:prstGeom>
        </p:spPr>
      </p:pic>
      <p:grpSp>
        <p:nvGrpSpPr>
          <p:cNvPr id="12" name="Group 11">
            <a:extLst>
              <a:ext uri="{FF2B5EF4-FFF2-40B4-BE49-F238E27FC236}">
                <a16:creationId xmlns:a16="http://schemas.microsoft.com/office/drawing/2014/main" id="{B55693DB-2BAB-45CC-8CC9-BF4EBD473136}"/>
              </a:ext>
            </a:extLst>
          </p:cNvPr>
          <p:cNvGrpSpPr/>
          <p:nvPr/>
        </p:nvGrpSpPr>
        <p:grpSpPr>
          <a:xfrm>
            <a:off x="3802178" y="1563897"/>
            <a:ext cx="1268079" cy="2237224"/>
            <a:chOff x="3802178" y="1563897"/>
            <a:chExt cx="1268079" cy="2237224"/>
          </a:xfrm>
        </p:grpSpPr>
        <p:sp>
          <p:nvSpPr>
            <p:cNvPr id="13" name="Rectangle 12">
              <a:extLst>
                <a:ext uri="{FF2B5EF4-FFF2-40B4-BE49-F238E27FC236}">
                  <a16:creationId xmlns:a16="http://schemas.microsoft.com/office/drawing/2014/main" id="{E28F2BC6-29DC-458F-8B14-9DE51E76A9E9}"/>
                </a:ext>
              </a:extLst>
            </p:cNvPr>
            <p:cNvSpPr/>
            <p:nvPr/>
          </p:nvSpPr>
          <p:spPr>
            <a:xfrm>
              <a:off x="3860800" y="3370997"/>
              <a:ext cx="560636" cy="430124"/>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a:extLst>
                <a:ext uri="{FF2B5EF4-FFF2-40B4-BE49-F238E27FC236}">
                  <a16:creationId xmlns:a16="http://schemas.microsoft.com/office/drawing/2014/main" id="{41ED4F67-5B6B-4FDD-84AD-870CB4531BA3}"/>
                </a:ext>
              </a:extLst>
            </p:cNvPr>
            <p:cNvSpPr/>
            <p:nvPr/>
          </p:nvSpPr>
          <p:spPr>
            <a:xfrm>
              <a:off x="3802178" y="2887150"/>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a:extLst>
                <a:ext uri="{FF2B5EF4-FFF2-40B4-BE49-F238E27FC236}">
                  <a16:creationId xmlns:a16="http://schemas.microsoft.com/office/drawing/2014/main" id="{7DE9B34F-F2F0-4DFB-BB79-A02757F8699D}"/>
                </a:ext>
              </a:extLst>
            </p:cNvPr>
            <p:cNvSpPr/>
            <p:nvPr/>
          </p:nvSpPr>
          <p:spPr>
            <a:xfrm>
              <a:off x="4450999" y="2669434"/>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a:extLst>
                <a:ext uri="{FF2B5EF4-FFF2-40B4-BE49-F238E27FC236}">
                  <a16:creationId xmlns:a16="http://schemas.microsoft.com/office/drawing/2014/main" id="{800B6B2C-5E04-4665-BDBA-35E12834673C}"/>
                </a:ext>
              </a:extLst>
            </p:cNvPr>
            <p:cNvSpPr/>
            <p:nvPr/>
          </p:nvSpPr>
          <p:spPr>
            <a:xfrm>
              <a:off x="4426734" y="3137245"/>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Rectangle 16">
              <a:extLst>
                <a:ext uri="{FF2B5EF4-FFF2-40B4-BE49-F238E27FC236}">
                  <a16:creationId xmlns:a16="http://schemas.microsoft.com/office/drawing/2014/main" id="{2A18675A-FC7D-4764-B169-CF233E12A729}"/>
                </a:ext>
              </a:extLst>
            </p:cNvPr>
            <p:cNvSpPr/>
            <p:nvPr/>
          </p:nvSpPr>
          <p:spPr>
            <a:xfrm>
              <a:off x="4426734" y="2435682"/>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ectangle 17">
              <a:extLst>
                <a:ext uri="{FF2B5EF4-FFF2-40B4-BE49-F238E27FC236}">
                  <a16:creationId xmlns:a16="http://schemas.microsoft.com/office/drawing/2014/main" id="{37473D83-A140-4DCF-A231-8A3C0B380396}"/>
                </a:ext>
              </a:extLst>
            </p:cNvPr>
            <p:cNvSpPr/>
            <p:nvPr/>
          </p:nvSpPr>
          <p:spPr>
            <a:xfrm>
              <a:off x="3848550" y="2217813"/>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Rectangle 18">
              <a:extLst>
                <a:ext uri="{FF2B5EF4-FFF2-40B4-BE49-F238E27FC236}">
                  <a16:creationId xmlns:a16="http://schemas.microsoft.com/office/drawing/2014/main" id="{9D110047-E3E4-4612-A511-891ED7D9DB69}"/>
                </a:ext>
              </a:extLst>
            </p:cNvPr>
            <p:cNvSpPr/>
            <p:nvPr/>
          </p:nvSpPr>
          <p:spPr>
            <a:xfrm>
              <a:off x="4432097" y="2009350"/>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Rectangle 19">
              <a:extLst>
                <a:ext uri="{FF2B5EF4-FFF2-40B4-BE49-F238E27FC236}">
                  <a16:creationId xmlns:a16="http://schemas.microsoft.com/office/drawing/2014/main" id="{BCD9723F-ECC1-4809-B7EB-DA096BC7FFB4}"/>
                </a:ext>
              </a:extLst>
            </p:cNvPr>
            <p:cNvSpPr/>
            <p:nvPr/>
          </p:nvSpPr>
          <p:spPr>
            <a:xfrm>
              <a:off x="3844581" y="1774363"/>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ectangle 20">
              <a:extLst>
                <a:ext uri="{FF2B5EF4-FFF2-40B4-BE49-F238E27FC236}">
                  <a16:creationId xmlns:a16="http://schemas.microsoft.com/office/drawing/2014/main" id="{EBB92CA1-0D36-4034-9364-4C9ABB0C143E}"/>
                </a:ext>
              </a:extLst>
            </p:cNvPr>
            <p:cNvSpPr/>
            <p:nvPr/>
          </p:nvSpPr>
          <p:spPr>
            <a:xfrm>
              <a:off x="3802178" y="1563897"/>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20755103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4" name="Group 23">
            <a:extLst>
              <a:ext uri="{FF2B5EF4-FFF2-40B4-BE49-F238E27FC236}">
                <a16:creationId xmlns:a16="http://schemas.microsoft.com/office/drawing/2014/main" id="{980350AD-87C6-4FFA-952F-27715C276E7E}"/>
              </a:ext>
            </a:extLst>
          </p:cNvPr>
          <p:cNvGrpSpPr/>
          <p:nvPr/>
        </p:nvGrpSpPr>
        <p:grpSpPr>
          <a:xfrm>
            <a:off x="3290340" y="632993"/>
            <a:ext cx="8878466" cy="6167542"/>
            <a:chOff x="3290340" y="632993"/>
            <a:chExt cx="8878466" cy="6167542"/>
          </a:xfrm>
        </p:grpSpPr>
        <p:pic>
          <p:nvPicPr>
            <p:cNvPr id="9" name="Picture 8">
              <a:extLst>
                <a:ext uri="{FF2B5EF4-FFF2-40B4-BE49-F238E27FC236}">
                  <a16:creationId xmlns:a16="http://schemas.microsoft.com/office/drawing/2014/main" id="{1D3BACD1-7606-4A16-A2A2-D002DBE41A3A}"/>
                </a:ext>
              </a:extLst>
            </p:cNvPr>
            <p:cNvPicPr>
              <a:picLocks noChangeAspect="1"/>
            </p:cNvPicPr>
            <p:nvPr/>
          </p:nvPicPr>
          <p:blipFill>
            <a:blip r:embed="rId2"/>
            <a:stretch>
              <a:fillRect/>
            </a:stretch>
          </p:blipFill>
          <p:spPr>
            <a:xfrm>
              <a:off x="3299793" y="632993"/>
              <a:ext cx="8869013" cy="6011114"/>
            </a:xfrm>
            <a:prstGeom prst="rect">
              <a:avLst/>
            </a:prstGeom>
          </p:spPr>
        </p:pic>
        <p:pic>
          <p:nvPicPr>
            <p:cNvPr id="12" name="Picture 11">
              <a:extLst>
                <a:ext uri="{FF2B5EF4-FFF2-40B4-BE49-F238E27FC236}">
                  <a16:creationId xmlns:a16="http://schemas.microsoft.com/office/drawing/2014/main" id="{47F41243-78FD-422C-8342-184BD28D7EC2}"/>
                </a:ext>
              </a:extLst>
            </p:cNvPr>
            <p:cNvPicPr>
              <a:picLocks noChangeAspect="1"/>
            </p:cNvPicPr>
            <p:nvPr/>
          </p:nvPicPr>
          <p:blipFill>
            <a:blip r:embed="rId3"/>
            <a:stretch>
              <a:fillRect/>
            </a:stretch>
          </p:blipFill>
          <p:spPr>
            <a:xfrm>
              <a:off x="3290340" y="6543324"/>
              <a:ext cx="485843" cy="257211"/>
            </a:xfrm>
            <a:prstGeom prst="rect">
              <a:avLst/>
            </a:prstGeom>
          </p:spPr>
        </p:pic>
        <p:grpSp>
          <p:nvGrpSpPr>
            <p:cNvPr id="14" name="Group 13">
              <a:extLst>
                <a:ext uri="{FF2B5EF4-FFF2-40B4-BE49-F238E27FC236}">
                  <a16:creationId xmlns:a16="http://schemas.microsoft.com/office/drawing/2014/main" id="{0D827AA8-BAAC-408C-8BC9-0C7CF15306C0}"/>
                </a:ext>
              </a:extLst>
            </p:cNvPr>
            <p:cNvGrpSpPr/>
            <p:nvPr/>
          </p:nvGrpSpPr>
          <p:grpSpPr>
            <a:xfrm>
              <a:off x="3802178" y="1563897"/>
              <a:ext cx="1268079" cy="2237224"/>
              <a:chOff x="3802178" y="1563897"/>
              <a:chExt cx="1268079" cy="2237224"/>
            </a:xfrm>
          </p:grpSpPr>
          <p:sp>
            <p:nvSpPr>
              <p:cNvPr id="15" name="Rectangle 14">
                <a:extLst>
                  <a:ext uri="{FF2B5EF4-FFF2-40B4-BE49-F238E27FC236}">
                    <a16:creationId xmlns:a16="http://schemas.microsoft.com/office/drawing/2014/main" id="{21539D40-758D-4309-A08B-7488973ACF91}"/>
                  </a:ext>
                </a:extLst>
              </p:cNvPr>
              <p:cNvSpPr/>
              <p:nvPr/>
            </p:nvSpPr>
            <p:spPr>
              <a:xfrm>
                <a:off x="3860800" y="3370997"/>
                <a:ext cx="560636" cy="430124"/>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a:extLst>
                  <a:ext uri="{FF2B5EF4-FFF2-40B4-BE49-F238E27FC236}">
                    <a16:creationId xmlns:a16="http://schemas.microsoft.com/office/drawing/2014/main" id="{14462FC1-AD82-4641-9E6A-79DE4346F9B3}"/>
                  </a:ext>
                </a:extLst>
              </p:cNvPr>
              <p:cNvSpPr/>
              <p:nvPr/>
            </p:nvSpPr>
            <p:spPr>
              <a:xfrm>
                <a:off x="3802178" y="2887150"/>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Rectangle 16">
                <a:extLst>
                  <a:ext uri="{FF2B5EF4-FFF2-40B4-BE49-F238E27FC236}">
                    <a16:creationId xmlns:a16="http://schemas.microsoft.com/office/drawing/2014/main" id="{94FD249B-03BA-445B-8352-31F7AE84433D}"/>
                  </a:ext>
                </a:extLst>
              </p:cNvPr>
              <p:cNvSpPr/>
              <p:nvPr/>
            </p:nvSpPr>
            <p:spPr>
              <a:xfrm>
                <a:off x="4450999" y="2669434"/>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ectangle 17">
                <a:extLst>
                  <a:ext uri="{FF2B5EF4-FFF2-40B4-BE49-F238E27FC236}">
                    <a16:creationId xmlns:a16="http://schemas.microsoft.com/office/drawing/2014/main" id="{1408B0EA-365B-4272-B0D3-354959F1370C}"/>
                  </a:ext>
                </a:extLst>
              </p:cNvPr>
              <p:cNvSpPr/>
              <p:nvPr/>
            </p:nvSpPr>
            <p:spPr>
              <a:xfrm>
                <a:off x="4426734" y="3137245"/>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Rectangle 18">
                <a:extLst>
                  <a:ext uri="{FF2B5EF4-FFF2-40B4-BE49-F238E27FC236}">
                    <a16:creationId xmlns:a16="http://schemas.microsoft.com/office/drawing/2014/main" id="{DED840A8-E3F1-4158-9457-C47EFC841755}"/>
                  </a:ext>
                </a:extLst>
              </p:cNvPr>
              <p:cNvSpPr/>
              <p:nvPr/>
            </p:nvSpPr>
            <p:spPr>
              <a:xfrm>
                <a:off x="4426734" y="2435682"/>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Rectangle 19">
                <a:extLst>
                  <a:ext uri="{FF2B5EF4-FFF2-40B4-BE49-F238E27FC236}">
                    <a16:creationId xmlns:a16="http://schemas.microsoft.com/office/drawing/2014/main" id="{2C8C5795-FAF4-4434-BE77-B9305F8E1D4A}"/>
                  </a:ext>
                </a:extLst>
              </p:cNvPr>
              <p:cNvSpPr/>
              <p:nvPr/>
            </p:nvSpPr>
            <p:spPr>
              <a:xfrm>
                <a:off x="3848550" y="2217813"/>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ectangle 20">
                <a:extLst>
                  <a:ext uri="{FF2B5EF4-FFF2-40B4-BE49-F238E27FC236}">
                    <a16:creationId xmlns:a16="http://schemas.microsoft.com/office/drawing/2014/main" id="{38E44903-E53B-4AF4-B68F-49122108523D}"/>
                  </a:ext>
                </a:extLst>
              </p:cNvPr>
              <p:cNvSpPr/>
              <p:nvPr/>
            </p:nvSpPr>
            <p:spPr>
              <a:xfrm>
                <a:off x="4432097" y="2009350"/>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Rectangle 21">
                <a:extLst>
                  <a:ext uri="{FF2B5EF4-FFF2-40B4-BE49-F238E27FC236}">
                    <a16:creationId xmlns:a16="http://schemas.microsoft.com/office/drawing/2014/main" id="{B06502FA-706D-4F32-9068-E0AD4B860991}"/>
                  </a:ext>
                </a:extLst>
              </p:cNvPr>
              <p:cNvSpPr/>
              <p:nvPr/>
            </p:nvSpPr>
            <p:spPr>
              <a:xfrm>
                <a:off x="3844581" y="1774363"/>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Rectangle 22">
                <a:extLst>
                  <a:ext uri="{FF2B5EF4-FFF2-40B4-BE49-F238E27FC236}">
                    <a16:creationId xmlns:a16="http://schemas.microsoft.com/office/drawing/2014/main" id="{499443BB-BF34-43BB-8F8F-B5767FBFFBD7}"/>
                  </a:ext>
                </a:extLst>
              </p:cNvPr>
              <p:cNvSpPr/>
              <p:nvPr/>
            </p:nvSpPr>
            <p:spPr>
              <a:xfrm>
                <a:off x="3802178" y="1563897"/>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sp>
        <p:nvSpPr>
          <p:cNvPr id="10" name="TextBox 9">
            <a:extLst>
              <a:ext uri="{FF2B5EF4-FFF2-40B4-BE49-F238E27FC236}">
                <a16:creationId xmlns:a16="http://schemas.microsoft.com/office/drawing/2014/main" id="{8A3C40CD-B6C6-4273-BE13-3DB5447020D2}"/>
              </a:ext>
            </a:extLst>
          </p:cNvPr>
          <p:cNvSpPr txBox="1"/>
          <p:nvPr/>
        </p:nvSpPr>
        <p:spPr>
          <a:xfrm>
            <a:off x="7405958" y="3009482"/>
            <a:ext cx="4659042" cy="2031325"/>
          </a:xfrm>
          <a:prstGeom prst="rect">
            <a:avLst/>
          </a:prstGeom>
          <a:noFill/>
        </p:spPr>
        <p:txBody>
          <a:bodyPr wrap="square" rtlCol="0">
            <a:spAutoFit/>
          </a:bodyPr>
          <a:lstStyle/>
          <a:p>
            <a:r>
              <a:rPr lang="en-GB" dirty="0">
                <a:solidFill>
                  <a:srgbClr val="A41AE4"/>
                </a:solidFill>
              </a:rPr>
              <a:t>Square all the loadings for each factor and add them up. This gives you the “SS loadings”. </a:t>
            </a:r>
          </a:p>
          <a:p>
            <a:endParaRPr lang="en-GB" dirty="0">
              <a:solidFill>
                <a:srgbClr val="A41AE4"/>
              </a:solidFill>
            </a:endParaRPr>
          </a:p>
          <a:p>
            <a:r>
              <a:rPr lang="en-GB" dirty="0">
                <a:solidFill>
                  <a:srgbClr val="A41AE4"/>
                </a:solidFill>
              </a:rPr>
              <a:t>These are the same as the eigenvalues unless an oblique rotation is used. As the variance in each item is scaled to be 1, the total variance in the data is equal to the number of items. </a:t>
            </a:r>
          </a:p>
        </p:txBody>
      </p:sp>
      <p:sp>
        <p:nvSpPr>
          <p:cNvPr id="3" name="Rectangle 2">
            <a:extLst>
              <a:ext uri="{FF2B5EF4-FFF2-40B4-BE49-F238E27FC236}">
                <a16:creationId xmlns:a16="http://schemas.microsoft.com/office/drawing/2014/main" id="{5C0699FC-5F6A-463E-8040-0B41C1910E71}"/>
              </a:ext>
            </a:extLst>
          </p:cNvPr>
          <p:cNvSpPr/>
          <p:nvPr/>
        </p:nvSpPr>
        <p:spPr>
          <a:xfrm>
            <a:off x="5807075" y="4260850"/>
            <a:ext cx="558800" cy="254000"/>
          </a:xfrm>
          <a:prstGeom prst="rect">
            <a:avLst/>
          </a:prstGeom>
          <a:noFill/>
          <a:ln>
            <a:solidFill>
              <a:srgbClr val="A41A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Straight Connector 4">
            <a:extLst>
              <a:ext uri="{FF2B5EF4-FFF2-40B4-BE49-F238E27FC236}">
                <a16:creationId xmlns:a16="http://schemas.microsoft.com/office/drawing/2014/main" id="{E615AC58-D23A-4AEB-8717-002173D23750}"/>
              </a:ext>
            </a:extLst>
          </p:cNvPr>
          <p:cNvCxnSpPr>
            <a:cxnSpLocks/>
            <a:stCxn id="2" idx="2"/>
            <a:endCxn id="3" idx="1"/>
          </p:cNvCxnSpPr>
          <p:nvPr/>
        </p:nvCxnSpPr>
        <p:spPr>
          <a:xfrm>
            <a:off x="4064000" y="3867150"/>
            <a:ext cx="1743075" cy="520700"/>
          </a:xfrm>
          <a:prstGeom prst="line">
            <a:avLst/>
          </a:prstGeom>
          <a:ln>
            <a:solidFill>
              <a:srgbClr val="A41AE4"/>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9A5B0410-193E-4331-BCA5-805FE3C6F857}"/>
              </a:ext>
            </a:extLst>
          </p:cNvPr>
          <p:cNvSpPr txBox="1"/>
          <p:nvPr/>
        </p:nvSpPr>
        <p:spPr>
          <a:xfrm>
            <a:off x="75499" y="-25167"/>
            <a:ext cx="5893501" cy="461665"/>
          </a:xfrm>
          <a:prstGeom prst="rect">
            <a:avLst/>
          </a:prstGeom>
          <a:noFill/>
        </p:spPr>
        <p:txBody>
          <a:bodyPr wrap="square" rtlCol="0">
            <a:spAutoFit/>
          </a:bodyPr>
          <a:lstStyle/>
          <a:p>
            <a:r>
              <a:rPr lang="en-GB" sz="2400" u="sng" dirty="0">
                <a:solidFill>
                  <a:srgbClr val="A41AE4"/>
                </a:solidFill>
              </a:rPr>
              <a:t>SS Loadings &amp; “Variance Accounted For”</a:t>
            </a:r>
          </a:p>
        </p:txBody>
      </p:sp>
      <p:sp>
        <p:nvSpPr>
          <p:cNvPr id="2" name="Rectangle 1">
            <a:extLst>
              <a:ext uri="{FF2B5EF4-FFF2-40B4-BE49-F238E27FC236}">
                <a16:creationId xmlns:a16="http://schemas.microsoft.com/office/drawing/2014/main" id="{C2BCBBA2-6170-4304-B738-4C2A80CF295E}"/>
              </a:ext>
            </a:extLst>
          </p:cNvPr>
          <p:cNvSpPr/>
          <p:nvPr/>
        </p:nvSpPr>
        <p:spPr>
          <a:xfrm>
            <a:off x="3733800" y="1524000"/>
            <a:ext cx="660400" cy="2343150"/>
          </a:xfrm>
          <a:prstGeom prst="rect">
            <a:avLst/>
          </a:prstGeom>
          <a:noFill/>
          <a:ln>
            <a:solidFill>
              <a:srgbClr val="A41A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6482557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EC06B185-5EDE-4442-92BC-509ECA1B4125}"/>
              </a:ext>
            </a:extLst>
          </p:cNvPr>
          <p:cNvGrpSpPr/>
          <p:nvPr/>
        </p:nvGrpSpPr>
        <p:grpSpPr>
          <a:xfrm>
            <a:off x="3290340" y="632993"/>
            <a:ext cx="8878466" cy="6167542"/>
            <a:chOff x="3290340" y="632993"/>
            <a:chExt cx="8878466" cy="6167542"/>
          </a:xfrm>
        </p:grpSpPr>
        <p:pic>
          <p:nvPicPr>
            <p:cNvPr id="9" name="Picture 8">
              <a:extLst>
                <a:ext uri="{FF2B5EF4-FFF2-40B4-BE49-F238E27FC236}">
                  <a16:creationId xmlns:a16="http://schemas.microsoft.com/office/drawing/2014/main" id="{0BB2D89D-2475-4C2E-B0B0-86EF63E23CD1}"/>
                </a:ext>
              </a:extLst>
            </p:cNvPr>
            <p:cNvPicPr>
              <a:picLocks noChangeAspect="1"/>
            </p:cNvPicPr>
            <p:nvPr/>
          </p:nvPicPr>
          <p:blipFill>
            <a:blip r:embed="rId2"/>
            <a:stretch>
              <a:fillRect/>
            </a:stretch>
          </p:blipFill>
          <p:spPr>
            <a:xfrm>
              <a:off x="3299793" y="632993"/>
              <a:ext cx="8869013" cy="6011114"/>
            </a:xfrm>
            <a:prstGeom prst="rect">
              <a:avLst/>
            </a:prstGeom>
          </p:spPr>
        </p:pic>
        <p:pic>
          <p:nvPicPr>
            <p:cNvPr id="10" name="Picture 9">
              <a:extLst>
                <a:ext uri="{FF2B5EF4-FFF2-40B4-BE49-F238E27FC236}">
                  <a16:creationId xmlns:a16="http://schemas.microsoft.com/office/drawing/2014/main" id="{405968DC-B1DE-491D-8DB7-FA5B3075E3FD}"/>
                </a:ext>
              </a:extLst>
            </p:cNvPr>
            <p:cNvPicPr>
              <a:picLocks noChangeAspect="1"/>
            </p:cNvPicPr>
            <p:nvPr/>
          </p:nvPicPr>
          <p:blipFill>
            <a:blip r:embed="rId3"/>
            <a:stretch>
              <a:fillRect/>
            </a:stretch>
          </p:blipFill>
          <p:spPr>
            <a:xfrm>
              <a:off x="3290340" y="6543324"/>
              <a:ext cx="485843" cy="257211"/>
            </a:xfrm>
            <a:prstGeom prst="rect">
              <a:avLst/>
            </a:prstGeom>
          </p:spPr>
        </p:pic>
        <p:grpSp>
          <p:nvGrpSpPr>
            <p:cNvPr id="13" name="Group 12">
              <a:extLst>
                <a:ext uri="{FF2B5EF4-FFF2-40B4-BE49-F238E27FC236}">
                  <a16:creationId xmlns:a16="http://schemas.microsoft.com/office/drawing/2014/main" id="{B928452D-1DE3-4EA8-88F3-F1776C5E5236}"/>
                </a:ext>
              </a:extLst>
            </p:cNvPr>
            <p:cNvGrpSpPr/>
            <p:nvPr/>
          </p:nvGrpSpPr>
          <p:grpSpPr>
            <a:xfrm>
              <a:off x="3802178" y="1563897"/>
              <a:ext cx="1268079" cy="2237224"/>
              <a:chOff x="3802178" y="1563897"/>
              <a:chExt cx="1268079" cy="2237224"/>
            </a:xfrm>
          </p:grpSpPr>
          <p:sp>
            <p:nvSpPr>
              <p:cNvPr id="14" name="Rectangle 13">
                <a:extLst>
                  <a:ext uri="{FF2B5EF4-FFF2-40B4-BE49-F238E27FC236}">
                    <a16:creationId xmlns:a16="http://schemas.microsoft.com/office/drawing/2014/main" id="{E038A680-109D-4AA3-B5AA-50F87299871B}"/>
                  </a:ext>
                </a:extLst>
              </p:cNvPr>
              <p:cNvSpPr/>
              <p:nvPr/>
            </p:nvSpPr>
            <p:spPr>
              <a:xfrm>
                <a:off x="3860800" y="3370997"/>
                <a:ext cx="560636" cy="430124"/>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a:extLst>
                  <a:ext uri="{FF2B5EF4-FFF2-40B4-BE49-F238E27FC236}">
                    <a16:creationId xmlns:a16="http://schemas.microsoft.com/office/drawing/2014/main" id="{B6761201-EBCA-46FD-AAC4-C139ACBED84B}"/>
                  </a:ext>
                </a:extLst>
              </p:cNvPr>
              <p:cNvSpPr/>
              <p:nvPr/>
            </p:nvSpPr>
            <p:spPr>
              <a:xfrm>
                <a:off x="3802178" y="2887150"/>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a:extLst>
                  <a:ext uri="{FF2B5EF4-FFF2-40B4-BE49-F238E27FC236}">
                    <a16:creationId xmlns:a16="http://schemas.microsoft.com/office/drawing/2014/main" id="{FD046131-4BF3-41EA-846E-9872166B51B0}"/>
                  </a:ext>
                </a:extLst>
              </p:cNvPr>
              <p:cNvSpPr/>
              <p:nvPr/>
            </p:nvSpPr>
            <p:spPr>
              <a:xfrm>
                <a:off x="4450999" y="2669434"/>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Rectangle 16">
                <a:extLst>
                  <a:ext uri="{FF2B5EF4-FFF2-40B4-BE49-F238E27FC236}">
                    <a16:creationId xmlns:a16="http://schemas.microsoft.com/office/drawing/2014/main" id="{D0C72C13-87D3-459E-AD65-6E545EDFD9BD}"/>
                  </a:ext>
                </a:extLst>
              </p:cNvPr>
              <p:cNvSpPr/>
              <p:nvPr/>
            </p:nvSpPr>
            <p:spPr>
              <a:xfrm>
                <a:off x="4426734" y="3137245"/>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ectangle 17">
                <a:extLst>
                  <a:ext uri="{FF2B5EF4-FFF2-40B4-BE49-F238E27FC236}">
                    <a16:creationId xmlns:a16="http://schemas.microsoft.com/office/drawing/2014/main" id="{040D8A07-2290-40B4-8C73-FD18B59670C7}"/>
                  </a:ext>
                </a:extLst>
              </p:cNvPr>
              <p:cNvSpPr/>
              <p:nvPr/>
            </p:nvSpPr>
            <p:spPr>
              <a:xfrm>
                <a:off x="4426734" y="2435682"/>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Rectangle 18">
                <a:extLst>
                  <a:ext uri="{FF2B5EF4-FFF2-40B4-BE49-F238E27FC236}">
                    <a16:creationId xmlns:a16="http://schemas.microsoft.com/office/drawing/2014/main" id="{08E27E89-07CB-4B79-A4B5-5098494F0F73}"/>
                  </a:ext>
                </a:extLst>
              </p:cNvPr>
              <p:cNvSpPr/>
              <p:nvPr/>
            </p:nvSpPr>
            <p:spPr>
              <a:xfrm>
                <a:off x="3848550" y="2217813"/>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Rectangle 19">
                <a:extLst>
                  <a:ext uri="{FF2B5EF4-FFF2-40B4-BE49-F238E27FC236}">
                    <a16:creationId xmlns:a16="http://schemas.microsoft.com/office/drawing/2014/main" id="{4F2ADC5F-0820-4CF9-ACA7-396F9C7D62C2}"/>
                  </a:ext>
                </a:extLst>
              </p:cNvPr>
              <p:cNvSpPr/>
              <p:nvPr/>
            </p:nvSpPr>
            <p:spPr>
              <a:xfrm>
                <a:off x="4432097" y="2009350"/>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ectangle 20">
                <a:extLst>
                  <a:ext uri="{FF2B5EF4-FFF2-40B4-BE49-F238E27FC236}">
                    <a16:creationId xmlns:a16="http://schemas.microsoft.com/office/drawing/2014/main" id="{07826B38-6D94-49BC-9FB0-2A77424F2FBC}"/>
                  </a:ext>
                </a:extLst>
              </p:cNvPr>
              <p:cNvSpPr/>
              <p:nvPr/>
            </p:nvSpPr>
            <p:spPr>
              <a:xfrm>
                <a:off x="3844581" y="1774363"/>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Rectangle 21">
                <a:extLst>
                  <a:ext uri="{FF2B5EF4-FFF2-40B4-BE49-F238E27FC236}">
                    <a16:creationId xmlns:a16="http://schemas.microsoft.com/office/drawing/2014/main" id="{7E70EDFD-7D97-4463-8F7C-CDDDAE1BDF6F}"/>
                  </a:ext>
                </a:extLst>
              </p:cNvPr>
              <p:cNvSpPr/>
              <p:nvPr/>
            </p:nvSpPr>
            <p:spPr>
              <a:xfrm>
                <a:off x="3802178" y="1563897"/>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sp>
        <p:nvSpPr>
          <p:cNvPr id="12" name="TextBox 11">
            <a:extLst>
              <a:ext uri="{FF2B5EF4-FFF2-40B4-BE49-F238E27FC236}">
                <a16:creationId xmlns:a16="http://schemas.microsoft.com/office/drawing/2014/main" id="{E7768DC0-53D9-42C6-904C-602DA558CA6A}"/>
              </a:ext>
            </a:extLst>
          </p:cNvPr>
          <p:cNvSpPr txBox="1"/>
          <p:nvPr/>
        </p:nvSpPr>
        <p:spPr>
          <a:xfrm>
            <a:off x="7329758" y="3818756"/>
            <a:ext cx="4550916" cy="1415772"/>
          </a:xfrm>
          <a:prstGeom prst="rect">
            <a:avLst/>
          </a:prstGeom>
          <a:noFill/>
        </p:spPr>
        <p:txBody>
          <a:bodyPr wrap="square" rtlCol="0">
            <a:spAutoFit/>
          </a:bodyPr>
          <a:lstStyle/>
          <a:p>
            <a:r>
              <a:rPr lang="en-GB" dirty="0">
                <a:solidFill>
                  <a:srgbClr val="A41AE4"/>
                </a:solidFill>
              </a:rPr>
              <a:t>SS loadings divided by number of items gives the proportion of variance in the data explained by each factor</a:t>
            </a:r>
          </a:p>
          <a:p>
            <a:r>
              <a:rPr lang="en-GB" sz="1600" dirty="0">
                <a:solidFill>
                  <a:srgbClr val="A41AE4"/>
                </a:solidFill>
              </a:rPr>
              <a:t>e.g., 2.61/10 = 0.26</a:t>
            </a:r>
          </a:p>
          <a:p>
            <a:r>
              <a:rPr lang="en-GB" sz="1600" dirty="0">
                <a:solidFill>
                  <a:srgbClr val="A41AE4"/>
                </a:solidFill>
              </a:rPr>
              <a:t>26% of the total variance is explained by Factor 1</a:t>
            </a:r>
          </a:p>
        </p:txBody>
      </p:sp>
      <p:sp>
        <p:nvSpPr>
          <p:cNvPr id="11" name="Rectangle 10">
            <a:extLst>
              <a:ext uri="{FF2B5EF4-FFF2-40B4-BE49-F238E27FC236}">
                <a16:creationId xmlns:a16="http://schemas.microsoft.com/office/drawing/2014/main" id="{1C7B9257-FBDF-46EF-874C-7F3089725E1E}"/>
              </a:ext>
            </a:extLst>
          </p:cNvPr>
          <p:cNvSpPr/>
          <p:nvPr/>
        </p:nvSpPr>
        <p:spPr>
          <a:xfrm flipV="1">
            <a:off x="5814241" y="4492553"/>
            <a:ext cx="1112287" cy="238796"/>
          </a:xfrm>
          <a:prstGeom prst="rect">
            <a:avLst/>
          </a:prstGeom>
          <a:noFill/>
          <a:ln>
            <a:solidFill>
              <a:srgbClr val="A41A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TextBox 5">
            <a:extLst>
              <a:ext uri="{FF2B5EF4-FFF2-40B4-BE49-F238E27FC236}">
                <a16:creationId xmlns:a16="http://schemas.microsoft.com/office/drawing/2014/main" id="{45649766-D3FE-469C-A3EF-FC72C107E4C3}"/>
              </a:ext>
            </a:extLst>
          </p:cNvPr>
          <p:cNvSpPr txBox="1"/>
          <p:nvPr/>
        </p:nvSpPr>
        <p:spPr>
          <a:xfrm>
            <a:off x="75499" y="-25167"/>
            <a:ext cx="5893501" cy="461665"/>
          </a:xfrm>
          <a:prstGeom prst="rect">
            <a:avLst/>
          </a:prstGeom>
          <a:noFill/>
        </p:spPr>
        <p:txBody>
          <a:bodyPr wrap="square" rtlCol="0">
            <a:spAutoFit/>
          </a:bodyPr>
          <a:lstStyle/>
          <a:p>
            <a:r>
              <a:rPr lang="en-GB" sz="2400" u="sng" dirty="0">
                <a:solidFill>
                  <a:srgbClr val="A41AE4"/>
                </a:solidFill>
              </a:rPr>
              <a:t>SS Loadings &amp; “Variance Accounted For”</a:t>
            </a:r>
          </a:p>
        </p:txBody>
      </p:sp>
    </p:spTree>
    <p:extLst>
      <p:ext uri="{BB962C8B-B14F-4D97-AF65-F5344CB8AC3E}">
        <p14:creationId xmlns:p14="http://schemas.microsoft.com/office/powerpoint/2010/main" val="25539502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2" name="Group 21">
            <a:extLst>
              <a:ext uri="{FF2B5EF4-FFF2-40B4-BE49-F238E27FC236}">
                <a16:creationId xmlns:a16="http://schemas.microsoft.com/office/drawing/2014/main" id="{F389B8C0-5D4B-4C20-99A5-28E131022F2D}"/>
              </a:ext>
            </a:extLst>
          </p:cNvPr>
          <p:cNvGrpSpPr/>
          <p:nvPr/>
        </p:nvGrpSpPr>
        <p:grpSpPr>
          <a:xfrm>
            <a:off x="3290340" y="632993"/>
            <a:ext cx="8878466" cy="6167542"/>
            <a:chOff x="3290340" y="632993"/>
            <a:chExt cx="8878466" cy="6167542"/>
          </a:xfrm>
        </p:grpSpPr>
        <p:pic>
          <p:nvPicPr>
            <p:cNvPr id="23" name="Picture 22">
              <a:extLst>
                <a:ext uri="{FF2B5EF4-FFF2-40B4-BE49-F238E27FC236}">
                  <a16:creationId xmlns:a16="http://schemas.microsoft.com/office/drawing/2014/main" id="{3F996D86-361D-4C7C-8541-1C92492982FF}"/>
                </a:ext>
              </a:extLst>
            </p:cNvPr>
            <p:cNvPicPr>
              <a:picLocks noChangeAspect="1"/>
            </p:cNvPicPr>
            <p:nvPr/>
          </p:nvPicPr>
          <p:blipFill>
            <a:blip r:embed="rId2"/>
            <a:stretch>
              <a:fillRect/>
            </a:stretch>
          </p:blipFill>
          <p:spPr>
            <a:xfrm>
              <a:off x="3299793" y="632993"/>
              <a:ext cx="8869013" cy="6011114"/>
            </a:xfrm>
            <a:prstGeom prst="rect">
              <a:avLst/>
            </a:prstGeom>
          </p:spPr>
        </p:pic>
        <p:pic>
          <p:nvPicPr>
            <p:cNvPr id="24" name="Picture 23">
              <a:extLst>
                <a:ext uri="{FF2B5EF4-FFF2-40B4-BE49-F238E27FC236}">
                  <a16:creationId xmlns:a16="http://schemas.microsoft.com/office/drawing/2014/main" id="{BE904DFD-8267-48ED-9B62-3A923DB3A0B3}"/>
                </a:ext>
              </a:extLst>
            </p:cNvPr>
            <p:cNvPicPr>
              <a:picLocks noChangeAspect="1"/>
            </p:cNvPicPr>
            <p:nvPr/>
          </p:nvPicPr>
          <p:blipFill>
            <a:blip r:embed="rId3"/>
            <a:stretch>
              <a:fillRect/>
            </a:stretch>
          </p:blipFill>
          <p:spPr>
            <a:xfrm>
              <a:off x="3290340" y="6543324"/>
              <a:ext cx="485843" cy="257211"/>
            </a:xfrm>
            <a:prstGeom prst="rect">
              <a:avLst/>
            </a:prstGeom>
          </p:spPr>
        </p:pic>
        <p:grpSp>
          <p:nvGrpSpPr>
            <p:cNvPr id="25" name="Group 24">
              <a:extLst>
                <a:ext uri="{FF2B5EF4-FFF2-40B4-BE49-F238E27FC236}">
                  <a16:creationId xmlns:a16="http://schemas.microsoft.com/office/drawing/2014/main" id="{F5FB0A2C-CC31-450A-B417-9313E095696B}"/>
                </a:ext>
              </a:extLst>
            </p:cNvPr>
            <p:cNvGrpSpPr/>
            <p:nvPr/>
          </p:nvGrpSpPr>
          <p:grpSpPr>
            <a:xfrm>
              <a:off x="3802178" y="1563897"/>
              <a:ext cx="1268079" cy="2237224"/>
              <a:chOff x="3802178" y="1563897"/>
              <a:chExt cx="1268079" cy="2237224"/>
            </a:xfrm>
          </p:grpSpPr>
          <p:sp>
            <p:nvSpPr>
              <p:cNvPr id="26" name="Rectangle 25">
                <a:extLst>
                  <a:ext uri="{FF2B5EF4-FFF2-40B4-BE49-F238E27FC236}">
                    <a16:creationId xmlns:a16="http://schemas.microsoft.com/office/drawing/2014/main" id="{BCE49B32-0C5E-4169-BDB4-A7A89344FBB9}"/>
                  </a:ext>
                </a:extLst>
              </p:cNvPr>
              <p:cNvSpPr/>
              <p:nvPr/>
            </p:nvSpPr>
            <p:spPr>
              <a:xfrm>
                <a:off x="3860800" y="3370997"/>
                <a:ext cx="560636" cy="430124"/>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ectangle 26">
                <a:extLst>
                  <a:ext uri="{FF2B5EF4-FFF2-40B4-BE49-F238E27FC236}">
                    <a16:creationId xmlns:a16="http://schemas.microsoft.com/office/drawing/2014/main" id="{58634DFA-F9DD-45AF-81B5-685E0BA3E51C}"/>
                  </a:ext>
                </a:extLst>
              </p:cNvPr>
              <p:cNvSpPr/>
              <p:nvPr/>
            </p:nvSpPr>
            <p:spPr>
              <a:xfrm>
                <a:off x="3802178" y="2887150"/>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Rectangle 27">
                <a:extLst>
                  <a:ext uri="{FF2B5EF4-FFF2-40B4-BE49-F238E27FC236}">
                    <a16:creationId xmlns:a16="http://schemas.microsoft.com/office/drawing/2014/main" id="{F30F129F-E072-4A0C-9E66-C85C75717CAA}"/>
                  </a:ext>
                </a:extLst>
              </p:cNvPr>
              <p:cNvSpPr/>
              <p:nvPr/>
            </p:nvSpPr>
            <p:spPr>
              <a:xfrm>
                <a:off x="4450999" y="2669434"/>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Rectangle 28">
                <a:extLst>
                  <a:ext uri="{FF2B5EF4-FFF2-40B4-BE49-F238E27FC236}">
                    <a16:creationId xmlns:a16="http://schemas.microsoft.com/office/drawing/2014/main" id="{BA4B31C4-765D-41BD-A63F-C9542B7F4435}"/>
                  </a:ext>
                </a:extLst>
              </p:cNvPr>
              <p:cNvSpPr/>
              <p:nvPr/>
            </p:nvSpPr>
            <p:spPr>
              <a:xfrm>
                <a:off x="4426734" y="3137245"/>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Rectangle 29">
                <a:extLst>
                  <a:ext uri="{FF2B5EF4-FFF2-40B4-BE49-F238E27FC236}">
                    <a16:creationId xmlns:a16="http://schemas.microsoft.com/office/drawing/2014/main" id="{258B23B7-FF52-4C55-A53D-4E1CCC8E87B0}"/>
                  </a:ext>
                </a:extLst>
              </p:cNvPr>
              <p:cNvSpPr/>
              <p:nvPr/>
            </p:nvSpPr>
            <p:spPr>
              <a:xfrm>
                <a:off x="4426734" y="2435682"/>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Rectangle 30">
                <a:extLst>
                  <a:ext uri="{FF2B5EF4-FFF2-40B4-BE49-F238E27FC236}">
                    <a16:creationId xmlns:a16="http://schemas.microsoft.com/office/drawing/2014/main" id="{1E76A57E-EEEA-4C15-9F9F-65E1E30FE199}"/>
                  </a:ext>
                </a:extLst>
              </p:cNvPr>
              <p:cNvSpPr/>
              <p:nvPr/>
            </p:nvSpPr>
            <p:spPr>
              <a:xfrm>
                <a:off x="3848550" y="2217813"/>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Rectangle 31">
                <a:extLst>
                  <a:ext uri="{FF2B5EF4-FFF2-40B4-BE49-F238E27FC236}">
                    <a16:creationId xmlns:a16="http://schemas.microsoft.com/office/drawing/2014/main" id="{AA09C036-6D8F-4819-816A-03590E8E9E73}"/>
                  </a:ext>
                </a:extLst>
              </p:cNvPr>
              <p:cNvSpPr/>
              <p:nvPr/>
            </p:nvSpPr>
            <p:spPr>
              <a:xfrm>
                <a:off x="4432097" y="2009350"/>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Rectangle 32">
                <a:extLst>
                  <a:ext uri="{FF2B5EF4-FFF2-40B4-BE49-F238E27FC236}">
                    <a16:creationId xmlns:a16="http://schemas.microsoft.com/office/drawing/2014/main" id="{475A5E2A-28DD-476A-8A4E-29DDB863CB65}"/>
                  </a:ext>
                </a:extLst>
              </p:cNvPr>
              <p:cNvSpPr/>
              <p:nvPr/>
            </p:nvSpPr>
            <p:spPr>
              <a:xfrm>
                <a:off x="3844581" y="1774363"/>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ectangle 33">
                <a:extLst>
                  <a:ext uri="{FF2B5EF4-FFF2-40B4-BE49-F238E27FC236}">
                    <a16:creationId xmlns:a16="http://schemas.microsoft.com/office/drawing/2014/main" id="{DCD99DED-39F8-4E91-BE55-E20DD68D15EA}"/>
                  </a:ext>
                </a:extLst>
              </p:cNvPr>
              <p:cNvSpPr/>
              <p:nvPr/>
            </p:nvSpPr>
            <p:spPr>
              <a:xfrm>
                <a:off x="3802178" y="1563897"/>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sp>
        <p:nvSpPr>
          <p:cNvPr id="13" name="TextBox 12">
            <a:extLst>
              <a:ext uri="{FF2B5EF4-FFF2-40B4-BE49-F238E27FC236}">
                <a16:creationId xmlns:a16="http://schemas.microsoft.com/office/drawing/2014/main" id="{03CBD6FB-C8E6-421C-B8D7-63487AB7B81B}"/>
              </a:ext>
            </a:extLst>
          </p:cNvPr>
          <p:cNvSpPr txBox="1"/>
          <p:nvPr/>
        </p:nvSpPr>
        <p:spPr>
          <a:xfrm>
            <a:off x="7329758" y="3895699"/>
            <a:ext cx="3973242" cy="1169551"/>
          </a:xfrm>
          <a:prstGeom prst="rect">
            <a:avLst/>
          </a:prstGeom>
          <a:noFill/>
        </p:spPr>
        <p:txBody>
          <a:bodyPr wrap="square" rtlCol="0">
            <a:spAutoFit/>
          </a:bodyPr>
          <a:lstStyle/>
          <a:p>
            <a:r>
              <a:rPr lang="en-GB" dirty="0">
                <a:solidFill>
                  <a:srgbClr val="A41AE4"/>
                </a:solidFill>
              </a:rPr>
              <a:t>Taking each factor sequentially, we can calculate the cumulative variance explained. </a:t>
            </a:r>
          </a:p>
          <a:p>
            <a:r>
              <a:rPr lang="en-GB" sz="1600" dirty="0">
                <a:solidFill>
                  <a:srgbClr val="A41AE4"/>
                </a:solidFill>
              </a:rPr>
              <a:t>e.g., 0.26+0.25 = 0.51</a:t>
            </a:r>
          </a:p>
        </p:txBody>
      </p:sp>
      <p:sp>
        <p:nvSpPr>
          <p:cNvPr id="3" name="Rectangle 2">
            <a:extLst>
              <a:ext uri="{FF2B5EF4-FFF2-40B4-BE49-F238E27FC236}">
                <a16:creationId xmlns:a16="http://schemas.microsoft.com/office/drawing/2014/main" id="{5C0699FC-5F6A-463E-8040-0B41C1910E71}"/>
              </a:ext>
            </a:extLst>
          </p:cNvPr>
          <p:cNvSpPr/>
          <p:nvPr/>
        </p:nvSpPr>
        <p:spPr>
          <a:xfrm flipV="1">
            <a:off x="5814237" y="4721153"/>
            <a:ext cx="1112287" cy="238796"/>
          </a:xfrm>
          <a:prstGeom prst="rect">
            <a:avLst/>
          </a:prstGeom>
          <a:noFill/>
          <a:ln>
            <a:solidFill>
              <a:srgbClr val="A41A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TextBox 5">
            <a:extLst>
              <a:ext uri="{FF2B5EF4-FFF2-40B4-BE49-F238E27FC236}">
                <a16:creationId xmlns:a16="http://schemas.microsoft.com/office/drawing/2014/main" id="{89EA3848-CDA2-4120-9FB3-C7588774A641}"/>
              </a:ext>
            </a:extLst>
          </p:cNvPr>
          <p:cNvSpPr txBox="1"/>
          <p:nvPr/>
        </p:nvSpPr>
        <p:spPr>
          <a:xfrm>
            <a:off x="75499" y="-25167"/>
            <a:ext cx="5893501" cy="461665"/>
          </a:xfrm>
          <a:prstGeom prst="rect">
            <a:avLst/>
          </a:prstGeom>
          <a:noFill/>
        </p:spPr>
        <p:txBody>
          <a:bodyPr wrap="square" rtlCol="0">
            <a:spAutoFit/>
          </a:bodyPr>
          <a:lstStyle/>
          <a:p>
            <a:r>
              <a:rPr lang="en-GB" sz="2400" u="sng" dirty="0">
                <a:solidFill>
                  <a:srgbClr val="A41AE4"/>
                </a:solidFill>
              </a:rPr>
              <a:t>SS Loadings &amp; “Variance Accounted For”</a:t>
            </a:r>
          </a:p>
        </p:txBody>
      </p:sp>
    </p:spTree>
    <p:extLst>
      <p:ext uri="{BB962C8B-B14F-4D97-AF65-F5344CB8AC3E}">
        <p14:creationId xmlns:p14="http://schemas.microsoft.com/office/powerpoint/2010/main" val="11479627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297C8A53-841D-4A15-923B-8B3031C735E7}"/>
              </a:ext>
            </a:extLst>
          </p:cNvPr>
          <p:cNvGrpSpPr/>
          <p:nvPr/>
        </p:nvGrpSpPr>
        <p:grpSpPr>
          <a:xfrm>
            <a:off x="3290340" y="632993"/>
            <a:ext cx="8878466" cy="6167542"/>
            <a:chOff x="3290340" y="632993"/>
            <a:chExt cx="8878466" cy="6167542"/>
          </a:xfrm>
        </p:grpSpPr>
        <p:pic>
          <p:nvPicPr>
            <p:cNvPr id="9" name="Picture 8">
              <a:extLst>
                <a:ext uri="{FF2B5EF4-FFF2-40B4-BE49-F238E27FC236}">
                  <a16:creationId xmlns:a16="http://schemas.microsoft.com/office/drawing/2014/main" id="{7CBC66A6-0A7A-4769-9689-BC7B8FFE9F92}"/>
                </a:ext>
              </a:extLst>
            </p:cNvPr>
            <p:cNvPicPr>
              <a:picLocks noChangeAspect="1"/>
            </p:cNvPicPr>
            <p:nvPr/>
          </p:nvPicPr>
          <p:blipFill>
            <a:blip r:embed="rId2"/>
            <a:stretch>
              <a:fillRect/>
            </a:stretch>
          </p:blipFill>
          <p:spPr>
            <a:xfrm>
              <a:off x="3299793" y="632993"/>
              <a:ext cx="8869013" cy="6011114"/>
            </a:xfrm>
            <a:prstGeom prst="rect">
              <a:avLst/>
            </a:prstGeom>
          </p:spPr>
        </p:pic>
        <p:pic>
          <p:nvPicPr>
            <p:cNvPr id="10" name="Picture 9">
              <a:extLst>
                <a:ext uri="{FF2B5EF4-FFF2-40B4-BE49-F238E27FC236}">
                  <a16:creationId xmlns:a16="http://schemas.microsoft.com/office/drawing/2014/main" id="{419C5B7C-8E94-439E-BA8C-DF582F01001B}"/>
                </a:ext>
              </a:extLst>
            </p:cNvPr>
            <p:cNvPicPr>
              <a:picLocks noChangeAspect="1"/>
            </p:cNvPicPr>
            <p:nvPr/>
          </p:nvPicPr>
          <p:blipFill>
            <a:blip r:embed="rId3"/>
            <a:stretch>
              <a:fillRect/>
            </a:stretch>
          </p:blipFill>
          <p:spPr>
            <a:xfrm>
              <a:off x="3290340" y="6543324"/>
              <a:ext cx="485843" cy="257211"/>
            </a:xfrm>
            <a:prstGeom prst="rect">
              <a:avLst/>
            </a:prstGeom>
          </p:spPr>
        </p:pic>
        <p:grpSp>
          <p:nvGrpSpPr>
            <p:cNvPr id="11" name="Group 10">
              <a:extLst>
                <a:ext uri="{FF2B5EF4-FFF2-40B4-BE49-F238E27FC236}">
                  <a16:creationId xmlns:a16="http://schemas.microsoft.com/office/drawing/2014/main" id="{951A3604-B7D9-42D3-817B-022AE4B99E7E}"/>
                </a:ext>
              </a:extLst>
            </p:cNvPr>
            <p:cNvGrpSpPr/>
            <p:nvPr/>
          </p:nvGrpSpPr>
          <p:grpSpPr>
            <a:xfrm>
              <a:off x="3802178" y="1563897"/>
              <a:ext cx="1268079" cy="2237224"/>
              <a:chOff x="3802178" y="1563897"/>
              <a:chExt cx="1268079" cy="2237224"/>
            </a:xfrm>
          </p:grpSpPr>
          <p:sp>
            <p:nvSpPr>
              <p:cNvPr id="12" name="Rectangle 11">
                <a:extLst>
                  <a:ext uri="{FF2B5EF4-FFF2-40B4-BE49-F238E27FC236}">
                    <a16:creationId xmlns:a16="http://schemas.microsoft.com/office/drawing/2014/main" id="{B792D270-4B67-41D6-8AA3-A3EC83BAF307}"/>
                  </a:ext>
                </a:extLst>
              </p:cNvPr>
              <p:cNvSpPr/>
              <p:nvPr/>
            </p:nvSpPr>
            <p:spPr>
              <a:xfrm>
                <a:off x="3860800" y="3370997"/>
                <a:ext cx="560636" cy="430124"/>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a:extLst>
                  <a:ext uri="{FF2B5EF4-FFF2-40B4-BE49-F238E27FC236}">
                    <a16:creationId xmlns:a16="http://schemas.microsoft.com/office/drawing/2014/main" id="{3CC39F8B-6422-4E16-9DDC-527308BE6A25}"/>
                  </a:ext>
                </a:extLst>
              </p:cNvPr>
              <p:cNvSpPr/>
              <p:nvPr/>
            </p:nvSpPr>
            <p:spPr>
              <a:xfrm>
                <a:off x="3802178" y="2887150"/>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a:extLst>
                  <a:ext uri="{FF2B5EF4-FFF2-40B4-BE49-F238E27FC236}">
                    <a16:creationId xmlns:a16="http://schemas.microsoft.com/office/drawing/2014/main" id="{E2C0402C-61E2-4B65-B9B2-9012ECB2A9DC}"/>
                  </a:ext>
                </a:extLst>
              </p:cNvPr>
              <p:cNvSpPr/>
              <p:nvPr/>
            </p:nvSpPr>
            <p:spPr>
              <a:xfrm>
                <a:off x="4450999" y="2669434"/>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a:extLst>
                  <a:ext uri="{FF2B5EF4-FFF2-40B4-BE49-F238E27FC236}">
                    <a16:creationId xmlns:a16="http://schemas.microsoft.com/office/drawing/2014/main" id="{6C108260-012B-4D4A-B221-93C62F94A75C}"/>
                  </a:ext>
                </a:extLst>
              </p:cNvPr>
              <p:cNvSpPr/>
              <p:nvPr/>
            </p:nvSpPr>
            <p:spPr>
              <a:xfrm>
                <a:off x="4426734" y="3137245"/>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Rectangle 16">
                <a:extLst>
                  <a:ext uri="{FF2B5EF4-FFF2-40B4-BE49-F238E27FC236}">
                    <a16:creationId xmlns:a16="http://schemas.microsoft.com/office/drawing/2014/main" id="{DAF6B916-57B2-4FC9-B44A-011C257117A4}"/>
                  </a:ext>
                </a:extLst>
              </p:cNvPr>
              <p:cNvSpPr/>
              <p:nvPr/>
            </p:nvSpPr>
            <p:spPr>
              <a:xfrm>
                <a:off x="4426734" y="2435682"/>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ectangle 17">
                <a:extLst>
                  <a:ext uri="{FF2B5EF4-FFF2-40B4-BE49-F238E27FC236}">
                    <a16:creationId xmlns:a16="http://schemas.microsoft.com/office/drawing/2014/main" id="{55F826DF-82B2-4213-9B96-7CAE5128DBF5}"/>
                  </a:ext>
                </a:extLst>
              </p:cNvPr>
              <p:cNvSpPr/>
              <p:nvPr/>
            </p:nvSpPr>
            <p:spPr>
              <a:xfrm>
                <a:off x="3848550" y="2217813"/>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Rectangle 18">
                <a:extLst>
                  <a:ext uri="{FF2B5EF4-FFF2-40B4-BE49-F238E27FC236}">
                    <a16:creationId xmlns:a16="http://schemas.microsoft.com/office/drawing/2014/main" id="{F7C45DF1-489E-4EBA-8FB9-03CC867FF733}"/>
                  </a:ext>
                </a:extLst>
              </p:cNvPr>
              <p:cNvSpPr/>
              <p:nvPr/>
            </p:nvSpPr>
            <p:spPr>
              <a:xfrm>
                <a:off x="4432097" y="2009350"/>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Rectangle 19">
                <a:extLst>
                  <a:ext uri="{FF2B5EF4-FFF2-40B4-BE49-F238E27FC236}">
                    <a16:creationId xmlns:a16="http://schemas.microsoft.com/office/drawing/2014/main" id="{1E5D4B63-3617-41BF-9DAB-B903CE3CC056}"/>
                  </a:ext>
                </a:extLst>
              </p:cNvPr>
              <p:cNvSpPr/>
              <p:nvPr/>
            </p:nvSpPr>
            <p:spPr>
              <a:xfrm>
                <a:off x="3844581" y="1774363"/>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ectangle 20">
                <a:extLst>
                  <a:ext uri="{FF2B5EF4-FFF2-40B4-BE49-F238E27FC236}">
                    <a16:creationId xmlns:a16="http://schemas.microsoft.com/office/drawing/2014/main" id="{A6B82A15-C679-4674-95EE-03685024110E}"/>
                  </a:ext>
                </a:extLst>
              </p:cNvPr>
              <p:cNvSpPr/>
              <p:nvPr/>
            </p:nvSpPr>
            <p:spPr>
              <a:xfrm>
                <a:off x="3802178" y="1563897"/>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sp>
        <p:nvSpPr>
          <p:cNvPr id="13" name="TextBox 12">
            <a:extLst>
              <a:ext uri="{FF2B5EF4-FFF2-40B4-BE49-F238E27FC236}">
                <a16:creationId xmlns:a16="http://schemas.microsoft.com/office/drawing/2014/main" id="{03CBD6FB-C8E6-421C-B8D7-63487AB7B81B}"/>
              </a:ext>
            </a:extLst>
          </p:cNvPr>
          <p:cNvSpPr txBox="1"/>
          <p:nvPr/>
        </p:nvSpPr>
        <p:spPr>
          <a:xfrm>
            <a:off x="7329758" y="3895699"/>
            <a:ext cx="3973242" cy="1631216"/>
          </a:xfrm>
          <a:prstGeom prst="rect">
            <a:avLst/>
          </a:prstGeom>
          <a:noFill/>
        </p:spPr>
        <p:txBody>
          <a:bodyPr wrap="square" rtlCol="0">
            <a:spAutoFit/>
          </a:bodyPr>
          <a:lstStyle/>
          <a:p>
            <a:r>
              <a:rPr lang="en-GB" dirty="0">
                <a:solidFill>
                  <a:srgbClr val="A41AE4"/>
                </a:solidFill>
              </a:rPr>
              <a:t>Out of the total variance explained by all factors, we can calculate the proportion of this that is explained by each factor. </a:t>
            </a:r>
          </a:p>
          <a:p>
            <a:r>
              <a:rPr lang="en-GB" sz="1400" dirty="0">
                <a:solidFill>
                  <a:srgbClr val="A41AE4"/>
                </a:solidFill>
              </a:rPr>
              <a:t>e.g., 0.25/0.51 = 0.49</a:t>
            </a:r>
          </a:p>
          <a:p>
            <a:endParaRPr lang="en-GB" sz="1400" dirty="0">
              <a:solidFill>
                <a:srgbClr val="A41AE4"/>
              </a:solidFill>
            </a:endParaRPr>
          </a:p>
          <a:p>
            <a:r>
              <a:rPr lang="en-GB" dirty="0">
                <a:solidFill>
                  <a:srgbClr val="A41AE4"/>
                </a:solidFill>
              </a:rPr>
              <a:t>We can see this cumulatively too</a:t>
            </a:r>
          </a:p>
        </p:txBody>
      </p:sp>
      <p:sp>
        <p:nvSpPr>
          <p:cNvPr id="3" name="Rectangle 2">
            <a:extLst>
              <a:ext uri="{FF2B5EF4-FFF2-40B4-BE49-F238E27FC236}">
                <a16:creationId xmlns:a16="http://schemas.microsoft.com/office/drawing/2014/main" id="{5C0699FC-5F6A-463E-8040-0B41C1910E71}"/>
              </a:ext>
            </a:extLst>
          </p:cNvPr>
          <p:cNvSpPr/>
          <p:nvPr/>
        </p:nvSpPr>
        <p:spPr>
          <a:xfrm flipV="1">
            <a:off x="5814242" y="4947686"/>
            <a:ext cx="1112287" cy="480095"/>
          </a:xfrm>
          <a:prstGeom prst="rect">
            <a:avLst/>
          </a:prstGeom>
          <a:noFill/>
          <a:ln>
            <a:solidFill>
              <a:srgbClr val="A41A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TextBox 5">
            <a:extLst>
              <a:ext uri="{FF2B5EF4-FFF2-40B4-BE49-F238E27FC236}">
                <a16:creationId xmlns:a16="http://schemas.microsoft.com/office/drawing/2014/main" id="{172AD8B4-F980-452B-8509-A29BA1A8D10A}"/>
              </a:ext>
            </a:extLst>
          </p:cNvPr>
          <p:cNvSpPr txBox="1"/>
          <p:nvPr/>
        </p:nvSpPr>
        <p:spPr>
          <a:xfrm>
            <a:off x="75499" y="-25167"/>
            <a:ext cx="5893501" cy="461665"/>
          </a:xfrm>
          <a:prstGeom prst="rect">
            <a:avLst/>
          </a:prstGeom>
          <a:noFill/>
        </p:spPr>
        <p:txBody>
          <a:bodyPr wrap="square" rtlCol="0">
            <a:spAutoFit/>
          </a:bodyPr>
          <a:lstStyle/>
          <a:p>
            <a:r>
              <a:rPr lang="en-GB" sz="2400" u="sng" dirty="0">
                <a:solidFill>
                  <a:srgbClr val="A41AE4"/>
                </a:solidFill>
              </a:rPr>
              <a:t>SS Loadings &amp; “Variance Accounted For”</a:t>
            </a:r>
          </a:p>
        </p:txBody>
      </p:sp>
    </p:spTree>
    <p:extLst>
      <p:ext uri="{BB962C8B-B14F-4D97-AF65-F5344CB8AC3E}">
        <p14:creationId xmlns:p14="http://schemas.microsoft.com/office/powerpoint/2010/main" val="7446286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0AE922BC-F163-478C-B7AD-B22BC1722759}"/>
              </a:ext>
            </a:extLst>
          </p:cNvPr>
          <p:cNvGrpSpPr/>
          <p:nvPr/>
        </p:nvGrpSpPr>
        <p:grpSpPr>
          <a:xfrm>
            <a:off x="3290340" y="632993"/>
            <a:ext cx="8878466" cy="6167542"/>
            <a:chOff x="3290340" y="632993"/>
            <a:chExt cx="8878466" cy="6167542"/>
          </a:xfrm>
        </p:grpSpPr>
        <p:pic>
          <p:nvPicPr>
            <p:cNvPr id="10" name="Picture 9">
              <a:extLst>
                <a:ext uri="{FF2B5EF4-FFF2-40B4-BE49-F238E27FC236}">
                  <a16:creationId xmlns:a16="http://schemas.microsoft.com/office/drawing/2014/main" id="{8BDBDF51-F9E3-4FAA-AA8A-4AD85066B097}"/>
                </a:ext>
              </a:extLst>
            </p:cNvPr>
            <p:cNvPicPr>
              <a:picLocks noChangeAspect="1"/>
            </p:cNvPicPr>
            <p:nvPr/>
          </p:nvPicPr>
          <p:blipFill>
            <a:blip r:embed="rId2"/>
            <a:stretch>
              <a:fillRect/>
            </a:stretch>
          </p:blipFill>
          <p:spPr>
            <a:xfrm>
              <a:off x="3299793" y="632993"/>
              <a:ext cx="8869013" cy="6011114"/>
            </a:xfrm>
            <a:prstGeom prst="rect">
              <a:avLst/>
            </a:prstGeom>
          </p:spPr>
        </p:pic>
        <p:pic>
          <p:nvPicPr>
            <p:cNvPr id="11" name="Picture 10">
              <a:extLst>
                <a:ext uri="{FF2B5EF4-FFF2-40B4-BE49-F238E27FC236}">
                  <a16:creationId xmlns:a16="http://schemas.microsoft.com/office/drawing/2014/main" id="{6CCA3B50-7290-4819-BF45-42516DD79B63}"/>
                </a:ext>
              </a:extLst>
            </p:cNvPr>
            <p:cNvPicPr>
              <a:picLocks noChangeAspect="1"/>
            </p:cNvPicPr>
            <p:nvPr/>
          </p:nvPicPr>
          <p:blipFill>
            <a:blip r:embed="rId3"/>
            <a:stretch>
              <a:fillRect/>
            </a:stretch>
          </p:blipFill>
          <p:spPr>
            <a:xfrm>
              <a:off x="3290340" y="6543324"/>
              <a:ext cx="485843" cy="257211"/>
            </a:xfrm>
            <a:prstGeom prst="rect">
              <a:avLst/>
            </a:prstGeom>
          </p:spPr>
        </p:pic>
        <p:grpSp>
          <p:nvGrpSpPr>
            <p:cNvPr id="12" name="Group 11">
              <a:extLst>
                <a:ext uri="{FF2B5EF4-FFF2-40B4-BE49-F238E27FC236}">
                  <a16:creationId xmlns:a16="http://schemas.microsoft.com/office/drawing/2014/main" id="{E0393110-DE90-4753-9696-5C29E1198812}"/>
                </a:ext>
              </a:extLst>
            </p:cNvPr>
            <p:cNvGrpSpPr/>
            <p:nvPr/>
          </p:nvGrpSpPr>
          <p:grpSpPr>
            <a:xfrm>
              <a:off x="3802178" y="1563897"/>
              <a:ext cx="1268079" cy="2237224"/>
              <a:chOff x="3802178" y="1563897"/>
              <a:chExt cx="1268079" cy="2237224"/>
            </a:xfrm>
          </p:grpSpPr>
          <p:sp>
            <p:nvSpPr>
              <p:cNvPr id="14" name="Rectangle 13">
                <a:extLst>
                  <a:ext uri="{FF2B5EF4-FFF2-40B4-BE49-F238E27FC236}">
                    <a16:creationId xmlns:a16="http://schemas.microsoft.com/office/drawing/2014/main" id="{B5998727-9ACF-4959-AAC4-EAD52DC649D4}"/>
                  </a:ext>
                </a:extLst>
              </p:cNvPr>
              <p:cNvSpPr/>
              <p:nvPr/>
            </p:nvSpPr>
            <p:spPr>
              <a:xfrm>
                <a:off x="3860800" y="3370997"/>
                <a:ext cx="560636" cy="430124"/>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a:extLst>
                  <a:ext uri="{FF2B5EF4-FFF2-40B4-BE49-F238E27FC236}">
                    <a16:creationId xmlns:a16="http://schemas.microsoft.com/office/drawing/2014/main" id="{E42849A9-6E2C-4F3F-823E-4660E1319C15}"/>
                  </a:ext>
                </a:extLst>
              </p:cNvPr>
              <p:cNvSpPr/>
              <p:nvPr/>
            </p:nvSpPr>
            <p:spPr>
              <a:xfrm>
                <a:off x="3802178" y="2887150"/>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a:extLst>
                  <a:ext uri="{FF2B5EF4-FFF2-40B4-BE49-F238E27FC236}">
                    <a16:creationId xmlns:a16="http://schemas.microsoft.com/office/drawing/2014/main" id="{4D741622-0EB0-46A8-80F1-52433ABB5524}"/>
                  </a:ext>
                </a:extLst>
              </p:cNvPr>
              <p:cNvSpPr/>
              <p:nvPr/>
            </p:nvSpPr>
            <p:spPr>
              <a:xfrm>
                <a:off x="4450999" y="2669434"/>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Rectangle 16">
                <a:extLst>
                  <a:ext uri="{FF2B5EF4-FFF2-40B4-BE49-F238E27FC236}">
                    <a16:creationId xmlns:a16="http://schemas.microsoft.com/office/drawing/2014/main" id="{D2959ACB-2B6A-40A3-A885-8D8B6FA4A9D6}"/>
                  </a:ext>
                </a:extLst>
              </p:cNvPr>
              <p:cNvSpPr/>
              <p:nvPr/>
            </p:nvSpPr>
            <p:spPr>
              <a:xfrm>
                <a:off x="4426734" y="3137245"/>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ectangle 17">
                <a:extLst>
                  <a:ext uri="{FF2B5EF4-FFF2-40B4-BE49-F238E27FC236}">
                    <a16:creationId xmlns:a16="http://schemas.microsoft.com/office/drawing/2014/main" id="{F1F22616-9C48-4346-9FBE-E5C96815FFDF}"/>
                  </a:ext>
                </a:extLst>
              </p:cNvPr>
              <p:cNvSpPr/>
              <p:nvPr/>
            </p:nvSpPr>
            <p:spPr>
              <a:xfrm>
                <a:off x="4426734" y="2435682"/>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Rectangle 18">
                <a:extLst>
                  <a:ext uri="{FF2B5EF4-FFF2-40B4-BE49-F238E27FC236}">
                    <a16:creationId xmlns:a16="http://schemas.microsoft.com/office/drawing/2014/main" id="{047EBC76-2540-4CDF-B8C5-C034BA45EEC4}"/>
                  </a:ext>
                </a:extLst>
              </p:cNvPr>
              <p:cNvSpPr/>
              <p:nvPr/>
            </p:nvSpPr>
            <p:spPr>
              <a:xfrm>
                <a:off x="3848550" y="2217813"/>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Rectangle 19">
                <a:extLst>
                  <a:ext uri="{FF2B5EF4-FFF2-40B4-BE49-F238E27FC236}">
                    <a16:creationId xmlns:a16="http://schemas.microsoft.com/office/drawing/2014/main" id="{CC0E010C-2501-4794-8770-6F8965A7B106}"/>
                  </a:ext>
                </a:extLst>
              </p:cNvPr>
              <p:cNvSpPr/>
              <p:nvPr/>
            </p:nvSpPr>
            <p:spPr>
              <a:xfrm>
                <a:off x="4432097" y="2009350"/>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ectangle 20">
                <a:extLst>
                  <a:ext uri="{FF2B5EF4-FFF2-40B4-BE49-F238E27FC236}">
                    <a16:creationId xmlns:a16="http://schemas.microsoft.com/office/drawing/2014/main" id="{3F447BEB-0481-481B-BDBA-C802B4DB4D05}"/>
                  </a:ext>
                </a:extLst>
              </p:cNvPr>
              <p:cNvSpPr/>
              <p:nvPr/>
            </p:nvSpPr>
            <p:spPr>
              <a:xfrm>
                <a:off x="3844581" y="1774363"/>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Rectangle 21">
                <a:extLst>
                  <a:ext uri="{FF2B5EF4-FFF2-40B4-BE49-F238E27FC236}">
                    <a16:creationId xmlns:a16="http://schemas.microsoft.com/office/drawing/2014/main" id="{7FF4C949-7FA2-48D9-9409-89CC952D8AA9}"/>
                  </a:ext>
                </a:extLst>
              </p:cNvPr>
              <p:cNvSpPr/>
              <p:nvPr/>
            </p:nvSpPr>
            <p:spPr>
              <a:xfrm>
                <a:off x="3802178" y="1563897"/>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sp>
        <p:nvSpPr>
          <p:cNvPr id="13" name="TextBox 12">
            <a:extLst>
              <a:ext uri="{FF2B5EF4-FFF2-40B4-BE49-F238E27FC236}">
                <a16:creationId xmlns:a16="http://schemas.microsoft.com/office/drawing/2014/main" id="{03CBD6FB-C8E6-421C-B8D7-63487AB7B81B}"/>
              </a:ext>
            </a:extLst>
          </p:cNvPr>
          <p:cNvSpPr txBox="1"/>
          <p:nvPr/>
        </p:nvSpPr>
        <p:spPr>
          <a:xfrm>
            <a:off x="6946900" y="5318099"/>
            <a:ext cx="4279900" cy="1200329"/>
          </a:xfrm>
          <a:prstGeom prst="rect">
            <a:avLst/>
          </a:prstGeom>
          <a:noFill/>
        </p:spPr>
        <p:txBody>
          <a:bodyPr wrap="square" rtlCol="0">
            <a:spAutoFit/>
          </a:bodyPr>
          <a:lstStyle/>
          <a:p>
            <a:r>
              <a:rPr lang="en-GB" dirty="0">
                <a:solidFill>
                  <a:srgbClr val="A41AE4"/>
                </a:solidFill>
              </a:rPr>
              <a:t>Correlation matrix for the factors. </a:t>
            </a:r>
            <a:br>
              <a:rPr lang="en-GB" dirty="0">
                <a:solidFill>
                  <a:srgbClr val="A41AE4"/>
                </a:solidFill>
              </a:rPr>
            </a:br>
            <a:r>
              <a:rPr lang="en-GB" dirty="0">
                <a:solidFill>
                  <a:srgbClr val="A41AE4"/>
                </a:solidFill>
              </a:rPr>
              <a:t>Only present with oblique rotations. </a:t>
            </a:r>
            <a:br>
              <a:rPr lang="en-GB" dirty="0">
                <a:solidFill>
                  <a:srgbClr val="A41AE4"/>
                </a:solidFill>
              </a:rPr>
            </a:br>
            <a:r>
              <a:rPr lang="en-GB" dirty="0">
                <a:solidFill>
                  <a:srgbClr val="A41AE4"/>
                </a:solidFill>
              </a:rPr>
              <a:t>Shows how related the factors are to one another. </a:t>
            </a:r>
          </a:p>
        </p:txBody>
      </p:sp>
      <p:sp>
        <p:nvSpPr>
          <p:cNvPr id="3" name="Rectangle 2">
            <a:extLst>
              <a:ext uri="{FF2B5EF4-FFF2-40B4-BE49-F238E27FC236}">
                <a16:creationId xmlns:a16="http://schemas.microsoft.com/office/drawing/2014/main" id="{5C0699FC-5F6A-463E-8040-0B41C1910E71}"/>
              </a:ext>
            </a:extLst>
          </p:cNvPr>
          <p:cNvSpPr/>
          <p:nvPr/>
        </p:nvSpPr>
        <p:spPr>
          <a:xfrm flipV="1">
            <a:off x="3746202" y="6092755"/>
            <a:ext cx="1112287" cy="480095"/>
          </a:xfrm>
          <a:prstGeom prst="rect">
            <a:avLst/>
          </a:prstGeom>
          <a:noFill/>
          <a:ln>
            <a:solidFill>
              <a:srgbClr val="A41A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TextBox 6">
            <a:extLst>
              <a:ext uri="{FF2B5EF4-FFF2-40B4-BE49-F238E27FC236}">
                <a16:creationId xmlns:a16="http://schemas.microsoft.com/office/drawing/2014/main" id="{C57D9072-7134-4AC0-902E-236F2B6DC83B}"/>
              </a:ext>
            </a:extLst>
          </p:cNvPr>
          <p:cNvSpPr txBox="1"/>
          <p:nvPr/>
        </p:nvSpPr>
        <p:spPr>
          <a:xfrm>
            <a:off x="75499" y="-25167"/>
            <a:ext cx="5893501" cy="461665"/>
          </a:xfrm>
          <a:prstGeom prst="rect">
            <a:avLst/>
          </a:prstGeom>
          <a:noFill/>
        </p:spPr>
        <p:txBody>
          <a:bodyPr wrap="square" rtlCol="0">
            <a:spAutoFit/>
          </a:bodyPr>
          <a:lstStyle/>
          <a:p>
            <a:r>
              <a:rPr lang="en-GB" sz="2400" u="sng" dirty="0">
                <a:solidFill>
                  <a:srgbClr val="A41AE4"/>
                </a:solidFill>
              </a:rPr>
              <a:t>FACTOR CORRELATIONS</a:t>
            </a:r>
          </a:p>
        </p:txBody>
      </p:sp>
    </p:spTree>
    <p:extLst>
      <p:ext uri="{BB962C8B-B14F-4D97-AF65-F5344CB8AC3E}">
        <p14:creationId xmlns:p14="http://schemas.microsoft.com/office/powerpoint/2010/main" val="417792400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80885F4-F7CF-42B3-8457-466AA0A22C8E}"/>
              </a:ext>
            </a:extLst>
          </p:cNvPr>
          <p:cNvPicPr>
            <a:picLocks noChangeAspect="1"/>
          </p:cNvPicPr>
          <p:nvPr/>
        </p:nvPicPr>
        <p:blipFill>
          <a:blip r:embed="rId2"/>
          <a:stretch>
            <a:fillRect/>
          </a:stretch>
        </p:blipFill>
        <p:spPr>
          <a:xfrm>
            <a:off x="2592851" y="1411119"/>
            <a:ext cx="9459645" cy="4829849"/>
          </a:xfrm>
          <a:prstGeom prst="rect">
            <a:avLst/>
          </a:prstGeom>
        </p:spPr>
      </p:pic>
      <p:pic>
        <p:nvPicPr>
          <p:cNvPr id="6" name="Picture 5">
            <a:extLst>
              <a:ext uri="{FF2B5EF4-FFF2-40B4-BE49-F238E27FC236}">
                <a16:creationId xmlns:a16="http://schemas.microsoft.com/office/drawing/2014/main" id="{651BF6CC-EC6F-4972-B13B-6C4E3756D376}"/>
              </a:ext>
            </a:extLst>
          </p:cNvPr>
          <p:cNvPicPr>
            <a:picLocks noChangeAspect="1"/>
          </p:cNvPicPr>
          <p:nvPr/>
        </p:nvPicPr>
        <p:blipFill>
          <a:blip r:embed="rId3"/>
          <a:stretch>
            <a:fillRect/>
          </a:stretch>
        </p:blipFill>
        <p:spPr>
          <a:xfrm>
            <a:off x="2596067" y="1063552"/>
            <a:ext cx="485843" cy="257211"/>
          </a:xfrm>
          <a:prstGeom prst="rect">
            <a:avLst/>
          </a:prstGeom>
        </p:spPr>
      </p:pic>
      <p:pic>
        <p:nvPicPr>
          <p:cNvPr id="8" name="Picture 7">
            <a:extLst>
              <a:ext uri="{FF2B5EF4-FFF2-40B4-BE49-F238E27FC236}">
                <a16:creationId xmlns:a16="http://schemas.microsoft.com/office/drawing/2014/main" id="{2C9337C7-F99C-4570-97CD-ECB184228A50}"/>
              </a:ext>
            </a:extLst>
          </p:cNvPr>
          <p:cNvPicPr>
            <a:picLocks noChangeAspect="1"/>
          </p:cNvPicPr>
          <p:nvPr/>
        </p:nvPicPr>
        <p:blipFill>
          <a:blip r:embed="rId3"/>
          <a:stretch>
            <a:fillRect/>
          </a:stretch>
        </p:blipFill>
        <p:spPr>
          <a:xfrm>
            <a:off x="2590474" y="806341"/>
            <a:ext cx="485843" cy="257211"/>
          </a:xfrm>
          <a:prstGeom prst="rect">
            <a:avLst/>
          </a:prstGeom>
        </p:spPr>
      </p:pic>
      <p:sp>
        <p:nvSpPr>
          <p:cNvPr id="11" name="TextBox 10">
            <a:extLst>
              <a:ext uri="{FF2B5EF4-FFF2-40B4-BE49-F238E27FC236}">
                <a16:creationId xmlns:a16="http://schemas.microsoft.com/office/drawing/2014/main" id="{9068904B-D767-4458-BBD0-7EF8ACF0F237}"/>
              </a:ext>
            </a:extLst>
          </p:cNvPr>
          <p:cNvSpPr txBox="1"/>
          <p:nvPr/>
        </p:nvSpPr>
        <p:spPr>
          <a:xfrm>
            <a:off x="6223002" y="288615"/>
            <a:ext cx="2474752" cy="646331"/>
          </a:xfrm>
          <a:prstGeom prst="rect">
            <a:avLst/>
          </a:prstGeom>
          <a:noFill/>
        </p:spPr>
        <p:txBody>
          <a:bodyPr wrap="square" rtlCol="0">
            <a:spAutoFit/>
          </a:bodyPr>
          <a:lstStyle/>
          <a:p>
            <a:r>
              <a:rPr lang="en-GB" dirty="0">
                <a:solidFill>
                  <a:srgbClr val="A41AE4"/>
                </a:solidFill>
              </a:rPr>
              <a:t>Mean of the item complexities column</a:t>
            </a:r>
          </a:p>
        </p:txBody>
      </p:sp>
      <p:sp>
        <p:nvSpPr>
          <p:cNvPr id="14" name="Rectangle 13">
            <a:extLst>
              <a:ext uri="{FF2B5EF4-FFF2-40B4-BE49-F238E27FC236}">
                <a16:creationId xmlns:a16="http://schemas.microsoft.com/office/drawing/2014/main" id="{F3C000AE-C10D-4DBB-9780-FBEA8685D021}"/>
              </a:ext>
            </a:extLst>
          </p:cNvPr>
          <p:cNvSpPr/>
          <p:nvPr/>
        </p:nvSpPr>
        <p:spPr>
          <a:xfrm flipV="1">
            <a:off x="2974565" y="3497801"/>
            <a:ext cx="2632103" cy="233827"/>
          </a:xfrm>
          <a:prstGeom prst="rect">
            <a:avLst/>
          </a:prstGeom>
          <a:noFill/>
          <a:ln>
            <a:solidFill>
              <a:srgbClr val="A41A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a:extLst>
              <a:ext uri="{FF2B5EF4-FFF2-40B4-BE49-F238E27FC236}">
                <a16:creationId xmlns:a16="http://schemas.microsoft.com/office/drawing/2014/main" id="{68469787-B4F3-4EEC-811E-E0BEACF33E46}"/>
              </a:ext>
            </a:extLst>
          </p:cNvPr>
          <p:cNvSpPr/>
          <p:nvPr/>
        </p:nvSpPr>
        <p:spPr>
          <a:xfrm flipV="1">
            <a:off x="3076317" y="3754835"/>
            <a:ext cx="2323194" cy="212570"/>
          </a:xfrm>
          <a:prstGeom prst="rect">
            <a:avLst/>
          </a:prstGeom>
          <a:noFill/>
          <a:ln>
            <a:solidFill>
              <a:srgbClr val="A41A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TextBox 15">
            <a:extLst>
              <a:ext uri="{FF2B5EF4-FFF2-40B4-BE49-F238E27FC236}">
                <a16:creationId xmlns:a16="http://schemas.microsoft.com/office/drawing/2014/main" id="{32563F55-C422-4081-9E1A-0857EF27795D}"/>
              </a:ext>
            </a:extLst>
          </p:cNvPr>
          <p:cNvSpPr txBox="1"/>
          <p:nvPr/>
        </p:nvSpPr>
        <p:spPr>
          <a:xfrm>
            <a:off x="75499" y="-25167"/>
            <a:ext cx="5893501" cy="461665"/>
          </a:xfrm>
          <a:prstGeom prst="rect">
            <a:avLst/>
          </a:prstGeom>
          <a:noFill/>
        </p:spPr>
        <p:txBody>
          <a:bodyPr wrap="square" rtlCol="0">
            <a:spAutoFit/>
          </a:bodyPr>
          <a:lstStyle/>
          <a:p>
            <a:r>
              <a:rPr lang="en-GB" sz="2400" u="sng" dirty="0">
                <a:solidFill>
                  <a:srgbClr val="A41AE4"/>
                </a:solidFill>
              </a:rPr>
              <a:t>OPTIONAL EXTRA: GOODNESS OF FIT TEST</a:t>
            </a:r>
          </a:p>
        </p:txBody>
      </p:sp>
      <p:sp>
        <p:nvSpPr>
          <p:cNvPr id="20" name="TextBox 19">
            <a:extLst>
              <a:ext uri="{FF2B5EF4-FFF2-40B4-BE49-F238E27FC236}">
                <a16:creationId xmlns:a16="http://schemas.microsoft.com/office/drawing/2014/main" id="{8B022957-45DA-46FC-91E6-80CDB127CF8A}"/>
              </a:ext>
            </a:extLst>
          </p:cNvPr>
          <p:cNvSpPr txBox="1"/>
          <p:nvPr/>
        </p:nvSpPr>
        <p:spPr>
          <a:xfrm>
            <a:off x="0" y="1003787"/>
            <a:ext cx="2375849" cy="1292662"/>
          </a:xfrm>
          <a:prstGeom prst="rect">
            <a:avLst/>
          </a:prstGeom>
          <a:noFill/>
        </p:spPr>
        <p:txBody>
          <a:bodyPr wrap="square" rtlCol="0">
            <a:spAutoFit/>
          </a:bodyPr>
          <a:lstStyle/>
          <a:p>
            <a:r>
              <a:rPr lang="en-GB" dirty="0">
                <a:solidFill>
                  <a:srgbClr val="A41AE4"/>
                </a:solidFill>
              </a:rPr>
              <a:t>the “null model” is a model that assumes no correlation structure.</a:t>
            </a:r>
            <a:br>
              <a:rPr lang="en-GB" dirty="0">
                <a:solidFill>
                  <a:srgbClr val="A41AE4"/>
                </a:solidFill>
              </a:rPr>
            </a:br>
            <a:r>
              <a:rPr lang="en-GB" sz="1200" dirty="0">
                <a:solidFill>
                  <a:srgbClr val="A41AE4"/>
                </a:solidFill>
              </a:rPr>
              <a:t>df = p * (p-1)/2</a:t>
            </a:r>
          </a:p>
          <a:p>
            <a:r>
              <a:rPr lang="en-GB" sz="1200" dirty="0">
                <a:solidFill>
                  <a:srgbClr val="A41AE4"/>
                </a:solidFill>
              </a:rPr>
              <a:t>p = number of items</a:t>
            </a:r>
          </a:p>
        </p:txBody>
      </p:sp>
      <p:sp>
        <p:nvSpPr>
          <p:cNvPr id="21" name="TextBox 20">
            <a:extLst>
              <a:ext uri="{FF2B5EF4-FFF2-40B4-BE49-F238E27FC236}">
                <a16:creationId xmlns:a16="http://schemas.microsoft.com/office/drawing/2014/main" id="{925CB649-6620-4003-8887-CEDAF337EF8A}"/>
              </a:ext>
            </a:extLst>
          </p:cNvPr>
          <p:cNvSpPr txBox="1"/>
          <p:nvPr/>
        </p:nvSpPr>
        <p:spPr>
          <a:xfrm>
            <a:off x="39681" y="3529206"/>
            <a:ext cx="2354255" cy="1154162"/>
          </a:xfrm>
          <a:prstGeom prst="rect">
            <a:avLst/>
          </a:prstGeom>
          <a:noFill/>
        </p:spPr>
        <p:txBody>
          <a:bodyPr wrap="square" rtlCol="0">
            <a:spAutoFit/>
          </a:bodyPr>
          <a:lstStyle/>
          <a:p>
            <a:r>
              <a:rPr lang="en-GB" dirty="0">
                <a:solidFill>
                  <a:srgbClr val="A41AE4"/>
                </a:solidFill>
              </a:rPr>
              <a:t>our model</a:t>
            </a:r>
            <a:br>
              <a:rPr lang="en-GB" dirty="0">
                <a:solidFill>
                  <a:srgbClr val="A41AE4"/>
                </a:solidFill>
              </a:rPr>
            </a:br>
            <a:r>
              <a:rPr lang="en-GB" sz="1100" dirty="0">
                <a:solidFill>
                  <a:srgbClr val="A41AE4"/>
                </a:solidFill>
              </a:rPr>
              <a:t>df = p * (p-1)/2 - p * </a:t>
            </a:r>
            <a:r>
              <a:rPr lang="en-GB" sz="1100" dirty="0" err="1">
                <a:solidFill>
                  <a:srgbClr val="A41AE4"/>
                </a:solidFill>
              </a:rPr>
              <a:t>nF</a:t>
            </a:r>
            <a:r>
              <a:rPr lang="en-GB" sz="1100" dirty="0">
                <a:solidFill>
                  <a:srgbClr val="A41AE4"/>
                </a:solidFill>
              </a:rPr>
              <a:t> + </a:t>
            </a:r>
            <a:r>
              <a:rPr lang="en-GB" sz="1100" dirty="0" err="1">
                <a:solidFill>
                  <a:srgbClr val="A41AE4"/>
                </a:solidFill>
              </a:rPr>
              <a:t>nF</a:t>
            </a:r>
            <a:r>
              <a:rPr lang="en-GB" sz="1100" dirty="0">
                <a:solidFill>
                  <a:srgbClr val="A41AE4"/>
                </a:solidFill>
              </a:rPr>
              <a:t>*(nF-1)/2</a:t>
            </a:r>
          </a:p>
          <a:p>
            <a:r>
              <a:rPr lang="en-GB" sz="1100" dirty="0">
                <a:solidFill>
                  <a:srgbClr val="A41AE4"/>
                </a:solidFill>
              </a:rPr>
              <a:t>p = number of items</a:t>
            </a:r>
          </a:p>
          <a:p>
            <a:r>
              <a:rPr lang="en-GB" sz="1100" dirty="0" err="1">
                <a:solidFill>
                  <a:srgbClr val="A41AE4"/>
                </a:solidFill>
              </a:rPr>
              <a:t>nF</a:t>
            </a:r>
            <a:r>
              <a:rPr lang="en-GB" sz="1100" dirty="0">
                <a:solidFill>
                  <a:srgbClr val="A41AE4"/>
                </a:solidFill>
              </a:rPr>
              <a:t> = number of factors</a:t>
            </a:r>
          </a:p>
          <a:p>
            <a:endParaRPr lang="en-GB" dirty="0">
              <a:solidFill>
                <a:srgbClr val="A41AE4"/>
              </a:solidFill>
            </a:endParaRPr>
          </a:p>
        </p:txBody>
      </p:sp>
      <p:sp>
        <p:nvSpPr>
          <p:cNvPr id="22" name="Rectangle 21">
            <a:extLst>
              <a:ext uri="{FF2B5EF4-FFF2-40B4-BE49-F238E27FC236}">
                <a16:creationId xmlns:a16="http://schemas.microsoft.com/office/drawing/2014/main" id="{CF4D5F27-8A8C-46EF-9FF2-2D853F0591A2}"/>
              </a:ext>
            </a:extLst>
          </p:cNvPr>
          <p:cNvSpPr/>
          <p:nvPr/>
        </p:nvSpPr>
        <p:spPr>
          <a:xfrm flipV="1">
            <a:off x="6157519" y="3487545"/>
            <a:ext cx="5890501" cy="455663"/>
          </a:xfrm>
          <a:prstGeom prst="rect">
            <a:avLst/>
          </a:prstGeom>
          <a:noFill/>
          <a:ln>
            <a:solidFill>
              <a:srgbClr val="A41A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25" name="Straight Arrow Connector 24">
            <a:extLst>
              <a:ext uri="{FF2B5EF4-FFF2-40B4-BE49-F238E27FC236}">
                <a16:creationId xmlns:a16="http://schemas.microsoft.com/office/drawing/2014/main" id="{3E216FAD-2F17-4EA8-B73C-A3E30E4B98F7}"/>
              </a:ext>
            </a:extLst>
          </p:cNvPr>
          <p:cNvCxnSpPr>
            <a:stCxn id="11" idx="1"/>
          </p:cNvCxnSpPr>
          <p:nvPr/>
        </p:nvCxnSpPr>
        <p:spPr>
          <a:xfrm flipH="1">
            <a:off x="5553512" y="611781"/>
            <a:ext cx="669490" cy="846835"/>
          </a:xfrm>
          <a:prstGeom prst="straightConnector1">
            <a:avLst/>
          </a:prstGeom>
          <a:ln>
            <a:solidFill>
              <a:srgbClr val="A41AE4"/>
            </a:solidFill>
            <a:tailEnd type="triangle"/>
          </a:ln>
        </p:spPr>
        <p:style>
          <a:lnRef idx="1">
            <a:schemeClr val="accent2"/>
          </a:lnRef>
          <a:fillRef idx="0">
            <a:schemeClr val="accent2"/>
          </a:fillRef>
          <a:effectRef idx="0">
            <a:schemeClr val="accent2"/>
          </a:effectRef>
          <a:fontRef idx="minor">
            <a:schemeClr val="tx1"/>
          </a:fontRef>
        </p:style>
      </p:cxnSp>
      <p:cxnSp>
        <p:nvCxnSpPr>
          <p:cNvPr id="29" name="Straight Arrow Connector 28">
            <a:extLst>
              <a:ext uri="{FF2B5EF4-FFF2-40B4-BE49-F238E27FC236}">
                <a16:creationId xmlns:a16="http://schemas.microsoft.com/office/drawing/2014/main" id="{F3982AA1-5AF2-4B09-A267-529395AF77F0}"/>
              </a:ext>
            </a:extLst>
          </p:cNvPr>
          <p:cNvCxnSpPr>
            <a:cxnSpLocks/>
            <a:stCxn id="20" idx="3"/>
          </p:cNvCxnSpPr>
          <p:nvPr/>
        </p:nvCxnSpPr>
        <p:spPr>
          <a:xfrm>
            <a:off x="2375849" y="1650118"/>
            <a:ext cx="1063637" cy="568322"/>
          </a:xfrm>
          <a:prstGeom prst="straightConnector1">
            <a:avLst/>
          </a:prstGeom>
          <a:ln>
            <a:solidFill>
              <a:srgbClr val="A41AE4"/>
            </a:solidFill>
            <a:tailEnd type="triangle"/>
          </a:ln>
        </p:spPr>
        <p:style>
          <a:lnRef idx="1">
            <a:schemeClr val="accent2"/>
          </a:lnRef>
          <a:fillRef idx="0">
            <a:schemeClr val="accent2"/>
          </a:fillRef>
          <a:effectRef idx="0">
            <a:schemeClr val="accent2"/>
          </a:effectRef>
          <a:fontRef idx="minor">
            <a:schemeClr val="tx1"/>
          </a:fontRef>
        </p:style>
      </p:cxnSp>
      <p:sp>
        <p:nvSpPr>
          <p:cNvPr id="35" name="Left Brace 34">
            <a:extLst>
              <a:ext uri="{FF2B5EF4-FFF2-40B4-BE49-F238E27FC236}">
                <a16:creationId xmlns:a16="http://schemas.microsoft.com/office/drawing/2014/main" id="{19B21819-7E61-4751-8221-FA330AEBD416}"/>
              </a:ext>
            </a:extLst>
          </p:cNvPr>
          <p:cNvSpPr/>
          <p:nvPr/>
        </p:nvSpPr>
        <p:spPr>
          <a:xfrm>
            <a:off x="2456885" y="3470327"/>
            <a:ext cx="115722" cy="536675"/>
          </a:xfrm>
          <a:prstGeom prst="leftBrace">
            <a:avLst/>
          </a:prstGeom>
          <a:ln w="12700">
            <a:solidFill>
              <a:srgbClr val="A41AE4"/>
            </a:solidFill>
          </a:ln>
        </p:spPr>
        <p:style>
          <a:lnRef idx="1">
            <a:schemeClr val="accent2"/>
          </a:lnRef>
          <a:fillRef idx="0">
            <a:schemeClr val="accent2"/>
          </a:fillRef>
          <a:effectRef idx="0">
            <a:schemeClr val="accent2"/>
          </a:effectRef>
          <a:fontRef idx="minor">
            <a:schemeClr val="tx1"/>
          </a:fontRef>
        </p:style>
        <p:txBody>
          <a:bodyPr rtlCol="0" anchor="ctr"/>
          <a:lstStyle/>
          <a:p>
            <a:pPr algn="ctr"/>
            <a:endParaRPr lang="en-GB"/>
          </a:p>
        </p:txBody>
      </p:sp>
      <p:cxnSp>
        <p:nvCxnSpPr>
          <p:cNvPr id="37" name="Straight Arrow Connector 36">
            <a:extLst>
              <a:ext uri="{FF2B5EF4-FFF2-40B4-BE49-F238E27FC236}">
                <a16:creationId xmlns:a16="http://schemas.microsoft.com/office/drawing/2014/main" id="{B6093413-7C3A-4F22-BF8A-8ABDED925336}"/>
              </a:ext>
            </a:extLst>
          </p:cNvPr>
          <p:cNvCxnSpPr>
            <a:cxnSpLocks/>
            <a:endCxn id="35" idx="1"/>
          </p:cNvCxnSpPr>
          <p:nvPr/>
        </p:nvCxnSpPr>
        <p:spPr>
          <a:xfrm>
            <a:off x="1142799" y="3731625"/>
            <a:ext cx="1314086" cy="7040"/>
          </a:xfrm>
          <a:prstGeom prst="straightConnector1">
            <a:avLst/>
          </a:prstGeom>
          <a:ln>
            <a:solidFill>
              <a:srgbClr val="A41AE4"/>
            </a:solidFill>
            <a:tailEnd type="triangle"/>
          </a:ln>
        </p:spPr>
        <p:style>
          <a:lnRef idx="1">
            <a:schemeClr val="accent2"/>
          </a:lnRef>
          <a:fillRef idx="0">
            <a:schemeClr val="accent2"/>
          </a:fillRef>
          <a:effectRef idx="0">
            <a:schemeClr val="accent2"/>
          </a:effectRef>
          <a:fontRef idx="minor">
            <a:schemeClr val="tx1"/>
          </a:fontRef>
        </p:style>
      </p:cxnSp>
      <p:sp>
        <p:nvSpPr>
          <p:cNvPr id="42" name="Rectangle 41">
            <a:extLst>
              <a:ext uri="{FF2B5EF4-FFF2-40B4-BE49-F238E27FC236}">
                <a16:creationId xmlns:a16="http://schemas.microsoft.com/office/drawing/2014/main" id="{44A2DB2A-0315-4C39-82F8-DC564F015787}"/>
              </a:ext>
            </a:extLst>
          </p:cNvPr>
          <p:cNvSpPr/>
          <p:nvPr/>
        </p:nvSpPr>
        <p:spPr>
          <a:xfrm>
            <a:off x="2481190" y="4125485"/>
            <a:ext cx="8558722" cy="2464034"/>
          </a:xfrm>
          <a:prstGeom prst="rect">
            <a:avLst/>
          </a:pr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TextBox 17">
            <a:extLst>
              <a:ext uri="{FF2B5EF4-FFF2-40B4-BE49-F238E27FC236}">
                <a16:creationId xmlns:a16="http://schemas.microsoft.com/office/drawing/2014/main" id="{9604DA05-CBAA-42CD-A14E-0B320A71F893}"/>
              </a:ext>
            </a:extLst>
          </p:cNvPr>
          <p:cNvSpPr txBox="1"/>
          <p:nvPr/>
        </p:nvSpPr>
        <p:spPr>
          <a:xfrm>
            <a:off x="935470" y="4841354"/>
            <a:ext cx="2474752" cy="923330"/>
          </a:xfrm>
          <a:prstGeom prst="rect">
            <a:avLst/>
          </a:prstGeom>
          <a:solidFill>
            <a:schemeClr val="bg1">
              <a:alpha val="83137"/>
            </a:schemeClr>
          </a:solidFill>
        </p:spPr>
        <p:txBody>
          <a:bodyPr wrap="square" rtlCol="0">
            <a:spAutoFit/>
          </a:bodyPr>
          <a:lstStyle/>
          <a:p>
            <a:r>
              <a:rPr lang="en-GB" dirty="0">
                <a:solidFill>
                  <a:srgbClr val="A41AE4"/>
                </a:solidFill>
              </a:rPr>
              <a:t>average number of non-missing observations for each pair of items</a:t>
            </a:r>
          </a:p>
        </p:txBody>
      </p:sp>
      <p:sp>
        <p:nvSpPr>
          <p:cNvPr id="19" name="TextBox 18">
            <a:extLst>
              <a:ext uri="{FF2B5EF4-FFF2-40B4-BE49-F238E27FC236}">
                <a16:creationId xmlns:a16="http://schemas.microsoft.com/office/drawing/2014/main" id="{0AFA392B-37DC-4883-8C6D-E3EEE16835D5}"/>
              </a:ext>
            </a:extLst>
          </p:cNvPr>
          <p:cNvSpPr txBox="1"/>
          <p:nvPr/>
        </p:nvSpPr>
        <p:spPr>
          <a:xfrm>
            <a:off x="3000538" y="5818174"/>
            <a:ext cx="2474752" cy="646331"/>
          </a:xfrm>
          <a:prstGeom prst="rect">
            <a:avLst/>
          </a:prstGeom>
          <a:solidFill>
            <a:srgbClr val="FFFFFF"/>
          </a:solidFill>
        </p:spPr>
        <p:txBody>
          <a:bodyPr wrap="square" rtlCol="0">
            <a:spAutoFit/>
          </a:bodyPr>
          <a:lstStyle/>
          <a:p>
            <a:r>
              <a:rPr lang="en-GB" dirty="0">
                <a:solidFill>
                  <a:srgbClr val="A41AE4"/>
                </a:solidFill>
              </a:rPr>
              <a:t>Total number of observations in the data</a:t>
            </a:r>
          </a:p>
        </p:txBody>
      </p:sp>
      <p:cxnSp>
        <p:nvCxnSpPr>
          <p:cNvPr id="44" name="Straight Arrow Connector 43">
            <a:extLst>
              <a:ext uri="{FF2B5EF4-FFF2-40B4-BE49-F238E27FC236}">
                <a16:creationId xmlns:a16="http://schemas.microsoft.com/office/drawing/2014/main" id="{6FBC2B36-1DA4-4DB2-956B-AAF1CEF46168}"/>
              </a:ext>
            </a:extLst>
          </p:cNvPr>
          <p:cNvCxnSpPr>
            <a:cxnSpLocks/>
            <a:stCxn id="18" idx="0"/>
            <a:endCxn id="14" idx="1"/>
          </p:cNvCxnSpPr>
          <p:nvPr/>
        </p:nvCxnSpPr>
        <p:spPr>
          <a:xfrm flipV="1">
            <a:off x="2172846" y="3614714"/>
            <a:ext cx="801719" cy="1226640"/>
          </a:xfrm>
          <a:prstGeom prst="straightConnector1">
            <a:avLst/>
          </a:prstGeom>
          <a:ln>
            <a:solidFill>
              <a:srgbClr val="A41AE4"/>
            </a:solidFill>
            <a:tailEnd type="triangle"/>
          </a:ln>
        </p:spPr>
        <p:style>
          <a:lnRef idx="1">
            <a:schemeClr val="accent2"/>
          </a:lnRef>
          <a:fillRef idx="0">
            <a:schemeClr val="accent2"/>
          </a:fillRef>
          <a:effectRef idx="0">
            <a:schemeClr val="accent2"/>
          </a:effectRef>
          <a:fontRef idx="minor">
            <a:schemeClr val="tx1"/>
          </a:fontRef>
        </p:style>
      </p:cxnSp>
      <p:cxnSp>
        <p:nvCxnSpPr>
          <p:cNvPr id="48" name="Straight Arrow Connector 47">
            <a:extLst>
              <a:ext uri="{FF2B5EF4-FFF2-40B4-BE49-F238E27FC236}">
                <a16:creationId xmlns:a16="http://schemas.microsoft.com/office/drawing/2014/main" id="{BB92E667-3AA6-4AA3-B394-0DC4C05C2E81}"/>
              </a:ext>
            </a:extLst>
          </p:cNvPr>
          <p:cNvCxnSpPr>
            <a:cxnSpLocks/>
            <a:stCxn id="19" idx="0"/>
            <a:endCxn id="15" idx="0"/>
          </p:cNvCxnSpPr>
          <p:nvPr/>
        </p:nvCxnSpPr>
        <p:spPr>
          <a:xfrm flipV="1">
            <a:off x="4237914" y="3967405"/>
            <a:ext cx="0" cy="1850769"/>
          </a:xfrm>
          <a:prstGeom prst="straightConnector1">
            <a:avLst/>
          </a:prstGeom>
          <a:ln>
            <a:solidFill>
              <a:srgbClr val="A41AE4"/>
            </a:solidFill>
            <a:tailEnd type="triangle"/>
          </a:ln>
        </p:spPr>
        <p:style>
          <a:lnRef idx="1">
            <a:schemeClr val="accent2"/>
          </a:lnRef>
          <a:fillRef idx="0">
            <a:schemeClr val="accent2"/>
          </a:fillRef>
          <a:effectRef idx="0">
            <a:schemeClr val="accent2"/>
          </a:effectRef>
          <a:fontRef idx="minor">
            <a:schemeClr val="tx1"/>
          </a:fontRef>
        </p:style>
      </p:cxnSp>
      <p:sp>
        <p:nvSpPr>
          <p:cNvPr id="56" name="TextBox 55">
            <a:extLst>
              <a:ext uri="{FF2B5EF4-FFF2-40B4-BE49-F238E27FC236}">
                <a16:creationId xmlns:a16="http://schemas.microsoft.com/office/drawing/2014/main" id="{CD332A8D-C321-4B6F-B60E-A88045121293}"/>
              </a:ext>
            </a:extLst>
          </p:cNvPr>
          <p:cNvSpPr txBox="1"/>
          <p:nvPr/>
        </p:nvSpPr>
        <p:spPr>
          <a:xfrm>
            <a:off x="5994639" y="4549676"/>
            <a:ext cx="5994352" cy="1938992"/>
          </a:xfrm>
          <a:prstGeom prst="rect">
            <a:avLst/>
          </a:prstGeom>
          <a:solidFill>
            <a:srgbClr val="FFFFFF"/>
          </a:solidFill>
        </p:spPr>
        <p:txBody>
          <a:bodyPr wrap="square" rtlCol="0">
            <a:spAutoFit/>
          </a:bodyPr>
          <a:lstStyle/>
          <a:p>
            <a:r>
              <a:rPr lang="en-GB" sz="1600" dirty="0">
                <a:solidFill>
                  <a:srgbClr val="A41AE4"/>
                </a:solidFill>
              </a:rPr>
              <a:t>Chi-square ‘goodness of fit’ for our model (calculated two ways, see ?</a:t>
            </a:r>
            <a:r>
              <a:rPr lang="en-GB" sz="1600" dirty="0" err="1">
                <a:solidFill>
                  <a:srgbClr val="A41AE4"/>
                </a:solidFill>
              </a:rPr>
              <a:t>factor.stats</a:t>
            </a:r>
            <a:r>
              <a:rPr lang="en-GB" sz="1600" dirty="0">
                <a:solidFill>
                  <a:srgbClr val="A41AE4"/>
                </a:solidFill>
              </a:rPr>
              <a:t> ). </a:t>
            </a:r>
            <a:br>
              <a:rPr lang="en-GB" sz="1600" dirty="0">
                <a:solidFill>
                  <a:srgbClr val="A41AE4"/>
                </a:solidFill>
              </a:rPr>
            </a:br>
            <a:r>
              <a:rPr lang="en-GB" sz="1400" dirty="0">
                <a:solidFill>
                  <a:srgbClr val="A41AE4"/>
                </a:solidFill>
              </a:rPr>
              <a:t>The set of parameters from our model </a:t>
            </a:r>
            <a:r>
              <a:rPr lang="en-GB" sz="1400" i="1" dirty="0">
                <a:solidFill>
                  <a:srgbClr val="A41AE4"/>
                </a:solidFill>
              </a:rPr>
              <a:t>implies </a:t>
            </a:r>
            <a:r>
              <a:rPr lang="en-GB" sz="1400" dirty="0">
                <a:solidFill>
                  <a:srgbClr val="A41AE4"/>
                </a:solidFill>
              </a:rPr>
              <a:t>a correlation matrix, and we have our </a:t>
            </a:r>
            <a:r>
              <a:rPr lang="en-GB" sz="1400" i="1" dirty="0">
                <a:solidFill>
                  <a:srgbClr val="A41AE4"/>
                </a:solidFill>
              </a:rPr>
              <a:t>observed</a:t>
            </a:r>
            <a:r>
              <a:rPr lang="en-GB" sz="1400" dirty="0">
                <a:solidFill>
                  <a:srgbClr val="A41AE4"/>
                </a:solidFill>
              </a:rPr>
              <a:t> matrix. The discrepancy between these is the residual correlation matrix, and it is on this that the Chi-Square statistic is based (think “observed minus expected”). </a:t>
            </a:r>
          </a:p>
          <a:p>
            <a:r>
              <a:rPr lang="en-GB" sz="1600" dirty="0">
                <a:solidFill>
                  <a:srgbClr val="A41AE4"/>
                </a:solidFill>
              </a:rPr>
              <a:t>Lower Chi-Square values are better. A significant Chi-square value indicates possible under-extraction of factors.</a:t>
            </a:r>
          </a:p>
        </p:txBody>
      </p:sp>
      <p:sp>
        <p:nvSpPr>
          <p:cNvPr id="57" name="Rectangle 56">
            <a:extLst>
              <a:ext uri="{FF2B5EF4-FFF2-40B4-BE49-F238E27FC236}">
                <a16:creationId xmlns:a16="http://schemas.microsoft.com/office/drawing/2014/main" id="{BC0E0A10-3CA1-4911-80EA-7F2EC4D41F99}"/>
              </a:ext>
            </a:extLst>
          </p:cNvPr>
          <p:cNvSpPr/>
          <p:nvPr/>
        </p:nvSpPr>
        <p:spPr>
          <a:xfrm>
            <a:off x="2542335" y="2725789"/>
            <a:ext cx="8558722" cy="612199"/>
          </a:xfrm>
          <a:prstGeom prst="rect">
            <a:avLst/>
          </a:pr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31" name="Straight Arrow Connector 30">
            <a:extLst>
              <a:ext uri="{FF2B5EF4-FFF2-40B4-BE49-F238E27FC236}">
                <a16:creationId xmlns:a16="http://schemas.microsoft.com/office/drawing/2014/main" id="{951DFF2D-BD89-4A7B-8F61-4865C43A9409}"/>
              </a:ext>
            </a:extLst>
          </p:cNvPr>
          <p:cNvCxnSpPr>
            <a:cxnSpLocks/>
          </p:cNvCxnSpPr>
          <p:nvPr/>
        </p:nvCxnSpPr>
        <p:spPr>
          <a:xfrm flipV="1">
            <a:off x="1142799" y="2521448"/>
            <a:ext cx="2296687" cy="1197609"/>
          </a:xfrm>
          <a:prstGeom prst="straightConnector1">
            <a:avLst/>
          </a:prstGeom>
          <a:ln>
            <a:solidFill>
              <a:srgbClr val="A41AE4"/>
            </a:solidFill>
            <a:tailEnd type="triangle"/>
          </a:ln>
        </p:spPr>
        <p:style>
          <a:lnRef idx="1">
            <a:schemeClr val="accent2"/>
          </a:lnRef>
          <a:fillRef idx="0">
            <a:schemeClr val="accent2"/>
          </a:fillRef>
          <a:effectRef idx="0">
            <a:schemeClr val="accent2"/>
          </a:effectRef>
          <a:fontRef idx="minor">
            <a:schemeClr val="tx1"/>
          </a:fontRef>
        </p:style>
      </p:cxnSp>
      <p:cxnSp>
        <p:nvCxnSpPr>
          <p:cNvPr id="72" name="Straight Arrow Connector 71">
            <a:extLst>
              <a:ext uri="{FF2B5EF4-FFF2-40B4-BE49-F238E27FC236}">
                <a16:creationId xmlns:a16="http://schemas.microsoft.com/office/drawing/2014/main" id="{E82564B6-2BBF-45D3-B8E3-6508D8E717DC}"/>
              </a:ext>
            </a:extLst>
          </p:cNvPr>
          <p:cNvCxnSpPr>
            <a:cxnSpLocks/>
            <a:stCxn id="56" idx="0"/>
            <a:endCxn id="22" idx="0"/>
          </p:cNvCxnSpPr>
          <p:nvPr/>
        </p:nvCxnSpPr>
        <p:spPr>
          <a:xfrm flipV="1">
            <a:off x="8991815" y="3943208"/>
            <a:ext cx="110955" cy="606468"/>
          </a:xfrm>
          <a:prstGeom prst="straightConnector1">
            <a:avLst/>
          </a:prstGeom>
          <a:ln>
            <a:solidFill>
              <a:srgbClr val="A41AE4"/>
            </a:solidFill>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187954368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294940B0-B85F-4282-991E-1879A00FCB58}"/>
              </a:ext>
            </a:extLst>
          </p:cNvPr>
          <p:cNvPicPr>
            <a:picLocks noChangeAspect="1"/>
          </p:cNvPicPr>
          <p:nvPr/>
        </p:nvPicPr>
        <p:blipFill>
          <a:blip r:embed="rId2"/>
          <a:stretch>
            <a:fillRect/>
          </a:stretch>
        </p:blipFill>
        <p:spPr>
          <a:xfrm>
            <a:off x="2592851" y="1411119"/>
            <a:ext cx="9459645" cy="4829849"/>
          </a:xfrm>
          <a:prstGeom prst="rect">
            <a:avLst/>
          </a:prstGeom>
        </p:spPr>
      </p:pic>
      <p:pic>
        <p:nvPicPr>
          <p:cNvPr id="6" name="Picture 5">
            <a:extLst>
              <a:ext uri="{FF2B5EF4-FFF2-40B4-BE49-F238E27FC236}">
                <a16:creationId xmlns:a16="http://schemas.microsoft.com/office/drawing/2014/main" id="{651BF6CC-EC6F-4972-B13B-6C4E3756D376}"/>
              </a:ext>
            </a:extLst>
          </p:cNvPr>
          <p:cNvPicPr>
            <a:picLocks noChangeAspect="1"/>
          </p:cNvPicPr>
          <p:nvPr/>
        </p:nvPicPr>
        <p:blipFill>
          <a:blip r:embed="rId3"/>
          <a:stretch>
            <a:fillRect/>
          </a:stretch>
        </p:blipFill>
        <p:spPr>
          <a:xfrm>
            <a:off x="2596067" y="1063552"/>
            <a:ext cx="485843" cy="257211"/>
          </a:xfrm>
          <a:prstGeom prst="rect">
            <a:avLst/>
          </a:prstGeom>
        </p:spPr>
      </p:pic>
      <p:pic>
        <p:nvPicPr>
          <p:cNvPr id="8" name="Picture 7">
            <a:extLst>
              <a:ext uri="{FF2B5EF4-FFF2-40B4-BE49-F238E27FC236}">
                <a16:creationId xmlns:a16="http://schemas.microsoft.com/office/drawing/2014/main" id="{2C9337C7-F99C-4570-97CD-ECB184228A50}"/>
              </a:ext>
            </a:extLst>
          </p:cNvPr>
          <p:cNvPicPr>
            <a:picLocks noChangeAspect="1"/>
          </p:cNvPicPr>
          <p:nvPr/>
        </p:nvPicPr>
        <p:blipFill>
          <a:blip r:embed="rId3"/>
          <a:stretch>
            <a:fillRect/>
          </a:stretch>
        </p:blipFill>
        <p:spPr>
          <a:xfrm>
            <a:off x="2590474" y="806341"/>
            <a:ext cx="485843" cy="257211"/>
          </a:xfrm>
          <a:prstGeom prst="rect">
            <a:avLst/>
          </a:prstGeom>
        </p:spPr>
      </p:pic>
      <p:sp>
        <p:nvSpPr>
          <p:cNvPr id="16" name="TextBox 15">
            <a:extLst>
              <a:ext uri="{FF2B5EF4-FFF2-40B4-BE49-F238E27FC236}">
                <a16:creationId xmlns:a16="http://schemas.microsoft.com/office/drawing/2014/main" id="{32563F55-C422-4081-9E1A-0857EF27795D}"/>
              </a:ext>
            </a:extLst>
          </p:cNvPr>
          <p:cNvSpPr txBox="1"/>
          <p:nvPr/>
        </p:nvSpPr>
        <p:spPr>
          <a:xfrm>
            <a:off x="75499" y="-25167"/>
            <a:ext cx="5893501" cy="461665"/>
          </a:xfrm>
          <a:prstGeom prst="rect">
            <a:avLst/>
          </a:prstGeom>
          <a:noFill/>
        </p:spPr>
        <p:txBody>
          <a:bodyPr wrap="square" rtlCol="0">
            <a:spAutoFit/>
          </a:bodyPr>
          <a:lstStyle/>
          <a:p>
            <a:r>
              <a:rPr lang="en-GB" sz="2400" u="sng" dirty="0">
                <a:solidFill>
                  <a:srgbClr val="A41AE4"/>
                </a:solidFill>
              </a:rPr>
              <a:t>OPTIONAL EXTRA: FIT INDICES</a:t>
            </a:r>
          </a:p>
        </p:txBody>
      </p:sp>
      <p:sp>
        <p:nvSpPr>
          <p:cNvPr id="42" name="Rectangle 41">
            <a:extLst>
              <a:ext uri="{FF2B5EF4-FFF2-40B4-BE49-F238E27FC236}">
                <a16:creationId xmlns:a16="http://schemas.microsoft.com/office/drawing/2014/main" id="{44A2DB2A-0315-4C39-82F8-DC564F015787}"/>
              </a:ext>
            </a:extLst>
          </p:cNvPr>
          <p:cNvSpPr/>
          <p:nvPr/>
        </p:nvSpPr>
        <p:spPr>
          <a:xfrm>
            <a:off x="2481190" y="470054"/>
            <a:ext cx="9836174" cy="2269236"/>
          </a:xfrm>
          <a:prstGeom prst="rect">
            <a:avLst/>
          </a:pr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7" name="Rectangle 56">
            <a:extLst>
              <a:ext uri="{FF2B5EF4-FFF2-40B4-BE49-F238E27FC236}">
                <a16:creationId xmlns:a16="http://schemas.microsoft.com/office/drawing/2014/main" id="{BC0E0A10-3CA1-4911-80EA-7F2EC4D41F99}"/>
              </a:ext>
            </a:extLst>
          </p:cNvPr>
          <p:cNvSpPr/>
          <p:nvPr/>
        </p:nvSpPr>
        <p:spPr>
          <a:xfrm>
            <a:off x="2600961" y="3464021"/>
            <a:ext cx="9414594" cy="612199"/>
          </a:xfrm>
          <a:prstGeom prst="rect">
            <a:avLst/>
          </a:pr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TextBox 31">
            <a:extLst>
              <a:ext uri="{FF2B5EF4-FFF2-40B4-BE49-F238E27FC236}">
                <a16:creationId xmlns:a16="http://schemas.microsoft.com/office/drawing/2014/main" id="{2FBFAFE5-EE02-422E-A980-C08FC39AAEB4}"/>
              </a:ext>
            </a:extLst>
          </p:cNvPr>
          <p:cNvSpPr txBox="1"/>
          <p:nvPr/>
        </p:nvSpPr>
        <p:spPr>
          <a:xfrm>
            <a:off x="192945" y="470054"/>
            <a:ext cx="12076279" cy="2246769"/>
          </a:xfrm>
          <a:prstGeom prst="rect">
            <a:avLst/>
          </a:prstGeom>
          <a:solidFill>
            <a:srgbClr val="FFFFFF"/>
          </a:solidFill>
        </p:spPr>
        <p:txBody>
          <a:bodyPr wrap="square" rtlCol="0">
            <a:spAutoFit/>
          </a:bodyPr>
          <a:lstStyle/>
          <a:p>
            <a:r>
              <a:rPr lang="en-GB" sz="1400" b="0" i="0" dirty="0">
                <a:solidFill>
                  <a:srgbClr val="A41AE4"/>
                </a:solidFill>
                <a:effectLst/>
              </a:rPr>
              <a:t>All of thes</a:t>
            </a:r>
            <a:r>
              <a:rPr lang="en-GB" sz="1400" dirty="0">
                <a:solidFill>
                  <a:srgbClr val="A41AE4"/>
                </a:solidFill>
              </a:rPr>
              <a:t>e are essentially measure of how well (or how badly) the model fits to the observed data. They are more conventionally used in confirmatory factor analysis (CFA) and structural equation modelling (SEM), but are printed here too. </a:t>
            </a:r>
          </a:p>
          <a:p>
            <a:endParaRPr lang="en-GB" sz="1400" dirty="0">
              <a:solidFill>
                <a:srgbClr val="A41AE4"/>
              </a:solidFill>
            </a:endParaRPr>
          </a:p>
          <a:p>
            <a:pPr marL="285750" indent="-285750">
              <a:buFontTx/>
              <a:buChar char="-"/>
            </a:pPr>
            <a:r>
              <a:rPr lang="en-GB" sz="1400" dirty="0">
                <a:solidFill>
                  <a:srgbClr val="A41AE4"/>
                </a:solidFill>
              </a:rPr>
              <a:t>We want RMSR to be low (it indicates the average size of the residual correlation)</a:t>
            </a:r>
          </a:p>
          <a:p>
            <a:pPr marL="285750" indent="-285750">
              <a:buFontTx/>
              <a:buChar char="-"/>
            </a:pPr>
            <a:r>
              <a:rPr lang="en-GB" sz="1400" dirty="0">
                <a:solidFill>
                  <a:srgbClr val="A41AE4"/>
                </a:solidFill>
              </a:rPr>
              <a:t>Tucker Lewis Index (TLI) compares the chi-square of our model to that of the null model (adjusted for the df). </a:t>
            </a:r>
            <a:br>
              <a:rPr lang="en-GB" sz="1400" dirty="0">
                <a:solidFill>
                  <a:srgbClr val="A41AE4"/>
                </a:solidFill>
              </a:rPr>
            </a:br>
            <a:r>
              <a:rPr lang="en-GB" sz="1400" dirty="0">
                <a:solidFill>
                  <a:srgbClr val="A41AE4"/>
                </a:solidFill>
              </a:rPr>
              <a:t>It ranges 0 to 1, and we want it to be high. Typical cut-offs used to indicate good fit are &gt;0.9 or &gt;0.95.</a:t>
            </a:r>
          </a:p>
          <a:p>
            <a:pPr marL="285750" indent="-285750">
              <a:buFontTx/>
              <a:buChar char="-"/>
            </a:pPr>
            <a:r>
              <a:rPr lang="en-GB" sz="1400" dirty="0">
                <a:solidFill>
                  <a:srgbClr val="A41AE4"/>
                </a:solidFill>
              </a:rPr>
              <a:t>RMSEA is a measure of how far our model is from a ‘perfect model’. </a:t>
            </a:r>
            <a:br>
              <a:rPr lang="en-GB" sz="1400" dirty="0">
                <a:solidFill>
                  <a:srgbClr val="A41AE4"/>
                </a:solidFill>
              </a:rPr>
            </a:br>
            <a:r>
              <a:rPr lang="en-GB" sz="1400" dirty="0">
                <a:solidFill>
                  <a:srgbClr val="A41AE4"/>
                </a:solidFill>
              </a:rPr>
              <a:t>Lower is better, and typical cut-offs used to indicate good fit are &lt;0.05, &lt;0.08 or &lt;0.1.</a:t>
            </a:r>
          </a:p>
          <a:p>
            <a:pPr marL="285750" indent="-285750">
              <a:buFontTx/>
              <a:buChar char="-"/>
            </a:pPr>
            <a:r>
              <a:rPr lang="en-GB" sz="1400" dirty="0">
                <a:solidFill>
                  <a:srgbClr val="A41AE4"/>
                </a:solidFill>
              </a:rPr>
              <a:t>BIC is only relevant for comparing models</a:t>
            </a:r>
          </a:p>
          <a:p>
            <a:pPr marL="285750" indent="-285750">
              <a:buFontTx/>
              <a:buChar char="-"/>
            </a:pPr>
            <a:endParaRPr lang="en-GB" sz="1400" dirty="0">
              <a:solidFill>
                <a:srgbClr val="A41AE4"/>
              </a:solidFill>
            </a:endParaRPr>
          </a:p>
        </p:txBody>
      </p:sp>
      <p:sp>
        <p:nvSpPr>
          <p:cNvPr id="2" name="Left Brace 1">
            <a:extLst>
              <a:ext uri="{FF2B5EF4-FFF2-40B4-BE49-F238E27FC236}">
                <a16:creationId xmlns:a16="http://schemas.microsoft.com/office/drawing/2014/main" id="{2E1A0CA6-BCA1-4497-BCCD-A741EE3A424C}"/>
              </a:ext>
            </a:extLst>
          </p:cNvPr>
          <p:cNvSpPr/>
          <p:nvPr/>
        </p:nvSpPr>
        <p:spPr>
          <a:xfrm>
            <a:off x="2481190" y="2831569"/>
            <a:ext cx="109284" cy="406582"/>
          </a:xfrm>
          <a:prstGeom prst="leftBrace">
            <a:avLst/>
          </a:prstGeom>
          <a:ln w="12700">
            <a:solidFill>
              <a:srgbClr val="A41AE4"/>
            </a:solidFill>
          </a:ln>
        </p:spPr>
        <p:style>
          <a:lnRef idx="1">
            <a:schemeClr val="accent2"/>
          </a:lnRef>
          <a:fillRef idx="0">
            <a:schemeClr val="accent2"/>
          </a:fillRef>
          <a:effectRef idx="0">
            <a:schemeClr val="accent2"/>
          </a:effectRef>
          <a:fontRef idx="minor">
            <a:schemeClr val="tx1"/>
          </a:fontRef>
        </p:style>
        <p:txBody>
          <a:bodyPr rtlCol="0" anchor="ctr"/>
          <a:lstStyle/>
          <a:p>
            <a:pPr algn="ctr"/>
            <a:endParaRPr lang="en-GB"/>
          </a:p>
        </p:txBody>
      </p:sp>
      <p:sp>
        <p:nvSpPr>
          <p:cNvPr id="33" name="Left Brace 32">
            <a:extLst>
              <a:ext uri="{FF2B5EF4-FFF2-40B4-BE49-F238E27FC236}">
                <a16:creationId xmlns:a16="http://schemas.microsoft.com/office/drawing/2014/main" id="{CE422FC6-D5FE-4A84-B8D5-2499AB181320}"/>
              </a:ext>
            </a:extLst>
          </p:cNvPr>
          <p:cNvSpPr/>
          <p:nvPr/>
        </p:nvSpPr>
        <p:spPr>
          <a:xfrm>
            <a:off x="2481190" y="4185423"/>
            <a:ext cx="109284" cy="696969"/>
          </a:xfrm>
          <a:prstGeom prst="leftBrace">
            <a:avLst/>
          </a:prstGeom>
          <a:ln w="12700">
            <a:solidFill>
              <a:srgbClr val="A41AE4"/>
            </a:solidFill>
          </a:ln>
        </p:spPr>
        <p:style>
          <a:lnRef idx="1">
            <a:schemeClr val="accent2"/>
          </a:lnRef>
          <a:fillRef idx="0">
            <a:schemeClr val="accent2"/>
          </a:fillRef>
          <a:effectRef idx="0">
            <a:schemeClr val="accent2"/>
          </a:effectRef>
          <a:fontRef idx="minor">
            <a:schemeClr val="tx1"/>
          </a:fontRef>
        </p:style>
        <p:txBody>
          <a:bodyPr rtlCol="0" anchor="ctr"/>
          <a:lstStyle/>
          <a:p>
            <a:pPr algn="ctr"/>
            <a:endParaRPr lang="en-GB"/>
          </a:p>
        </p:txBody>
      </p:sp>
      <p:cxnSp>
        <p:nvCxnSpPr>
          <p:cNvPr id="5" name="Connector: Elbow 4">
            <a:extLst>
              <a:ext uri="{FF2B5EF4-FFF2-40B4-BE49-F238E27FC236}">
                <a16:creationId xmlns:a16="http://schemas.microsoft.com/office/drawing/2014/main" id="{CDD6D5FB-896F-43E4-8D3D-0DCE56153A1C}"/>
              </a:ext>
            </a:extLst>
          </p:cNvPr>
          <p:cNvCxnSpPr>
            <a:cxnSpLocks/>
            <a:endCxn id="2" idx="1"/>
          </p:cNvCxnSpPr>
          <p:nvPr/>
        </p:nvCxnSpPr>
        <p:spPr>
          <a:xfrm>
            <a:off x="192945" y="2499919"/>
            <a:ext cx="2288245" cy="534941"/>
          </a:xfrm>
          <a:prstGeom prst="bentConnector3">
            <a:avLst>
              <a:gd name="adj1" fmla="val 141"/>
            </a:avLst>
          </a:prstGeom>
          <a:ln>
            <a:solidFill>
              <a:srgbClr val="A41AE4"/>
            </a:solidFill>
            <a:tailEnd type="triangle"/>
          </a:ln>
        </p:spPr>
        <p:style>
          <a:lnRef idx="1">
            <a:schemeClr val="accent1"/>
          </a:lnRef>
          <a:fillRef idx="0">
            <a:schemeClr val="accent1"/>
          </a:fillRef>
          <a:effectRef idx="0">
            <a:schemeClr val="accent1"/>
          </a:effectRef>
          <a:fontRef idx="minor">
            <a:schemeClr val="tx1"/>
          </a:fontRef>
        </p:style>
      </p:cxnSp>
      <p:cxnSp>
        <p:nvCxnSpPr>
          <p:cNvPr id="38" name="Connector: Elbow 37">
            <a:extLst>
              <a:ext uri="{FF2B5EF4-FFF2-40B4-BE49-F238E27FC236}">
                <a16:creationId xmlns:a16="http://schemas.microsoft.com/office/drawing/2014/main" id="{E40B664C-9DBC-4827-AA2D-6D6AFEED1562}"/>
              </a:ext>
            </a:extLst>
          </p:cNvPr>
          <p:cNvCxnSpPr>
            <a:cxnSpLocks/>
          </p:cNvCxnSpPr>
          <p:nvPr/>
        </p:nvCxnSpPr>
        <p:spPr>
          <a:xfrm>
            <a:off x="192944" y="2625763"/>
            <a:ext cx="2288246" cy="1908144"/>
          </a:xfrm>
          <a:prstGeom prst="bentConnector3">
            <a:avLst>
              <a:gd name="adj1" fmla="val 141"/>
            </a:avLst>
          </a:prstGeom>
          <a:ln>
            <a:solidFill>
              <a:srgbClr val="A41AE4"/>
            </a:solidFill>
            <a:tailEnd type="triangle"/>
          </a:ln>
        </p:spPr>
        <p:style>
          <a:lnRef idx="1">
            <a:schemeClr val="accent1"/>
          </a:lnRef>
          <a:fillRef idx="0">
            <a:schemeClr val="accent1"/>
          </a:fillRef>
          <a:effectRef idx="0">
            <a:schemeClr val="accent1"/>
          </a:effectRef>
          <a:fontRef idx="minor">
            <a:schemeClr val="tx1"/>
          </a:fontRef>
        </p:style>
      </p:cxnSp>
      <p:sp>
        <p:nvSpPr>
          <p:cNvPr id="40" name="Rectangle 39">
            <a:extLst>
              <a:ext uri="{FF2B5EF4-FFF2-40B4-BE49-F238E27FC236}">
                <a16:creationId xmlns:a16="http://schemas.microsoft.com/office/drawing/2014/main" id="{6E12D869-FF42-4236-96DB-F85E7CA1892D}"/>
              </a:ext>
            </a:extLst>
          </p:cNvPr>
          <p:cNvSpPr/>
          <p:nvPr/>
        </p:nvSpPr>
        <p:spPr>
          <a:xfrm>
            <a:off x="2481190" y="5064725"/>
            <a:ext cx="9414594" cy="1624891"/>
          </a:xfrm>
          <a:prstGeom prst="rect">
            <a:avLst/>
          </a:pr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91949267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C4BF880A-CDE6-4F22-804E-F1021C6F9678}"/>
              </a:ext>
            </a:extLst>
          </p:cNvPr>
          <p:cNvPicPr>
            <a:picLocks noChangeAspect="1"/>
          </p:cNvPicPr>
          <p:nvPr/>
        </p:nvPicPr>
        <p:blipFill>
          <a:blip r:embed="rId2"/>
          <a:stretch>
            <a:fillRect/>
          </a:stretch>
        </p:blipFill>
        <p:spPr>
          <a:xfrm>
            <a:off x="2592851" y="1411119"/>
            <a:ext cx="9459645" cy="4829849"/>
          </a:xfrm>
          <a:prstGeom prst="rect">
            <a:avLst/>
          </a:prstGeom>
        </p:spPr>
      </p:pic>
      <p:pic>
        <p:nvPicPr>
          <p:cNvPr id="6" name="Picture 5">
            <a:extLst>
              <a:ext uri="{FF2B5EF4-FFF2-40B4-BE49-F238E27FC236}">
                <a16:creationId xmlns:a16="http://schemas.microsoft.com/office/drawing/2014/main" id="{651BF6CC-EC6F-4972-B13B-6C4E3756D376}"/>
              </a:ext>
            </a:extLst>
          </p:cNvPr>
          <p:cNvPicPr>
            <a:picLocks noChangeAspect="1"/>
          </p:cNvPicPr>
          <p:nvPr/>
        </p:nvPicPr>
        <p:blipFill>
          <a:blip r:embed="rId3"/>
          <a:stretch>
            <a:fillRect/>
          </a:stretch>
        </p:blipFill>
        <p:spPr>
          <a:xfrm>
            <a:off x="2596067" y="1063552"/>
            <a:ext cx="485843" cy="257211"/>
          </a:xfrm>
          <a:prstGeom prst="rect">
            <a:avLst/>
          </a:prstGeom>
        </p:spPr>
      </p:pic>
      <p:pic>
        <p:nvPicPr>
          <p:cNvPr id="8" name="Picture 7">
            <a:extLst>
              <a:ext uri="{FF2B5EF4-FFF2-40B4-BE49-F238E27FC236}">
                <a16:creationId xmlns:a16="http://schemas.microsoft.com/office/drawing/2014/main" id="{2C9337C7-F99C-4570-97CD-ECB184228A50}"/>
              </a:ext>
            </a:extLst>
          </p:cNvPr>
          <p:cNvPicPr>
            <a:picLocks noChangeAspect="1"/>
          </p:cNvPicPr>
          <p:nvPr/>
        </p:nvPicPr>
        <p:blipFill>
          <a:blip r:embed="rId3"/>
          <a:stretch>
            <a:fillRect/>
          </a:stretch>
        </p:blipFill>
        <p:spPr>
          <a:xfrm>
            <a:off x="2590474" y="806341"/>
            <a:ext cx="485843" cy="257211"/>
          </a:xfrm>
          <a:prstGeom prst="rect">
            <a:avLst/>
          </a:prstGeom>
        </p:spPr>
      </p:pic>
      <p:sp>
        <p:nvSpPr>
          <p:cNvPr id="16" name="TextBox 15">
            <a:extLst>
              <a:ext uri="{FF2B5EF4-FFF2-40B4-BE49-F238E27FC236}">
                <a16:creationId xmlns:a16="http://schemas.microsoft.com/office/drawing/2014/main" id="{32563F55-C422-4081-9E1A-0857EF27795D}"/>
              </a:ext>
            </a:extLst>
          </p:cNvPr>
          <p:cNvSpPr txBox="1"/>
          <p:nvPr/>
        </p:nvSpPr>
        <p:spPr>
          <a:xfrm>
            <a:off x="75499" y="-25167"/>
            <a:ext cx="5893501" cy="461665"/>
          </a:xfrm>
          <a:prstGeom prst="rect">
            <a:avLst/>
          </a:prstGeom>
          <a:noFill/>
        </p:spPr>
        <p:txBody>
          <a:bodyPr wrap="square" rtlCol="0">
            <a:spAutoFit/>
          </a:bodyPr>
          <a:lstStyle/>
          <a:p>
            <a:r>
              <a:rPr lang="en-GB" sz="2400" u="sng" dirty="0">
                <a:solidFill>
                  <a:srgbClr val="A41AE4"/>
                </a:solidFill>
              </a:rPr>
              <a:t>OPTIONAL EXTRA: INDETERMINACY INDICES</a:t>
            </a:r>
          </a:p>
        </p:txBody>
      </p:sp>
      <p:sp>
        <p:nvSpPr>
          <p:cNvPr id="42" name="Rectangle 41">
            <a:extLst>
              <a:ext uri="{FF2B5EF4-FFF2-40B4-BE49-F238E27FC236}">
                <a16:creationId xmlns:a16="http://schemas.microsoft.com/office/drawing/2014/main" id="{44A2DB2A-0315-4C39-82F8-DC564F015787}"/>
              </a:ext>
            </a:extLst>
          </p:cNvPr>
          <p:cNvSpPr/>
          <p:nvPr/>
        </p:nvSpPr>
        <p:spPr>
          <a:xfrm>
            <a:off x="2481190" y="470054"/>
            <a:ext cx="9836174" cy="2269236"/>
          </a:xfrm>
          <a:prstGeom prst="rect">
            <a:avLst/>
          </a:pr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Rectangle 39">
            <a:extLst>
              <a:ext uri="{FF2B5EF4-FFF2-40B4-BE49-F238E27FC236}">
                <a16:creationId xmlns:a16="http://schemas.microsoft.com/office/drawing/2014/main" id="{6E12D869-FF42-4236-96DB-F85E7CA1892D}"/>
              </a:ext>
            </a:extLst>
          </p:cNvPr>
          <p:cNvSpPr/>
          <p:nvPr/>
        </p:nvSpPr>
        <p:spPr>
          <a:xfrm>
            <a:off x="2481190" y="3459280"/>
            <a:ext cx="9710810" cy="1658101"/>
          </a:xfrm>
          <a:prstGeom prst="rect">
            <a:avLst/>
          </a:pr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TextBox 31">
            <a:extLst>
              <a:ext uri="{FF2B5EF4-FFF2-40B4-BE49-F238E27FC236}">
                <a16:creationId xmlns:a16="http://schemas.microsoft.com/office/drawing/2014/main" id="{2FBFAFE5-EE02-422E-A980-C08FC39AAEB4}"/>
              </a:ext>
            </a:extLst>
          </p:cNvPr>
          <p:cNvSpPr txBox="1"/>
          <p:nvPr/>
        </p:nvSpPr>
        <p:spPr>
          <a:xfrm>
            <a:off x="192945" y="470054"/>
            <a:ext cx="12076279" cy="3200876"/>
          </a:xfrm>
          <a:prstGeom prst="rect">
            <a:avLst/>
          </a:prstGeom>
          <a:solidFill>
            <a:srgbClr val="FFFFFF"/>
          </a:solidFill>
        </p:spPr>
        <p:txBody>
          <a:bodyPr wrap="square" rtlCol="0">
            <a:spAutoFit/>
          </a:bodyPr>
          <a:lstStyle/>
          <a:p>
            <a:r>
              <a:rPr lang="en-GB" sz="1600" dirty="0">
                <a:solidFill>
                  <a:srgbClr val="A41AE4"/>
                </a:solidFill>
              </a:rPr>
              <a:t>“Factor score indeterminacy”: there are an infinite number of pairs of factor loadings and factor score matrices which will fit the data equally well, and are thus indistinguishable by any numeric criteria, so there are infinite number of sets of factor scores that are consistent with a given set of loadings.</a:t>
            </a:r>
          </a:p>
          <a:p>
            <a:endParaRPr lang="en-GB" sz="1400" dirty="0">
              <a:solidFill>
                <a:srgbClr val="A41AE4"/>
              </a:solidFill>
            </a:endParaRPr>
          </a:p>
          <a:p>
            <a:endParaRPr lang="en-GB" sz="1400" dirty="0">
              <a:solidFill>
                <a:srgbClr val="A41AE4"/>
              </a:solidFill>
            </a:endParaRPr>
          </a:p>
          <a:p>
            <a:r>
              <a:rPr lang="en-GB" sz="1400" dirty="0">
                <a:solidFill>
                  <a:srgbClr val="A41AE4"/>
                </a:solidFill>
              </a:rPr>
              <a:t>Multiple R square of scores with factors</a:t>
            </a:r>
            <a:br>
              <a:rPr lang="en-GB" sz="1400" dirty="0">
                <a:solidFill>
                  <a:srgbClr val="A41AE4"/>
                </a:solidFill>
              </a:rPr>
            </a:br>
            <a:r>
              <a:rPr lang="en-GB" sz="1400" dirty="0">
                <a:solidFill>
                  <a:srgbClr val="A41AE4"/>
                </a:solidFill>
              </a:rPr>
              <a:t>“The multiple R</a:t>
            </a:r>
            <a:r>
              <a:rPr lang="en-GB" sz="1400" baseline="30000" dirty="0">
                <a:solidFill>
                  <a:srgbClr val="A41AE4"/>
                </a:solidFill>
              </a:rPr>
              <a:t>2</a:t>
            </a:r>
            <a:r>
              <a:rPr lang="en-GB" sz="1400" dirty="0">
                <a:solidFill>
                  <a:srgbClr val="A41AE4"/>
                </a:solidFill>
              </a:rPr>
              <a:t> between the factors and factor score estimates, if they were to be found." (Grice, 2001). This is a little bit like the R</a:t>
            </a:r>
            <a:r>
              <a:rPr lang="en-GB" sz="1400" baseline="30000" dirty="0">
                <a:solidFill>
                  <a:srgbClr val="A41AE4"/>
                </a:solidFill>
              </a:rPr>
              <a:t>2</a:t>
            </a:r>
            <a:r>
              <a:rPr lang="en-GB" sz="1400" dirty="0">
                <a:solidFill>
                  <a:srgbClr val="A41AE4"/>
                </a:solidFill>
              </a:rPr>
              <a:t> for a regression model of the items predicting the estimated factor score. If we could perfectly predict factor scores from items, then it would be 1. </a:t>
            </a:r>
            <a:br>
              <a:rPr lang="en-GB" sz="1400" dirty="0">
                <a:solidFill>
                  <a:srgbClr val="A41AE4"/>
                </a:solidFill>
              </a:rPr>
            </a:br>
            <a:endParaRPr lang="en-GB" sz="1400" dirty="0">
              <a:solidFill>
                <a:srgbClr val="A41AE4"/>
              </a:solidFill>
            </a:endParaRPr>
          </a:p>
          <a:p>
            <a:r>
              <a:rPr lang="en-GB" sz="1400" dirty="0">
                <a:solidFill>
                  <a:srgbClr val="A41AE4"/>
                </a:solidFill>
              </a:rPr>
              <a:t>	Correlation of (regression) scores with factors</a:t>
            </a:r>
            <a:br>
              <a:rPr lang="en-GB" sz="1400" dirty="0">
                <a:solidFill>
                  <a:srgbClr val="A41AE4"/>
                </a:solidFill>
              </a:rPr>
            </a:br>
            <a:r>
              <a:rPr lang="en-GB" sz="1400" dirty="0">
                <a:solidFill>
                  <a:srgbClr val="A41AE4"/>
                </a:solidFill>
              </a:rPr>
              <a:t>	This just the square root of the multiple R</a:t>
            </a:r>
            <a:r>
              <a:rPr lang="en-GB" sz="1400" baseline="30000" dirty="0">
                <a:solidFill>
                  <a:srgbClr val="A41AE4"/>
                </a:solidFill>
              </a:rPr>
              <a:t>2</a:t>
            </a:r>
            <a:r>
              <a:rPr lang="en-GB" sz="1400" dirty="0">
                <a:solidFill>
                  <a:srgbClr val="A41AE4"/>
                </a:solidFill>
              </a:rPr>
              <a:t>.</a:t>
            </a:r>
            <a:br>
              <a:rPr lang="en-GB" sz="1400" dirty="0">
                <a:solidFill>
                  <a:srgbClr val="A41AE4"/>
                </a:solidFill>
              </a:rPr>
            </a:br>
            <a:endParaRPr lang="en-GB" sz="1400" dirty="0">
              <a:solidFill>
                <a:srgbClr val="A41AE4"/>
              </a:solidFill>
            </a:endParaRPr>
          </a:p>
          <a:p>
            <a:r>
              <a:rPr lang="en-GB" sz="1400" dirty="0">
                <a:solidFill>
                  <a:srgbClr val="A41AE4"/>
                </a:solidFill>
              </a:rPr>
              <a:t>		Minimum correlation of possible factor scores</a:t>
            </a:r>
            <a:br>
              <a:rPr lang="en-GB" sz="1400" dirty="0">
                <a:solidFill>
                  <a:srgbClr val="A41AE4"/>
                </a:solidFill>
              </a:rPr>
            </a:br>
            <a:r>
              <a:rPr lang="en-GB" sz="1400" dirty="0">
                <a:solidFill>
                  <a:srgbClr val="A41AE4"/>
                </a:solidFill>
              </a:rPr>
              <a:t>		This is 2 x R</a:t>
            </a:r>
            <a:r>
              <a:rPr lang="en-GB" sz="1400" baseline="30000" dirty="0">
                <a:solidFill>
                  <a:srgbClr val="A41AE4"/>
                </a:solidFill>
              </a:rPr>
              <a:t>2</a:t>
            </a:r>
            <a:r>
              <a:rPr lang="en-GB" sz="1400" dirty="0">
                <a:solidFill>
                  <a:srgbClr val="A41AE4"/>
                </a:solidFill>
              </a:rPr>
              <a:t> – 1, so essentially the R</a:t>
            </a:r>
            <a:r>
              <a:rPr lang="en-GB" sz="1400" baseline="30000" dirty="0">
                <a:solidFill>
                  <a:srgbClr val="A41AE4"/>
                </a:solidFill>
              </a:rPr>
              <a:t>2</a:t>
            </a:r>
            <a:r>
              <a:rPr lang="en-GB" sz="1400" dirty="0">
                <a:solidFill>
                  <a:srgbClr val="A41AE4"/>
                </a:solidFill>
              </a:rPr>
              <a:t> but transformed to be between -1 and 1.  </a:t>
            </a:r>
          </a:p>
        </p:txBody>
      </p:sp>
      <p:cxnSp>
        <p:nvCxnSpPr>
          <p:cNvPr id="11" name="Connector: Elbow 10">
            <a:extLst>
              <a:ext uri="{FF2B5EF4-FFF2-40B4-BE49-F238E27FC236}">
                <a16:creationId xmlns:a16="http://schemas.microsoft.com/office/drawing/2014/main" id="{C6FA8AD9-31FB-471C-9068-AC7007070E4E}"/>
              </a:ext>
            </a:extLst>
          </p:cNvPr>
          <p:cNvCxnSpPr>
            <a:cxnSpLocks/>
          </p:cNvCxnSpPr>
          <p:nvPr/>
        </p:nvCxnSpPr>
        <p:spPr>
          <a:xfrm rot="16200000" flipH="1">
            <a:off x="-610795" y="2823039"/>
            <a:ext cx="3895725" cy="2288246"/>
          </a:xfrm>
          <a:prstGeom prst="bentConnector3">
            <a:avLst>
              <a:gd name="adj1" fmla="val 99978"/>
            </a:avLst>
          </a:prstGeom>
          <a:ln>
            <a:solidFill>
              <a:srgbClr val="A41AE4"/>
            </a:solidFill>
            <a:tailEnd type="triangle"/>
          </a:ln>
        </p:spPr>
        <p:style>
          <a:lnRef idx="1">
            <a:schemeClr val="accent1"/>
          </a:lnRef>
          <a:fillRef idx="0">
            <a:schemeClr val="accent1"/>
          </a:fillRef>
          <a:effectRef idx="0">
            <a:schemeClr val="accent1"/>
          </a:effectRef>
          <a:fontRef idx="minor">
            <a:schemeClr val="tx1"/>
          </a:fontRef>
        </p:style>
      </p:cxnSp>
      <p:cxnSp>
        <p:nvCxnSpPr>
          <p:cNvPr id="34" name="Connector: Elbow 33">
            <a:extLst>
              <a:ext uri="{FF2B5EF4-FFF2-40B4-BE49-F238E27FC236}">
                <a16:creationId xmlns:a16="http://schemas.microsoft.com/office/drawing/2014/main" id="{608DDC35-1EA9-478A-8910-B8F2A477ECE1}"/>
              </a:ext>
            </a:extLst>
          </p:cNvPr>
          <p:cNvCxnSpPr>
            <a:cxnSpLocks/>
          </p:cNvCxnSpPr>
          <p:nvPr/>
        </p:nvCxnSpPr>
        <p:spPr>
          <a:xfrm rot="16200000" flipH="1">
            <a:off x="886739" y="4544967"/>
            <a:ext cx="2705742" cy="473812"/>
          </a:xfrm>
          <a:prstGeom prst="bentConnector3">
            <a:avLst>
              <a:gd name="adj1" fmla="val 99967"/>
            </a:avLst>
          </a:prstGeom>
          <a:ln>
            <a:solidFill>
              <a:srgbClr val="A41AE4"/>
            </a:solidFill>
            <a:tailEnd type="triangle"/>
          </a:ln>
        </p:spPr>
        <p:style>
          <a:lnRef idx="1">
            <a:schemeClr val="accent1"/>
          </a:lnRef>
          <a:fillRef idx="0">
            <a:schemeClr val="accent1"/>
          </a:fillRef>
          <a:effectRef idx="0">
            <a:schemeClr val="accent1"/>
          </a:effectRef>
          <a:fontRef idx="minor">
            <a:schemeClr val="tx1"/>
          </a:fontRef>
        </p:style>
      </p:cxnSp>
      <p:cxnSp>
        <p:nvCxnSpPr>
          <p:cNvPr id="36" name="Connector: Elbow 35">
            <a:extLst>
              <a:ext uri="{FF2B5EF4-FFF2-40B4-BE49-F238E27FC236}">
                <a16:creationId xmlns:a16="http://schemas.microsoft.com/office/drawing/2014/main" id="{B0C3AE35-ABF1-4788-893E-2E094A371808}"/>
              </a:ext>
            </a:extLst>
          </p:cNvPr>
          <p:cNvCxnSpPr>
            <a:cxnSpLocks/>
          </p:cNvCxnSpPr>
          <p:nvPr/>
        </p:nvCxnSpPr>
        <p:spPr>
          <a:xfrm rot="16200000" flipH="1">
            <a:off x="331516" y="3540957"/>
            <a:ext cx="2947601" cy="1344266"/>
          </a:xfrm>
          <a:prstGeom prst="bentConnector3">
            <a:avLst>
              <a:gd name="adj1" fmla="val 100054"/>
            </a:avLst>
          </a:prstGeom>
          <a:ln>
            <a:solidFill>
              <a:srgbClr val="A41AE4"/>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9515639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002038A8-B144-43A7-A8F7-51A6EE9099D3}"/>
              </a:ext>
            </a:extLst>
          </p:cNvPr>
          <p:cNvSpPr txBox="1"/>
          <p:nvPr/>
        </p:nvSpPr>
        <p:spPr>
          <a:xfrm>
            <a:off x="226502" y="260059"/>
            <a:ext cx="9102055" cy="5262979"/>
          </a:xfrm>
          <a:prstGeom prst="rect">
            <a:avLst/>
          </a:prstGeom>
          <a:noFill/>
        </p:spPr>
        <p:txBody>
          <a:bodyPr wrap="square" rtlCol="0">
            <a:spAutoFit/>
          </a:bodyPr>
          <a:lstStyle/>
          <a:p>
            <a:r>
              <a:rPr lang="en-GB" sz="1200" dirty="0" err="1"/>
              <a:t>set.seed</a:t>
            </a:r>
            <a:r>
              <a:rPr lang="en-GB" sz="1200" dirty="0"/>
              <a:t>(533)</a:t>
            </a:r>
          </a:p>
          <a:p>
            <a:r>
              <a:rPr lang="en-GB" sz="1200" dirty="0" err="1"/>
              <a:t>makeitems</a:t>
            </a:r>
            <a:r>
              <a:rPr lang="en-GB" sz="1200" dirty="0"/>
              <a:t> &lt;- function(){</a:t>
            </a:r>
          </a:p>
          <a:p>
            <a:r>
              <a:rPr lang="en-GB" sz="1200" dirty="0"/>
              <a:t>  S = </a:t>
            </a:r>
            <a:r>
              <a:rPr lang="en-GB" sz="1200" dirty="0" err="1"/>
              <a:t>runif</a:t>
            </a:r>
            <a:r>
              <a:rPr lang="en-GB" sz="1200" dirty="0"/>
              <a:t>(5,.4,2)</a:t>
            </a:r>
          </a:p>
          <a:p>
            <a:r>
              <a:rPr lang="en-GB" sz="1200" dirty="0"/>
              <a:t>  f = </a:t>
            </a:r>
            <a:r>
              <a:rPr lang="en-GB" sz="1200" dirty="0" err="1"/>
              <a:t>runif</a:t>
            </a:r>
            <a:r>
              <a:rPr lang="en-GB" sz="1200" dirty="0"/>
              <a:t>(5,.4,.99)</a:t>
            </a:r>
          </a:p>
          <a:p>
            <a:r>
              <a:rPr lang="en-GB" sz="1200" dirty="0"/>
              <a:t>  R = f %*% t(f)</a:t>
            </a:r>
          </a:p>
          <a:p>
            <a:r>
              <a:rPr lang="en-GB" sz="1200" dirty="0"/>
              <a:t>  </a:t>
            </a:r>
            <a:r>
              <a:rPr lang="en-GB" sz="1200" dirty="0" err="1"/>
              <a:t>diag</a:t>
            </a:r>
            <a:r>
              <a:rPr lang="en-GB" sz="1200" dirty="0"/>
              <a:t>(R) = 1</a:t>
            </a:r>
          </a:p>
          <a:p>
            <a:r>
              <a:rPr lang="en-GB" sz="1200" dirty="0"/>
              <a:t>  items = round(MASS::</a:t>
            </a:r>
            <a:r>
              <a:rPr lang="en-GB" sz="1200" dirty="0" err="1"/>
              <a:t>mvrnorm</a:t>
            </a:r>
            <a:r>
              <a:rPr lang="en-GB" sz="1200" dirty="0"/>
              <a:t>(400, mu = </a:t>
            </a:r>
            <a:r>
              <a:rPr lang="en-GB" sz="1200" dirty="0" err="1"/>
              <a:t>rnorm</a:t>
            </a:r>
            <a:r>
              <a:rPr lang="en-GB" sz="1200" dirty="0"/>
              <a:t>(5,3,.6), Sigma=</a:t>
            </a:r>
            <a:r>
              <a:rPr lang="en-GB" sz="1200" dirty="0" err="1"/>
              <a:t>diag</a:t>
            </a:r>
            <a:r>
              <a:rPr lang="en-GB" sz="1200" dirty="0"/>
              <a:t>(S)%*%R%*%</a:t>
            </a:r>
            <a:r>
              <a:rPr lang="en-GB" sz="1200" dirty="0" err="1"/>
              <a:t>diag</a:t>
            </a:r>
            <a:r>
              <a:rPr lang="en-GB" sz="1200" dirty="0"/>
              <a:t>(S)))</a:t>
            </a:r>
          </a:p>
          <a:p>
            <a:r>
              <a:rPr lang="en-GB" sz="1200" dirty="0"/>
              <a:t>  apply(items, 2, function(x) </a:t>
            </a:r>
            <a:r>
              <a:rPr lang="en-GB" sz="1200" dirty="0" err="1"/>
              <a:t>pmin</a:t>
            </a:r>
            <a:r>
              <a:rPr lang="en-GB" sz="1200" dirty="0"/>
              <a:t>(7,pmax(1,x)))</a:t>
            </a:r>
          </a:p>
          <a:p>
            <a:r>
              <a:rPr lang="en-GB" sz="1200" dirty="0"/>
              <a:t>}</a:t>
            </a:r>
          </a:p>
          <a:p>
            <a:r>
              <a:rPr lang="en-GB" sz="1200" dirty="0" err="1"/>
              <a:t>eg_data</a:t>
            </a:r>
            <a:r>
              <a:rPr lang="en-GB" sz="1200" dirty="0"/>
              <a:t> = </a:t>
            </a:r>
            <a:r>
              <a:rPr lang="en-GB" sz="1200" dirty="0" err="1"/>
              <a:t>do.call</a:t>
            </a:r>
            <a:r>
              <a:rPr lang="en-GB" sz="1200" dirty="0"/>
              <a:t>(</a:t>
            </a:r>
            <a:r>
              <a:rPr lang="en-GB" sz="1200" dirty="0" err="1"/>
              <a:t>cbind,lapply</a:t>
            </a:r>
            <a:r>
              <a:rPr lang="en-GB" sz="1200" dirty="0"/>
              <a:t>(1:2, function(x) </a:t>
            </a:r>
            <a:r>
              <a:rPr lang="en-GB" sz="1200" dirty="0" err="1"/>
              <a:t>makeitems</a:t>
            </a:r>
            <a:r>
              <a:rPr lang="en-GB" sz="1200" dirty="0"/>
              <a:t>()))</a:t>
            </a:r>
          </a:p>
          <a:p>
            <a:r>
              <a:rPr lang="en-GB" sz="1200" dirty="0" err="1"/>
              <a:t>eg_data</a:t>
            </a:r>
            <a:r>
              <a:rPr lang="en-GB" sz="1200" dirty="0"/>
              <a:t>[,5] &lt;- round(</a:t>
            </a:r>
            <a:r>
              <a:rPr lang="en-GB" sz="1200" dirty="0" err="1"/>
              <a:t>rowMeans</a:t>
            </a:r>
            <a:r>
              <a:rPr lang="en-GB" sz="1200" dirty="0"/>
              <a:t>(</a:t>
            </a:r>
            <a:r>
              <a:rPr lang="en-GB" sz="1200" dirty="0" err="1"/>
              <a:t>eg_data</a:t>
            </a:r>
            <a:r>
              <a:rPr lang="en-GB" sz="1200" dirty="0"/>
              <a:t>[,c(5,10)]))</a:t>
            </a:r>
          </a:p>
          <a:p>
            <a:r>
              <a:rPr lang="en-GB" sz="1200" dirty="0" err="1"/>
              <a:t>eg_data</a:t>
            </a:r>
            <a:r>
              <a:rPr lang="en-GB" sz="1200" dirty="0"/>
              <a:t> &lt;- </a:t>
            </a:r>
            <a:r>
              <a:rPr lang="en-GB" sz="1200" dirty="0" err="1"/>
              <a:t>eg_data</a:t>
            </a:r>
            <a:r>
              <a:rPr lang="en-GB" sz="1200" dirty="0"/>
              <a:t>[,-10]</a:t>
            </a:r>
          </a:p>
          <a:p>
            <a:r>
              <a:rPr lang="en-GB" sz="1200" dirty="0" err="1"/>
              <a:t>eg_data</a:t>
            </a:r>
            <a:r>
              <a:rPr lang="en-GB" sz="1200" dirty="0"/>
              <a:t>[,1] &lt;- max(</a:t>
            </a:r>
            <a:r>
              <a:rPr lang="en-GB" sz="1200" dirty="0" err="1"/>
              <a:t>eg_data</a:t>
            </a:r>
            <a:r>
              <a:rPr lang="en-GB" sz="1200" dirty="0"/>
              <a:t>[,1]) - </a:t>
            </a:r>
            <a:r>
              <a:rPr lang="en-GB" sz="1200" dirty="0" err="1"/>
              <a:t>eg_data</a:t>
            </a:r>
            <a:r>
              <a:rPr lang="en-GB" sz="1200" dirty="0"/>
              <a:t>[,1] + 1</a:t>
            </a:r>
          </a:p>
          <a:p>
            <a:r>
              <a:rPr lang="en-GB" sz="1200" dirty="0" err="1"/>
              <a:t>eg_data</a:t>
            </a:r>
            <a:r>
              <a:rPr lang="en-GB" sz="1200" dirty="0"/>
              <a:t>[,6] &lt;- max(</a:t>
            </a:r>
            <a:r>
              <a:rPr lang="en-GB" sz="1200" dirty="0" err="1"/>
              <a:t>eg_data</a:t>
            </a:r>
            <a:r>
              <a:rPr lang="en-GB" sz="1200" dirty="0"/>
              <a:t>[,6]) - </a:t>
            </a:r>
            <a:r>
              <a:rPr lang="en-GB" sz="1200" dirty="0" err="1"/>
              <a:t>eg_data</a:t>
            </a:r>
            <a:r>
              <a:rPr lang="en-GB" sz="1200" dirty="0"/>
              <a:t>[,6] + 1</a:t>
            </a:r>
          </a:p>
          <a:p>
            <a:r>
              <a:rPr lang="en-GB" sz="1200" dirty="0" err="1"/>
              <a:t>eg_data</a:t>
            </a:r>
            <a:r>
              <a:rPr lang="en-GB" sz="1200" dirty="0"/>
              <a:t> &lt;- </a:t>
            </a:r>
            <a:r>
              <a:rPr lang="en-GB" sz="1200" dirty="0" err="1"/>
              <a:t>as.data.frame</a:t>
            </a:r>
            <a:r>
              <a:rPr lang="en-GB" sz="1200" dirty="0"/>
              <a:t>(</a:t>
            </a:r>
            <a:r>
              <a:rPr lang="en-GB" sz="1200" dirty="0" err="1"/>
              <a:t>eg_data</a:t>
            </a:r>
            <a:r>
              <a:rPr lang="en-GB" sz="1200" dirty="0"/>
              <a:t>)</a:t>
            </a:r>
          </a:p>
          <a:p>
            <a:r>
              <a:rPr lang="en-GB" sz="1200" dirty="0"/>
              <a:t>names(</a:t>
            </a:r>
            <a:r>
              <a:rPr lang="en-GB" sz="1200" dirty="0" err="1"/>
              <a:t>eg_data</a:t>
            </a:r>
            <a:r>
              <a:rPr lang="en-GB" sz="1200" dirty="0"/>
              <a:t>) &lt;- paste0("item_",1:9)</a:t>
            </a:r>
          </a:p>
          <a:p>
            <a:endParaRPr lang="en-GB" sz="1200" dirty="0"/>
          </a:p>
          <a:p>
            <a:endParaRPr lang="en-GB" sz="1200" dirty="0"/>
          </a:p>
          <a:p>
            <a:r>
              <a:rPr lang="en-GB" sz="1200" dirty="0"/>
              <a:t>mm = fa(</a:t>
            </a:r>
            <a:r>
              <a:rPr lang="en-GB" sz="1200" dirty="0" err="1"/>
              <a:t>eg_data</a:t>
            </a:r>
            <a:r>
              <a:rPr lang="en-GB" sz="1200" dirty="0"/>
              <a:t>, </a:t>
            </a:r>
            <a:r>
              <a:rPr lang="en-GB" sz="1200" dirty="0" err="1"/>
              <a:t>nfactors</a:t>
            </a:r>
            <a:r>
              <a:rPr lang="en-GB" sz="1200" dirty="0"/>
              <a:t>=2, rotate = "</a:t>
            </a:r>
            <a:r>
              <a:rPr lang="en-GB" sz="1200" dirty="0" err="1"/>
              <a:t>oblimin</a:t>
            </a:r>
            <a:r>
              <a:rPr lang="en-GB" sz="1200" dirty="0"/>
              <a:t>", </a:t>
            </a:r>
            <a:r>
              <a:rPr lang="en-GB" sz="1200" dirty="0" err="1"/>
              <a:t>fm</a:t>
            </a:r>
            <a:r>
              <a:rPr lang="en-GB" sz="1200" dirty="0"/>
              <a:t>="ml")</a:t>
            </a:r>
          </a:p>
          <a:p>
            <a:r>
              <a:rPr lang="en-GB" sz="1200" dirty="0"/>
              <a:t>mm</a:t>
            </a:r>
          </a:p>
          <a:p>
            <a:endParaRPr lang="en-GB" sz="1200" dirty="0"/>
          </a:p>
          <a:p>
            <a:r>
              <a:rPr lang="en-GB" sz="1200" dirty="0"/>
              <a:t># </a:t>
            </a:r>
            <a:r>
              <a:rPr lang="en-GB" sz="1200" dirty="0" err="1"/>
              <a:t>tli</a:t>
            </a:r>
            <a:endParaRPr lang="en-GB" sz="1200" dirty="0"/>
          </a:p>
          <a:p>
            <a:r>
              <a:rPr lang="en-GB" sz="1200" dirty="0"/>
              <a:t>((1138.13/36) - (20.71/19)) / </a:t>
            </a:r>
          </a:p>
          <a:p>
            <a:r>
              <a:rPr lang="en-GB" sz="1200" dirty="0"/>
              <a:t>  ((1138.13/36) - 1)</a:t>
            </a:r>
          </a:p>
          <a:p>
            <a:endParaRPr lang="en-GB" sz="1200" dirty="0"/>
          </a:p>
          <a:p>
            <a:r>
              <a:rPr lang="en-GB" sz="1200" dirty="0"/>
              <a:t># </a:t>
            </a:r>
            <a:r>
              <a:rPr lang="en-GB" sz="1200" dirty="0" err="1"/>
              <a:t>rmsea</a:t>
            </a:r>
            <a:endParaRPr lang="en-GB" sz="1200" dirty="0"/>
          </a:p>
          <a:p>
            <a:r>
              <a:rPr lang="en-GB" sz="1200" dirty="0"/>
              <a:t>sqrt(20.71 - 19) / </a:t>
            </a:r>
          </a:p>
          <a:p>
            <a:r>
              <a:rPr lang="en-GB" sz="1200" dirty="0"/>
              <a:t>  sqrt(19*(400-1))</a:t>
            </a:r>
          </a:p>
        </p:txBody>
      </p:sp>
    </p:spTree>
    <p:extLst>
      <p:ext uri="{BB962C8B-B14F-4D97-AF65-F5344CB8AC3E}">
        <p14:creationId xmlns:p14="http://schemas.microsoft.com/office/powerpoint/2010/main" val="346354184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7" name="Group 36">
            <a:extLst>
              <a:ext uri="{FF2B5EF4-FFF2-40B4-BE49-F238E27FC236}">
                <a16:creationId xmlns:a16="http://schemas.microsoft.com/office/drawing/2014/main" id="{04D83235-ABD5-426B-A921-4956851097C8}"/>
              </a:ext>
            </a:extLst>
          </p:cNvPr>
          <p:cNvGrpSpPr/>
          <p:nvPr/>
        </p:nvGrpSpPr>
        <p:grpSpPr>
          <a:xfrm>
            <a:off x="486440" y="312156"/>
            <a:ext cx="4197496" cy="2496626"/>
            <a:chOff x="486440" y="312156"/>
            <a:chExt cx="4197496" cy="2496626"/>
          </a:xfrm>
        </p:grpSpPr>
        <p:sp>
          <p:nvSpPr>
            <p:cNvPr id="4" name="Oval 3">
              <a:extLst>
                <a:ext uri="{FF2B5EF4-FFF2-40B4-BE49-F238E27FC236}">
                  <a16:creationId xmlns:a16="http://schemas.microsoft.com/office/drawing/2014/main" id="{EFDF76FB-4C32-4775-B90A-FBEE6E3B8690}"/>
                </a:ext>
              </a:extLst>
            </p:cNvPr>
            <p:cNvSpPr/>
            <p:nvPr/>
          </p:nvSpPr>
          <p:spPr>
            <a:xfrm>
              <a:off x="2024323" y="672742"/>
              <a:ext cx="1100667" cy="1077218"/>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dirty="0">
                  <a:solidFill>
                    <a:schemeClr val="tx1"/>
                  </a:solidFill>
                </a:rPr>
                <a:t>Q10</a:t>
              </a:r>
            </a:p>
            <a:p>
              <a:pPr algn="ctr"/>
              <a:endParaRPr lang="en-GB" sz="1400" dirty="0">
                <a:solidFill>
                  <a:schemeClr val="tx1"/>
                </a:solidFill>
              </a:endParaRPr>
            </a:p>
            <a:p>
              <a:pPr algn="ctr"/>
              <a:endParaRPr lang="en-GB" sz="1400" dirty="0">
                <a:solidFill>
                  <a:schemeClr val="tx1"/>
                </a:solidFill>
              </a:endParaRPr>
            </a:p>
          </p:txBody>
        </p:sp>
        <p:sp>
          <p:nvSpPr>
            <p:cNvPr id="5" name="Oval 4">
              <a:extLst>
                <a:ext uri="{FF2B5EF4-FFF2-40B4-BE49-F238E27FC236}">
                  <a16:creationId xmlns:a16="http://schemas.microsoft.com/office/drawing/2014/main" id="{8DAA364F-F5F3-4E13-9BB4-621D795AF70F}"/>
                </a:ext>
              </a:extLst>
            </p:cNvPr>
            <p:cNvSpPr/>
            <p:nvPr/>
          </p:nvSpPr>
          <p:spPr>
            <a:xfrm>
              <a:off x="2729238" y="874900"/>
              <a:ext cx="1100667" cy="1077218"/>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dirty="0">
                  <a:solidFill>
                    <a:schemeClr val="tx1"/>
                  </a:solidFill>
                </a:rPr>
                <a:t>       ML2</a:t>
              </a:r>
            </a:p>
          </p:txBody>
        </p:sp>
        <p:sp>
          <p:nvSpPr>
            <p:cNvPr id="6" name="Oval 5">
              <a:extLst>
                <a:ext uri="{FF2B5EF4-FFF2-40B4-BE49-F238E27FC236}">
                  <a16:creationId xmlns:a16="http://schemas.microsoft.com/office/drawing/2014/main" id="{04348250-38BF-42A2-8502-7490D0515FA9}"/>
                </a:ext>
              </a:extLst>
            </p:cNvPr>
            <p:cNvSpPr/>
            <p:nvPr/>
          </p:nvSpPr>
          <p:spPr>
            <a:xfrm>
              <a:off x="1505739" y="1325396"/>
              <a:ext cx="1100667" cy="1077218"/>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dirty="0">
                  <a:solidFill>
                    <a:schemeClr val="tx1"/>
                  </a:solidFill>
                </a:rPr>
                <a:t>ML1</a:t>
              </a:r>
            </a:p>
          </p:txBody>
        </p:sp>
        <p:sp>
          <p:nvSpPr>
            <p:cNvPr id="7" name="TextBox 6">
              <a:extLst>
                <a:ext uri="{FF2B5EF4-FFF2-40B4-BE49-F238E27FC236}">
                  <a16:creationId xmlns:a16="http://schemas.microsoft.com/office/drawing/2014/main" id="{B5E6333B-3460-49B7-B0F5-3727C2FE6D66}"/>
                </a:ext>
              </a:extLst>
            </p:cNvPr>
            <p:cNvSpPr txBox="1"/>
            <p:nvPr/>
          </p:nvSpPr>
          <p:spPr>
            <a:xfrm>
              <a:off x="2606406" y="2162451"/>
              <a:ext cx="2077530" cy="646331"/>
            </a:xfrm>
            <a:prstGeom prst="rect">
              <a:avLst/>
            </a:prstGeom>
            <a:noFill/>
          </p:spPr>
          <p:txBody>
            <a:bodyPr wrap="square" rtlCol="0">
              <a:spAutoFit/>
            </a:bodyPr>
            <a:lstStyle/>
            <a:p>
              <a:r>
                <a:rPr lang="en-GB" sz="1200" dirty="0"/>
                <a:t>rotate = “none”</a:t>
              </a:r>
            </a:p>
            <a:p>
              <a:r>
                <a:rPr lang="en-GB" sz="1200" dirty="0"/>
                <a:t>means that ML1 and ML2 are uncorrelated (no overlap)</a:t>
              </a:r>
            </a:p>
          </p:txBody>
        </p:sp>
        <p:cxnSp>
          <p:nvCxnSpPr>
            <p:cNvPr id="10" name="Straight Arrow Connector 9">
              <a:extLst>
                <a:ext uri="{FF2B5EF4-FFF2-40B4-BE49-F238E27FC236}">
                  <a16:creationId xmlns:a16="http://schemas.microsoft.com/office/drawing/2014/main" id="{A4694E18-B29B-491E-8BE2-ABEA2F32E745}"/>
                </a:ext>
              </a:extLst>
            </p:cNvPr>
            <p:cNvCxnSpPr>
              <a:cxnSpLocks/>
            </p:cNvCxnSpPr>
            <p:nvPr/>
          </p:nvCxnSpPr>
          <p:spPr>
            <a:xfrm flipH="1">
              <a:off x="2960823" y="672742"/>
              <a:ext cx="394044" cy="618296"/>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B0F9F603-9E19-44D1-B713-67458AD6D29A}"/>
                </a:ext>
              </a:extLst>
            </p:cNvPr>
            <p:cNvSpPr txBox="1"/>
            <p:nvPr/>
          </p:nvSpPr>
          <p:spPr>
            <a:xfrm>
              <a:off x="3312335" y="312156"/>
              <a:ext cx="1371601" cy="461665"/>
            </a:xfrm>
            <a:prstGeom prst="rect">
              <a:avLst/>
            </a:prstGeom>
            <a:noFill/>
            <a:ln>
              <a:noFill/>
            </a:ln>
          </p:spPr>
          <p:txBody>
            <a:bodyPr wrap="square" rtlCol="0">
              <a:spAutoFit/>
            </a:bodyPr>
            <a:lstStyle/>
            <a:p>
              <a:r>
                <a:rPr lang="en-GB" sz="1200" dirty="0">
                  <a:solidFill>
                    <a:schemeClr val="accent6"/>
                  </a:solidFill>
                </a:rPr>
                <a:t>Variance in Q10 explained by ML2</a:t>
              </a:r>
            </a:p>
          </p:txBody>
        </p:sp>
        <p:cxnSp>
          <p:nvCxnSpPr>
            <p:cNvPr id="14" name="Straight Arrow Connector 13">
              <a:extLst>
                <a:ext uri="{FF2B5EF4-FFF2-40B4-BE49-F238E27FC236}">
                  <a16:creationId xmlns:a16="http://schemas.microsoft.com/office/drawing/2014/main" id="{448AC6AC-B206-4A6E-B35A-140099446885}"/>
                </a:ext>
              </a:extLst>
            </p:cNvPr>
            <p:cNvCxnSpPr>
              <a:cxnSpLocks/>
            </p:cNvCxnSpPr>
            <p:nvPr/>
          </p:nvCxnSpPr>
          <p:spPr>
            <a:xfrm>
              <a:off x="1532670" y="1291038"/>
              <a:ext cx="833368" cy="277264"/>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D8CCE2EA-2B04-4648-B3AD-5942E36544E1}"/>
                </a:ext>
              </a:extLst>
            </p:cNvPr>
            <p:cNvSpPr txBox="1"/>
            <p:nvPr/>
          </p:nvSpPr>
          <p:spPr>
            <a:xfrm>
              <a:off x="486440" y="878547"/>
              <a:ext cx="1277596" cy="461665"/>
            </a:xfrm>
            <a:prstGeom prst="rect">
              <a:avLst/>
            </a:prstGeom>
            <a:noFill/>
          </p:spPr>
          <p:txBody>
            <a:bodyPr wrap="square" rtlCol="0">
              <a:spAutoFit/>
            </a:bodyPr>
            <a:lstStyle/>
            <a:p>
              <a:r>
                <a:rPr lang="en-GB" sz="1200" dirty="0">
                  <a:solidFill>
                    <a:schemeClr val="accent6"/>
                  </a:solidFill>
                </a:rPr>
                <a:t>Variance in Q10 explained by ML1</a:t>
              </a:r>
            </a:p>
          </p:txBody>
        </p:sp>
      </p:grpSp>
      <p:grpSp>
        <p:nvGrpSpPr>
          <p:cNvPr id="48" name="Group 47">
            <a:extLst>
              <a:ext uri="{FF2B5EF4-FFF2-40B4-BE49-F238E27FC236}">
                <a16:creationId xmlns:a16="http://schemas.microsoft.com/office/drawing/2014/main" id="{5982B066-63C0-4527-968B-0D62BDCC5CE2}"/>
              </a:ext>
            </a:extLst>
          </p:cNvPr>
          <p:cNvGrpSpPr/>
          <p:nvPr/>
        </p:nvGrpSpPr>
        <p:grpSpPr>
          <a:xfrm>
            <a:off x="5511259" y="3283956"/>
            <a:ext cx="4897889" cy="2486235"/>
            <a:chOff x="5511259" y="3283956"/>
            <a:chExt cx="4897889" cy="2486235"/>
          </a:xfrm>
        </p:grpSpPr>
        <p:sp>
          <p:nvSpPr>
            <p:cNvPr id="20" name="Oval 19">
              <a:extLst>
                <a:ext uri="{FF2B5EF4-FFF2-40B4-BE49-F238E27FC236}">
                  <a16:creationId xmlns:a16="http://schemas.microsoft.com/office/drawing/2014/main" id="{6A96E06A-7197-4250-97BE-C97BC6D4C6BA}"/>
                </a:ext>
              </a:extLst>
            </p:cNvPr>
            <p:cNvSpPr/>
            <p:nvPr/>
          </p:nvSpPr>
          <p:spPr>
            <a:xfrm>
              <a:off x="6810830" y="3845833"/>
              <a:ext cx="1100667" cy="1077218"/>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400" dirty="0">
                  <a:solidFill>
                    <a:schemeClr val="tx1"/>
                  </a:solidFill>
                </a:rPr>
                <a:t>Q10               </a:t>
              </a:r>
            </a:p>
            <a:p>
              <a:pPr algn="ctr"/>
              <a:endParaRPr lang="en-GB" sz="1400" dirty="0">
                <a:solidFill>
                  <a:schemeClr val="tx1"/>
                </a:solidFill>
              </a:endParaRPr>
            </a:p>
            <a:p>
              <a:pPr algn="ctr"/>
              <a:endParaRPr lang="en-GB" sz="1400" dirty="0">
                <a:solidFill>
                  <a:schemeClr val="tx1"/>
                </a:solidFill>
              </a:endParaRPr>
            </a:p>
          </p:txBody>
        </p:sp>
        <p:sp>
          <p:nvSpPr>
            <p:cNvPr id="21" name="Oval 20">
              <a:extLst>
                <a:ext uri="{FF2B5EF4-FFF2-40B4-BE49-F238E27FC236}">
                  <a16:creationId xmlns:a16="http://schemas.microsoft.com/office/drawing/2014/main" id="{C0564B65-D620-42C5-9426-3DA1B52DD7E7}"/>
                </a:ext>
              </a:extLst>
            </p:cNvPr>
            <p:cNvSpPr/>
            <p:nvPr/>
          </p:nvSpPr>
          <p:spPr>
            <a:xfrm>
              <a:off x="7386226" y="4219297"/>
              <a:ext cx="1100667" cy="1077218"/>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dirty="0">
                  <a:solidFill>
                    <a:schemeClr val="tx1"/>
                  </a:solidFill>
                </a:rPr>
                <a:t>       </a:t>
              </a:r>
            </a:p>
            <a:p>
              <a:pPr algn="ctr"/>
              <a:r>
                <a:rPr lang="en-GB" sz="1400" dirty="0">
                  <a:solidFill>
                    <a:schemeClr val="tx1"/>
                  </a:solidFill>
                </a:rPr>
                <a:t>       ML2</a:t>
              </a:r>
            </a:p>
            <a:p>
              <a:pPr algn="ctr"/>
              <a:endParaRPr lang="en-GB" sz="1400" dirty="0">
                <a:solidFill>
                  <a:schemeClr val="tx1"/>
                </a:solidFill>
              </a:endParaRPr>
            </a:p>
            <a:p>
              <a:pPr algn="ctr"/>
              <a:endParaRPr lang="en-GB" sz="1400" dirty="0">
                <a:solidFill>
                  <a:schemeClr val="tx1"/>
                </a:solidFill>
              </a:endParaRPr>
            </a:p>
            <a:p>
              <a:pPr algn="ctr"/>
              <a:endParaRPr lang="en-GB" sz="1400" dirty="0">
                <a:solidFill>
                  <a:schemeClr val="tx1"/>
                </a:solidFill>
              </a:endParaRPr>
            </a:p>
          </p:txBody>
        </p:sp>
        <p:sp>
          <p:nvSpPr>
            <p:cNvPr id="22" name="Oval 21">
              <a:extLst>
                <a:ext uri="{FF2B5EF4-FFF2-40B4-BE49-F238E27FC236}">
                  <a16:creationId xmlns:a16="http://schemas.microsoft.com/office/drawing/2014/main" id="{7A6485E5-CA75-410F-9666-C5CF9CE70DB8}"/>
                </a:ext>
              </a:extLst>
            </p:cNvPr>
            <p:cNvSpPr/>
            <p:nvPr/>
          </p:nvSpPr>
          <p:spPr>
            <a:xfrm>
              <a:off x="7230951" y="4692973"/>
              <a:ext cx="1100667" cy="1077218"/>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400" dirty="0">
                <a:solidFill>
                  <a:schemeClr val="tx1"/>
                </a:solidFill>
              </a:endParaRPr>
            </a:p>
            <a:p>
              <a:pPr algn="ctr"/>
              <a:endParaRPr lang="en-GB" sz="1400" dirty="0">
                <a:solidFill>
                  <a:schemeClr val="tx1"/>
                </a:solidFill>
              </a:endParaRPr>
            </a:p>
            <a:p>
              <a:pPr algn="ctr"/>
              <a:endParaRPr lang="en-GB" sz="1400" dirty="0">
                <a:solidFill>
                  <a:schemeClr val="tx1"/>
                </a:solidFill>
              </a:endParaRPr>
            </a:p>
            <a:p>
              <a:pPr algn="ctr"/>
              <a:r>
                <a:rPr lang="en-GB" sz="1400" dirty="0">
                  <a:solidFill>
                    <a:schemeClr val="tx1"/>
                  </a:solidFill>
                </a:rPr>
                <a:t>ML1</a:t>
              </a:r>
            </a:p>
          </p:txBody>
        </p:sp>
        <p:sp>
          <p:nvSpPr>
            <p:cNvPr id="23" name="TextBox 22">
              <a:extLst>
                <a:ext uri="{FF2B5EF4-FFF2-40B4-BE49-F238E27FC236}">
                  <a16:creationId xmlns:a16="http://schemas.microsoft.com/office/drawing/2014/main" id="{FE117F04-68F6-4086-B5FC-FF8EE2C5EE9E}"/>
                </a:ext>
              </a:extLst>
            </p:cNvPr>
            <p:cNvSpPr txBox="1"/>
            <p:nvPr/>
          </p:nvSpPr>
          <p:spPr>
            <a:xfrm>
              <a:off x="8331618" y="5072521"/>
              <a:ext cx="2077530" cy="646331"/>
            </a:xfrm>
            <a:prstGeom prst="rect">
              <a:avLst/>
            </a:prstGeom>
            <a:noFill/>
          </p:spPr>
          <p:txBody>
            <a:bodyPr wrap="square" rtlCol="0">
              <a:spAutoFit/>
            </a:bodyPr>
            <a:lstStyle/>
            <a:p>
              <a:r>
                <a:rPr lang="en-GB" sz="1200" dirty="0"/>
                <a:t>oblique rotation</a:t>
              </a:r>
            </a:p>
            <a:p>
              <a:r>
                <a:rPr lang="en-GB" sz="1200" dirty="0"/>
                <a:t>means that ML1 and ML2 are correlated (overlap)</a:t>
              </a:r>
            </a:p>
          </p:txBody>
        </p:sp>
        <p:cxnSp>
          <p:nvCxnSpPr>
            <p:cNvPr id="24" name="Straight Arrow Connector 23">
              <a:extLst>
                <a:ext uri="{FF2B5EF4-FFF2-40B4-BE49-F238E27FC236}">
                  <a16:creationId xmlns:a16="http://schemas.microsoft.com/office/drawing/2014/main" id="{EF8F1832-5760-45D1-A7AD-580A555A28A2}"/>
                </a:ext>
              </a:extLst>
            </p:cNvPr>
            <p:cNvCxnSpPr>
              <a:cxnSpLocks/>
            </p:cNvCxnSpPr>
            <p:nvPr/>
          </p:nvCxnSpPr>
          <p:spPr>
            <a:xfrm flipH="1">
              <a:off x="7705725" y="3671414"/>
              <a:ext cx="227748" cy="752237"/>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8C913297-ABE7-409C-94A8-D4E519F1A502}"/>
                </a:ext>
              </a:extLst>
            </p:cNvPr>
            <p:cNvSpPr txBox="1"/>
            <p:nvPr/>
          </p:nvSpPr>
          <p:spPr>
            <a:xfrm>
              <a:off x="7888250" y="3283956"/>
              <a:ext cx="1371601" cy="461665"/>
            </a:xfrm>
            <a:prstGeom prst="rect">
              <a:avLst/>
            </a:prstGeom>
            <a:noFill/>
            <a:ln>
              <a:noFill/>
            </a:ln>
          </p:spPr>
          <p:txBody>
            <a:bodyPr wrap="square" rtlCol="0">
              <a:spAutoFit/>
            </a:bodyPr>
            <a:lstStyle/>
            <a:p>
              <a:r>
                <a:rPr lang="en-GB" sz="1200" dirty="0">
                  <a:solidFill>
                    <a:schemeClr val="accent6"/>
                  </a:solidFill>
                </a:rPr>
                <a:t>Variance in Q10 explained by ML2</a:t>
              </a:r>
            </a:p>
          </p:txBody>
        </p:sp>
        <p:cxnSp>
          <p:nvCxnSpPr>
            <p:cNvPr id="26" name="Straight Arrow Connector 25">
              <a:extLst>
                <a:ext uri="{FF2B5EF4-FFF2-40B4-BE49-F238E27FC236}">
                  <a16:creationId xmlns:a16="http://schemas.microsoft.com/office/drawing/2014/main" id="{C8F02547-3E0E-47D4-9947-7EDF5B0D79EE}"/>
                </a:ext>
              </a:extLst>
            </p:cNvPr>
            <p:cNvCxnSpPr>
              <a:cxnSpLocks/>
            </p:cNvCxnSpPr>
            <p:nvPr/>
          </p:nvCxnSpPr>
          <p:spPr>
            <a:xfrm flipV="1">
              <a:off x="6649332" y="4883877"/>
              <a:ext cx="736894" cy="308496"/>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4ACFBE9B-9A27-42A8-A768-2288E9B80590}"/>
                </a:ext>
              </a:extLst>
            </p:cNvPr>
            <p:cNvSpPr txBox="1"/>
            <p:nvPr/>
          </p:nvSpPr>
          <p:spPr>
            <a:xfrm>
              <a:off x="5511259" y="4976186"/>
              <a:ext cx="1277596" cy="461665"/>
            </a:xfrm>
            <a:prstGeom prst="rect">
              <a:avLst/>
            </a:prstGeom>
            <a:noFill/>
          </p:spPr>
          <p:txBody>
            <a:bodyPr wrap="square" rtlCol="0">
              <a:spAutoFit/>
            </a:bodyPr>
            <a:lstStyle/>
            <a:p>
              <a:r>
                <a:rPr lang="en-GB" sz="1200" dirty="0">
                  <a:solidFill>
                    <a:schemeClr val="accent6"/>
                  </a:solidFill>
                </a:rPr>
                <a:t>Variance in Q10 explained by ML1</a:t>
              </a:r>
            </a:p>
          </p:txBody>
        </p:sp>
      </p:grpSp>
    </p:spTree>
    <p:extLst>
      <p:ext uri="{BB962C8B-B14F-4D97-AF65-F5344CB8AC3E}">
        <p14:creationId xmlns:p14="http://schemas.microsoft.com/office/powerpoint/2010/main" val="213889021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2830</TotalTime>
  <Words>1754</Words>
  <Application>Microsoft Office PowerPoint</Application>
  <PresentationFormat>Widescreen</PresentationFormat>
  <Paragraphs>168</Paragraphs>
  <Slides>18</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18</vt:i4>
      </vt:variant>
    </vt:vector>
  </HeadingPairs>
  <TitlesOfParts>
    <vt:vector size="25" baseType="lpstr">
      <vt:lpstr>-apple-system</vt:lpstr>
      <vt:lpstr>Arial</vt:lpstr>
      <vt:lpstr>Calibri</vt:lpstr>
      <vt:lpstr>Calibri Light</vt:lpstr>
      <vt:lpstr>Courier New</vt:lpstr>
      <vt:lpstr>Helvetica Neue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Josiah King</dc:creator>
  <cp:lastModifiedBy>Josiah King</cp:lastModifiedBy>
  <cp:revision>49</cp:revision>
  <dcterms:created xsi:type="dcterms:W3CDTF">2024-02-20T20:39:58Z</dcterms:created>
  <dcterms:modified xsi:type="dcterms:W3CDTF">2026-04-15T12:45:56Z</dcterms:modified>
</cp:coreProperties>
</file>