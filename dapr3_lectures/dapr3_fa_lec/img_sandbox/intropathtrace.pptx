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F93D-5AAD-4D6C-84FE-A68542924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224BA-CB0A-4B61-8BB1-D25FCF84E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CD7AC-81AA-40B5-8E73-D7D60482A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FFB01-A29B-4B45-8C1F-40354A8E5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A1329-9C73-49CC-A4F1-2A8CAE6E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371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FB7AA-77EE-48AF-A09C-AEEA99F6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918CD-BAA2-471D-9581-73B3885B9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D012C-6213-4C25-99EE-8BD2C59A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CFDF8-5F47-444C-9F06-F3E221F3A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E6AF7-A2E7-45CF-ACD3-AB81C645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29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B956-AE0E-4FD8-A218-7DD6D7001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ED089-9E5A-4150-A1C1-391AFFF18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5D0E0-AEE2-4275-AB89-394BDA8D8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C1A3D-9C83-4D87-9007-7001C172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CC375-BD15-482C-9114-6869B203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98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E6C6-9565-4771-9F7F-F63E01B9B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174C5-2CFE-4972-A9B4-4B5AEEAC5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7666E-9F8A-4046-805D-3579BC9D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86132-DF8D-4D73-BE90-AE4329BF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3AE9E-9B8D-45CD-86EC-0DAA4C89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719C2-5DD4-44DF-B2C3-24317CE8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01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9D9E-3A55-4407-8515-9DEE676D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EDA1C-D820-43CC-B67F-B73FDD146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0B274-DC96-41FA-AAB9-5BBBC47C8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4DA5D-92E1-4D38-B740-AF5425B89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80D6F8-3979-4DEB-9548-6EBC06A8E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8F5044-D4F5-4EE6-BDFE-7DEE35074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0676F3-4763-4777-9300-2AEC4117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D7CB6-79F1-4A90-9284-26314529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33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F5DB-D72D-47E5-B1BE-E4813673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74373-4574-4EE4-BBFA-1666F346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8B3C9-08F8-4B17-9083-83E7B4BC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C845F-3337-44A5-97C8-B364E76A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36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8A092-FBE6-412B-91EB-AEB3E9FF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1A3938-5A2B-4F68-AA06-01C29D19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9D3CF-E446-45B3-9CE1-DD5E57CC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477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03AEE-B31D-4041-A6BF-A859044D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1F12C-79A7-453B-8E8E-396F39DA4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3F9C5-353E-48DE-84CD-1E55310A4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E0ECD-47A4-496C-8380-303747DF9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762F3-7F9F-4373-83FF-2E0FDEAD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27511-D0AB-468E-BCC5-9FB9296ED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251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C6C9-9564-407E-AD3E-78768560F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34A02-456F-4068-9E07-8B18BBF1F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31C06-6CD1-4AF6-AFC8-8433A10F2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16FF6-9CE0-4093-B50D-E65172A29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C15F0-932E-4497-ABCE-DED031F2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0FD7B-7BBD-45C6-B2AC-9A01F754B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46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3055-EDE8-4747-86A4-A9979D36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D1C4B-6CC6-4F5B-9775-8BC2AC16C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00D1E-36E9-43AE-B217-76B870ED6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6D54-0AEC-448B-9EAB-A544395A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7BE1E-99E4-441C-B496-539E6EE8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427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3A7F7-EFC6-4337-A7A9-5AA1E6E3A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F30A-F4D0-4C5C-8190-2DC7AB8F6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86538-1BDC-45D1-8A96-7389358AD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98F00-6735-4CDB-8A00-7D04AF9E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75FE1-C994-4191-BF46-7D850FB5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98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27551-AC58-4D75-B63B-87B29744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FDB37-FA63-4F8F-AE6B-6D1141DFA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9EB9C-7673-4230-8461-3A0E409EC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7BBF2-5813-4A92-ADF4-45C081C3750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F0697-B7F2-46A1-BD85-24D1C8DEE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A35-9F42-45D8-85CC-53313D537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62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816248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784162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2307484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E888E1F1-280C-4843-8256-4C2FE1864DB0}"/>
              </a:ext>
            </a:extLst>
          </p:cNvPr>
          <p:cNvSpPr/>
          <p:nvPr/>
        </p:nvSpPr>
        <p:spPr>
          <a:xfrm rot="1003916">
            <a:off x="2307483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3852690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3852689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913181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2506215" y="442084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AFB2D8-6FA4-42CD-9F2B-FAEA8C4D714D}"/>
              </a:ext>
            </a:extLst>
          </p:cNvPr>
          <p:cNvSpPr txBox="1"/>
          <p:nvPr/>
        </p:nvSpPr>
        <p:spPr>
          <a:xfrm>
            <a:off x="3986841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y3</a:t>
            </a:r>
            <a:endParaRPr lang="en-GB" sz="2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5333316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C88199AF-3BD6-4F0B-9084-409882704445}"/>
              </a:ext>
            </a:extLst>
          </p:cNvPr>
          <p:cNvSpPr/>
          <p:nvPr/>
        </p:nvSpPr>
        <p:spPr>
          <a:xfrm rot="1003916">
            <a:off x="5333315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FF7F5B6-FCBA-4E96-BE94-0796EC7C72DC}"/>
              </a:ext>
            </a:extLst>
          </p:cNvPr>
          <p:cNvSpPr txBox="1"/>
          <p:nvPr/>
        </p:nvSpPr>
        <p:spPr>
          <a:xfrm>
            <a:off x="5467467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y4</a:t>
            </a:r>
            <a:endParaRPr lang="en-GB" sz="24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0A2FE2F-57CD-411E-97CA-0DD3A9823A6E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9D28BC6-3B18-4866-83B8-E82E0DA4375B}"/>
              </a:ext>
            </a:extLst>
          </p:cNvPr>
          <p:cNvSpPr txBox="1"/>
          <p:nvPr/>
        </p:nvSpPr>
        <p:spPr>
          <a:xfrm>
            <a:off x="1150153" y="381946"/>
            <a:ext cx="2844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Theoretical Model</a:t>
            </a:r>
          </a:p>
        </p:txBody>
      </p:sp>
      <p:graphicFrame>
        <p:nvGraphicFramePr>
          <p:cNvPr id="17" name="Table 106">
            <a:extLst>
              <a:ext uri="{FF2B5EF4-FFF2-40B4-BE49-F238E27FC236}">
                <a16:creationId xmlns:a16="http://schemas.microsoft.com/office/drawing/2014/main" id="{21068BBA-FA55-4FF4-9122-CF1CD9364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388111"/>
              </p:ext>
            </p:extLst>
          </p:nvPr>
        </p:nvGraphicFramePr>
        <p:xfrm>
          <a:off x="6948093" y="1668379"/>
          <a:ext cx="5142650" cy="281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y4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83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816248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784162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2307484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E888E1F1-280C-4843-8256-4C2FE1864DB0}"/>
              </a:ext>
            </a:extLst>
          </p:cNvPr>
          <p:cNvSpPr/>
          <p:nvPr/>
        </p:nvSpPr>
        <p:spPr>
          <a:xfrm rot="1003916">
            <a:off x="2307483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1150153" y="381946"/>
            <a:ext cx="2844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Theoretical Model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3852690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3852689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913181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2506215" y="442084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AFB2D8-6FA4-42CD-9F2B-FAEA8C4D714D}"/>
              </a:ext>
            </a:extLst>
          </p:cNvPr>
          <p:cNvSpPr txBox="1"/>
          <p:nvPr/>
        </p:nvSpPr>
        <p:spPr>
          <a:xfrm>
            <a:off x="3986841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y3</a:t>
            </a:r>
            <a:endParaRPr lang="en-GB" sz="2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5333316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C88199AF-3BD6-4F0B-9084-409882704445}"/>
              </a:ext>
            </a:extLst>
          </p:cNvPr>
          <p:cNvSpPr/>
          <p:nvPr/>
        </p:nvSpPr>
        <p:spPr>
          <a:xfrm rot="1003916">
            <a:off x="5333315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FF7F5B6-FCBA-4E96-BE94-0796EC7C72DC}"/>
              </a:ext>
            </a:extLst>
          </p:cNvPr>
          <p:cNvSpPr txBox="1"/>
          <p:nvPr/>
        </p:nvSpPr>
        <p:spPr>
          <a:xfrm>
            <a:off x="5467467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y4</a:t>
            </a:r>
            <a:endParaRPr lang="en-GB" sz="2400" dirty="0"/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E7973318-829A-4E04-9456-F7788A22AC5B}"/>
              </a:ext>
            </a:extLst>
          </p:cNvPr>
          <p:cNvCxnSpPr>
            <a:cxnSpLocks/>
            <a:stCxn id="65" idx="0"/>
            <a:endCxn id="66" idx="0"/>
          </p:cNvCxnSpPr>
          <p:nvPr/>
        </p:nvCxnSpPr>
        <p:spPr>
          <a:xfrm rot="5400000" flipH="1" flipV="1">
            <a:off x="1906771" y="2314413"/>
            <a:ext cx="12700" cy="1523322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0F8DF127-6FCA-403C-B820-3BF50B3F0154}"/>
              </a:ext>
            </a:extLst>
          </p:cNvPr>
          <p:cNvCxnSpPr>
            <a:stCxn id="65" idx="0"/>
            <a:endCxn id="85" idx="0"/>
          </p:cNvCxnSpPr>
          <p:nvPr/>
        </p:nvCxnSpPr>
        <p:spPr>
          <a:xfrm rot="5400000" flipH="1" flipV="1">
            <a:off x="2679374" y="1541810"/>
            <a:ext cx="12700" cy="3068528"/>
          </a:xfrm>
          <a:prstGeom prst="curvedConnector3">
            <a:avLst>
              <a:gd name="adj1" fmla="val 5210528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02B57284-F137-4E7C-A245-8DD58F37957B}"/>
              </a:ext>
            </a:extLst>
          </p:cNvPr>
          <p:cNvCxnSpPr>
            <a:stCxn id="65" idx="0"/>
            <a:endCxn id="103" idx="0"/>
          </p:cNvCxnSpPr>
          <p:nvPr/>
        </p:nvCxnSpPr>
        <p:spPr>
          <a:xfrm rot="5400000" flipH="1" flipV="1">
            <a:off x="3419687" y="801497"/>
            <a:ext cx="12700" cy="4549154"/>
          </a:xfrm>
          <a:prstGeom prst="curvedConnector3">
            <a:avLst>
              <a:gd name="adj1" fmla="val 10642102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AEB32857-7F9A-4BAB-9D36-0F6D4FCE2057}"/>
              </a:ext>
            </a:extLst>
          </p:cNvPr>
          <p:cNvCxnSpPr>
            <a:stCxn id="66" idx="0"/>
            <a:endCxn id="85" idx="0"/>
          </p:cNvCxnSpPr>
          <p:nvPr/>
        </p:nvCxnSpPr>
        <p:spPr>
          <a:xfrm rot="5400000" flipH="1" flipV="1">
            <a:off x="3441035" y="2303471"/>
            <a:ext cx="12700" cy="1545206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2ECA28C-C73A-4265-B51C-A05A2D1D3952}"/>
              </a:ext>
            </a:extLst>
          </p:cNvPr>
          <p:cNvCxnSpPr>
            <a:stCxn id="85" idx="0"/>
            <a:endCxn id="103" idx="0"/>
          </p:cNvCxnSpPr>
          <p:nvPr/>
        </p:nvCxnSpPr>
        <p:spPr>
          <a:xfrm rot="5400000" flipH="1" flipV="1">
            <a:off x="4953951" y="2335761"/>
            <a:ext cx="12700" cy="1480626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E0294D74-C8CE-429B-A349-B4D5CBF4886A}"/>
              </a:ext>
            </a:extLst>
          </p:cNvPr>
          <p:cNvCxnSpPr>
            <a:stCxn id="66" idx="0"/>
            <a:endCxn id="103" idx="0"/>
          </p:cNvCxnSpPr>
          <p:nvPr/>
        </p:nvCxnSpPr>
        <p:spPr>
          <a:xfrm rot="5400000" flipH="1" flipV="1">
            <a:off x="4181348" y="1563158"/>
            <a:ext cx="12700" cy="3025832"/>
          </a:xfrm>
          <a:prstGeom prst="curvedConnector3">
            <a:avLst>
              <a:gd name="adj1" fmla="val 5210528"/>
            </a:avLst>
          </a:prstGeom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3880F75-8FE5-4272-B9C5-B43D4A5EB1FB}"/>
              </a:ext>
            </a:extLst>
          </p:cNvPr>
          <p:cNvSpPr txBox="1"/>
          <p:nvPr/>
        </p:nvSpPr>
        <p:spPr>
          <a:xfrm>
            <a:off x="913181" y="1319322"/>
            <a:ext cx="489018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	a	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b                      c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d                    e                    f</a:t>
            </a:r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endParaRPr lang="en-GB" sz="2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4E30DD-7D86-400D-881A-B342079AB9F8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graphicFrame>
        <p:nvGraphicFramePr>
          <p:cNvPr id="25" name="Table 106">
            <a:extLst>
              <a:ext uri="{FF2B5EF4-FFF2-40B4-BE49-F238E27FC236}">
                <a16:creationId xmlns:a16="http://schemas.microsoft.com/office/drawing/2014/main" id="{4C9B351B-ACDB-4FD5-81DD-C8B574F5C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810622"/>
              </p:ext>
            </p:extLst>
          </p:nvPr>
        </p:nvGraphicFramePr>
        <p:xfrm>
          <a:off x="6948093" y="1668379"/>
          <a:ext cx="5142650" cy="281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y4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11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816248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784162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2307484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E888E1F1-280C-4843-8256-4C2FE1864DB0}"/>
              </a:ext>
            </a:extLst>
          </p:cNvPr>
          <p:cNvSpPr/>
          <p:nvPr/>
        </p:nvSpPr>
        <p:spPr>
          <a:xfrm rot="1003916">
            <a:off x="2307483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1150153" y="381946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3852690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3852689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913181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2506215" y="442084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AFB2D8-6FA4-42CD-9F2B-FAEA8C4D714D}"/>
              </a:ext>
            </a:extLst>
          </p:cNvPr>
          <p:cNvSpPr txBox="1"/>
          <p:nvPr/>
        </p:nvSpPr>
        <p:spPr>
          <a:xfrm>
            <a:off x="3986841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y3</a:t>
            </a:r>
            <a:endParaRPr lang="en-GB" sz="2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5333316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C88199AF-3BD6-4F0B-9084-409882704445}"/>
              </a:ext>
            </a:extLst>
          </p:cNvPr>
          <p:cNvSpPr/>
          <p:nvPr/>
        </p:nvSpPr>
        <p:spPr>
          <a:xfrm rot="1003916">
            <a:off x="5333315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FF7F5B6-FCBA-4E96-BE94-0796EC7C72DC}"/>
              </a:ext>
            </a:extLst>
          </p:cNvPr>
          <p:cNvSpPr txBox="1"/>
          <p:nvPr/>
        </p:nvSpPr>
        <p:spPr>
          <a:xfrm>
            <a:off x="5467467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y4</a:t>
            </a:r>
            <a:endParaRPr lang="en-GB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2867162" y="1097672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1145110" y="1981470"/>
            <a:ext cx="230887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6BAEA3-54A5-4A6D-9E00-A92B03E8ED37}"/>
              </a:ext>
            </a:extLst>
          </p:cNvPr>
          <p:cNvCxnSpPr>
            <a:stCxn id="2" idx="4"/>
            <a:endCxn id="66" idx="0"/>
          </p:cNvCxnSpPr>
          <p:nvPr/>
        </p:nvCxnSpPr>
        <p:spPr>
          <a:xfrm flipH="1">
            <a:off x="2668432" y="1981470"/>
            <a:ext cx="785557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3453989" y="1981470"/>
            <a:ext cx="75964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7CAB54-7EB6-4C8C-AA10-44DB33982B62}"/>
              </a:ext>
            </a:extLst>
          </p:cNvPr>
          <p:cNvCxnSpPr>
            <a:stCxn id="2" idx="4"/>
            <a:endCxn id="103" idx="0"/>
          </p:cNvCxnSpPr>
          <p:nvPr/>
        </p:nvCxnSpPr>
        <p:spPr>
          <a:xfrm>
            <a:off x="3453989" y="1981470"/>
            <a:ext cx="2240275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03D2DA-B497-463A-808C-3B6AFCC00018}"/>
              </a:ext>
            </a:extLst>
          </p:cNvPr>
          <p:cNvSpPr txBox="1"/>
          <p:nvPr/>
        </p:nvSpPr>
        <p:spPr>
          <a:xfrm>
            <a:off x="1506057" y="2372889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a          b           c             d</a:t>
            </a:r>
          </a:p>
        </p:txBody>
      </p: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37258"/>
              </p:ext>
            </p:extLst>
          </p:nvPr>
        </p:nvGraphicFramePr>
        <p:xfrm>
          <a:off x="6948093" y="1668379"/>
          <a:ext cx="5142650" cy="281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 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 err="1">
                          <a:solidFill>
                            <a:schemeClr val="tx1"/>
                          </a:solidFill>
                        </a:rPr>
                        <a:t>bc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y4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3855932" y="739563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89AD71-2C3F-4786-B224-CDDFDABE50DD}"/>
              </a:ext>
            </a:extLst>
          </p:cNvPr>
          <p:cNvSpPr txBox="1"/>
          <p:nvPr/>
        </p:nvSpPr>
        <p:spPr>
          <a:xfrm>
            <a:off x="3852690" y="560279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1</a:t>
            </a:r>
          </a:p>
        </p:txBody>
      </p:sp>
    </p:spTree>
    <p:extLst>
      <p:ext uri="{BB962C8B-B14F-4D97-AF65-F5344CB8AC3E}">
        <p14:creationId xmlns:p14="http://schemas.microsoft.com/office/powerpoint/2010/main" val="3885626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1637515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1605429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1150153" y="381946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4673957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4673956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1734448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4784194" y="441633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2902870" y="1118639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1966377" y="2002437"/>
            <a:ext cx="1523320" cy="1073637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3489697" y="2002437"/>
            <a:ext cx="1545208" cy="1073637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03D2DA-B497-463A-808C-3B6AFCC00018}"/>
              </a:ext>
            </a:extLst>
          </p:cNvPr>
          <p:cNvSpPr txBox="1"/>
          <p:nvPr/>
        </p:nvSpPr>
        <p:spPr>
          <a:xfrm>
            <a:off x="1630829" y="2251738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a                             b</a:t>
            </a:r>
          </a:p>
        </p:txBody>
      </p: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/>
        </p:nvGraphicFramePr>
        <p:xfrm>
          <a:off x="6948093" y="1465177"/>
          <a:ext cx="3085590" cy="1689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 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3855932" y="739563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89AD71-2C3F-4786-B224-CDDFDABE50DD}"/>
              </a:ext>
            </a:extLst>
          </p:cNvPr>
          <p:cNvSpPr txBox="1"/>
          <p:nvPr/>
        </p:nvSpPr>
        <p:spPr>
          <a:xfrm>
            <a:off x="3852690" y="560279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1</a:t>
            </a:r>
          </a:p>
        </p:txBody>
      </p:sp>
      <p:graphicFrame>
        <p:nvGraphicFramePr>
          <p:cNvPr id="29" name="Table 106">
            <a:extLst>
              <a:ext uri="{FF2B5EF4-FFF2-40B4-BE49-F238E27FC236}">
                <a16:creationId xmlns:a16="http://schemas.microsoft.com/office/drawing/2014/main" id="{E7A09FD1-B236-4ACE-A8D9-CF5EF355FA27}"/>
              </a:ext>
            </a:extLst>
          </p:cNvPr>
          <p:cNvGraphicFramePr>
            <a:graphicFrameLocks noGrp="1"/>
          </p:cNvGraphicFramePr>
          <p:nvPr/>
        </p:nvGraphicFramePr>
        <p:xfrm>
          <a:off x="6948093" y="4365478"/>
          <a:ext cx="3085590" cy="1689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9FFBC27-DA4F-42AB-B35B-E7A30755D614}"/>
              </a:ext>
            </a:extLst>
          </p:cNvPr>
          <p:cNvSpPr txBox="1"/>
          <p:nvPr/>
        </p:nvSpPr>
        <p:spPr>
          <a:xfrm>
            <a:off x="7563844" y="3384492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Observed </a:t>
            </a:r>
          </a:p>
          <a:p>
            <a:r>
              <a:rPr lang="en-GB" sz="2800" dirty="0"/>
              <a:t>covariance matrix</a:t>
            </a:r>
          </a:p>
        </p:txBody>
      </p:sp>
    </p:spTree>
    <p:extLst>
      <p:ext uri="{BB962C8B-B14F-4D97-AF65-F5344CB8AC3E}">
        <p14:creationId xmlns:p14="http://schemas.microsoft.com/office/powerpoint/2010/main" val="2417050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1637515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1605429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1150153" y="381946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4673957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4673956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1734448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4784194" y="4416330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2902870" y="1118639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1966377" y="2002437"/>
            <a:ext cx="1523320" cy="1073637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3489697" y="2002437"/>
            <a:ext cx="1545208" cy="1073637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03D2DA-B497-463A-808C-3B6AFCC00018}"/>
              </a:ext>
            </a:extLst>
          </p:cNvPr>
          <p:cNvSpPr txBox="1"/>
          <p:nvPr/>
        </p:nvSpPr>
        <p:spPr>
          <a:xfrm>
            <a:off x="1630829" y="2251738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a                             b</a:t>
            </a:r>
          </a:p>
        </p:txBody>
      </p: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976098"/>
              </p:ext>
            </p:extLst>
          </p:nvPr>
        </p:nvGraphicFramePr>
        <p:xfrm>
          <a:off x="6948093" y="1465177"/>
          <a:ext cx="3085590" cy="1689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 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7563844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3855932" y="739563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89AD71-2C3F-4786-B224-CDDFDABE50DD}"/>
              </a:ext>
            </a:extLst>
          </p:cNvPr>
          <p:cNvSpPr txBox="1"/>
          <p:nvPr/>
        </p:nvSpPr>
        <p:spPr>
          <a:xfrm>
            <a:off x="3852690" y="560279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1</a:t>
            </a:r>
          </a:p>
        </p:txBody>
      </p:sp>
      <p:graphicFrame>
        <p:nvGraphicFramePr>
          <p:cNvPr id="29" name="Table 106">
            <a:extLst>
              <a:ext uri="{FF2B5EF4-FFF2-40B4-BE49-F238E27FC236}">
                <a16:creationId xmlns:a16="http://schemas.microsoft.com/office/drawing/2014/main" id="{E7A09FD1-B236-4ACE-A8D9-CF5EF355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690273"/>
              </p:ext>
            </p:extLst>
          </p:nvPr>
        </p:nvGraphicFramePr>
        <p:xfrm>
          <a:off x="6948093" y="4365478"/>
          <a:ext cx="3085590" cy="1689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9FFBC27-DA4F-42AB-B35B-E7A30755D614}"/>
              </a:ext>
            </a:extLst>
          </p:cNvPr>
          <p:cNvSpPr txBox="1"/>
          <p:nvPr/>
        </p:nvSpPr>
        <p:spPr>
          <a:xfrm>
            <a:off x="7563844" y="3384492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Observed </a:t>
            </a:r>
          </a:p>
          <a:p>
            <a:r>
              <a:rPr lang="en-GB" sz="2800" dirty="0"/>
              <a:t>covariance matrix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FC1E0A6-FE09-4A6E-9FFF-7834097F0DE6}"/>
              </a:ext>
            </a:extLst>
          </p:cNvPr>
          <p:cNvSpPr/>
          <p:nvPr/>
        </p:nvSpPr>
        <p:spPr>
          <a:xfrm rot="10800000">
            <a:off x="10169594" y="2234257"/>
            <a:ext cx="753533" cy="60999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30FF1-5394-4A9F-B18D-F1E954051007}"/>
              </a:ext>
            </a:extLst>
          </p:cNvPr>
          <p:cNvSpPr txBox="1"/>
          <p:nvPr/>
        </p:nvSpPr>
        <p:spPr>
          <a:xfrm>
            <a:off x="10749010" y="2283182"/>
            <a:ext cx="1528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4 values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BD5D9161-C211-4355-AC9C-8A01CBF85F90}"/>
              </a:ext>
            </a:extLst>
          </p:cNvPr>
          <p:cNvSpPr/>
          <p:nvPr/>
        </p:nvSpPr>
        <p:spPr>
          <a:xfrm rot="10800000">
            <a:off x="10169594" y="4978244"/>
            <a:ext cx="753533" cy="60999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5FC88A-F0E4-47EE-AF55-90E88CE4B78F}"/>
              </a:ext>
            </a:extLst>
          </p:cNvPr>
          <p:cNvSpPr txBox="1"/>
          <p:nvPr/>
        </p:nvSpPr>
        <p:spPr>
          <a:xfrm>
            <a:off x="10749010" y="5027169"/>
            <a:ext cx="1528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3 values</a:t>
            </a:r>
          </a:p>
        </p:txBody>
      </p:sp>
    </p:spTree>
    <p:extLst>
      <p:ext uri="{BB962C8B-B14F-4D97-AF65-F5344CB8AC3E}">
        <p14:creationId xmlns:p14="http://schemas.microsoft.com/office/powerpoint/2010/main" val="2510344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1586718" y="3790689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1554632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3077954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E888E1F1-280C-4843-8256-4C2FE1864DB0}"/>
              </a:ext>
            </a:extLst>
          </p:cNvPr>
          <p:cNvSpPr/>
          <p:nvPr/>
        </p:nvSpPr>
        <p:spPr>
          <a:xfrm rot="1003916">
            <a:off x="3077953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1150153" y="381946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4623160" y="3076074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1AD23F76-7332-4DDB-AAD5-276343377AB2}"/>
              </a:ext>
            </a:extLst>
          </p:cNvPr>
          <p:cNvSpPr/>
          <p:nvPr/>
        </p:nvSpPr>
        <p:spPr>
          <a:xfrm rot="1003916">
            <a:off x="4623159" y="3799452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FF351A-8B7F-4580-A65E-AA75035EC0E2}"/>
              </a:ext>
            </a:extLst>
          </p:cNvPr>
          <p:cNvSpPr txBox="1"/>
          <p:nvPr/>
        </p:nvSpPr>
        <p:spPr>
          <a:xfrm>
            <a:off x="1683651" y="4428424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y1</a:t>
            </a:r>
            <a:endParaRPr lang="en-GB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8A01F7A-74A1-4988-9A0A-D82DCFCAFD2D}"/>
              </a:ext>
            </a:extLst>
          </p:cNvPr>
          <p:cNvSpPr txBox="1"/>
          <p:nvPr/>
        </p:nvSpPr>
        <p:spPr>
          <a:xfrm>
            <a:off x="3276685" y="4420849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y2</a:t>
            </a:r>
            <a:endParaRPr lang="en-GB" sz="2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AFB2D8-6FA4-42CD-9F2B-FAEA8C4D714D}"/>
              </a:ext>
            </a:extLst>
          </p:cNvPr>
          <p:cNvSpPr txBox="1"/>
          <p:nvPr/>
        </p:nvSpPr>
        <p:spPr>
          <a:xfrm>
            <a:off x="4757311" y="4416331"/>
            <a:ext cx="721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</a:t>
            </a:r>
            <a:r>
              <a:rPr lang="en-GB" sz="2400" baseline="-25000" dirty="0"/>
              <a:t>y3</a:t>
            </a:r>
            <a:endParaRPr lang="en-GB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2852075" y="1086660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1915580" y="1970458"/>
            <a:ext cx="1523322" cy="1105616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6BAEA3-54A5-4A6D-9E00-A92B03E8ED37}"/>
              </a:ext>
            </a:extLst>
          </p:cNvPr>
          <p:cNvCxnSpPr>
            <a:stCxn id="2" idx="4"/>
            <a:endCxn id="66" idx="0"/>
          </p:cNvCxnSpPr>
          <p:nvPr/>
        </p:nvCxnSpPr>
        <p:spPr>
          <a:xfrm>
            <a:off x="3438902" y="1970458"/>
            <a:ext cx="0" cy="1105616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3438902" y="1970458"/>
            <a:ext cx="1545206" cy="1105616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03D2DA-B497-463A-808C-3B6AFCC00018}"/>
              </a:ext>
            </a:extLst>
          </p:cNvPr>
          <p:cNvSpPr txBox="1"/>
          <p:nvPr/>
        </p:nvSpPr>
        <p:spPr>
          <a:xfrm>
            <a:off x="1683651" y="2155228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a             b         c             </a:t>
            </a:r>
          </a:p>
        </p:txBody>
      </p: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968372"/>
              </p:ext>
            </p:extLst>
          </p:nvPr>
        </p:nvGraphicFramePr>
        <p:xfrm>
          <a:off x="6194236" y="1336053"/>
          <a:ext cx="4114120" cy="225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 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 err="1">
                          <a:solidFill>
                            <a:schemeClr val="tx1"/>
                          </a:solidFill>
                        </a:rPr>
                        <a:t>bc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GB" sz="24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+u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y3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6852642" y="381946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Model implied covariance matrix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3855932" y="739563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89AD71-2C3F-4786-B224-CDDFDABE50DD}"/>
              </a:ext>
            </a:extLst>
          </p:cNvPr>
          <p:cNvSpPr txBox="1"/>
          <p:nvPr/>
        </p:nvSpPr>
        <p:spPr>
          <a:xfrm>
            <a:off x="3852690" y="560279"/>
            <a:ext cx="552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         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D4F776-0CEC-4995-8BCE-7D10A6E88AC2}"/>
              </a:ext>
            </a:extLst>
          </p:cNvPr>
          <p:cNvSpPr txBox="1"/>
          <p:nvPr/>
        </p:nvSpPr>
        <p:spPr>
          <a:xfrm>
            <a:off x="6852642" y="3710479"/>
            <a:ext cx="3714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Observed </a:t>
            </a:r>
          </a:p>
          <a:p>
            <a:r>
              <a:rPr lang="en-GB" sz="2800" dirty="0"/>
              <a:t>covariance matrix</a:t>
            </a:r>
          </a:p>
        </p:txBody>
      </p:sp>
      <p:graphicFrame>
        <p:nvGraphicFramePr>
          <p:cNvPr id="31" name="Table 106">
            <a:extLst>
              <a:ext uri="{FF2B5EF4-FFF2-40B4-BE49-F238E27FC236}">
                <a16:creationId xmlns:a16="http://schemas.microsoft.com/office/drawing/2014/main" id="{C27E775A-C91C-4619-B217-2E31C88DA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359752"/>
              </p:ext>
            </p:extLst>
          </p:nvPr>
        </p:nvGraphicFramePr>
        <p:xfrm>
          <a:off x="6194236" y="4579637"/>
          <a:ext cx="4114120" cy="225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530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1028530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</a:tblGrid>
              <a:tr h="563078">
                <a:tc>
                  <a:txBody>
                    <a:bodyPr/>
                    <a:lstStyle/>
                    <a:p>
                      <a:pPr algn="ctr"/>
                      <a:endParaRPr lang="en-GB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56307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GB" sz="2400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</a:tbl>
          </a:graphicData>
        </a:graphic>
      </p:graphicFrame>
      <p:sp>
        <p:nvSpPr>
          <p:cNvPr id="32" name="Arrow: Right 31">
            <a:extLst>
              <a:ext uri="{FF2B5EF4-FFF2-40B4-BE49-F238E27FC236}">
                <a16:creationId xmlns:a16="http://schemas.microsoft.com/office/drawing/2014/main" id="{BEFCCDA9-671B-4A61-9842-BF7FAE488A05}"/>
              </a:ext>
            </a:extLst>
          </p:cNvPr>
          <p:cNvSpPr/>
          <p:nvPr/>
        </p:nvSpPr>
        <p:spPr>
          <a:xfrm rot="10800000">
            <a:off x="10395283" y="2311895"/>
            <a:ext cx="753533" cy="60999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CB6E18-16D6-460D-961C-062A6331010E}"/>
              </a:ext>
            </a:extLst>
          </p:cNvPr>
          <p:cNvSpPr txBox="1"/>
          <p:nvPr/>
        </p:nvSpPr>
        <p:spPr>
          <a:xfrm>
            <a:off x="10862733" y="2360820"/>
            <a:ext cx="1640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6 values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AC325C89-DD46-4BFE-9675-22B736659B5F}"/>
              </a:ext>
            </a:extLst>
          </p:cNvPr>
          <p:cNvSpPr/>
          <p:nvPr/>
        </p:nvSpPr>
        <p:spPr>
          <a:xfrm rot="10800000">
            <a:off x="10395283" y="5055882"/>
            <a:ext cx="753533" cy="60999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5FC249-9451-4161-9725-F7C409C95A3D}"/>
              </a:ext>
            </a:extLst>
          </p:cNvPr>
          <p:cNvSpPr txBox="1"/>
          <p:nvPr/>
        </p:nvSpPr>
        <p:spPr>
          <a:xfrm>
            <a:off x="10862733" y="5104807"/>
            <a:ext cx="1640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6 values</a:t>
            </a:r>
          </a:p>
        </p:txBody>
      </p:sp>
    </p:spTree>
    <p:extLst>
      <p:ext uri="{BB962C8B-B14F-4D97-AF65-F5344CB8AC3E}">
        <p14:creationId xmlns:p14="http://schemas.microsoft.com/office/powerpoint/2010/main" val="332166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274</Words>
  <Application>Microsoft Office PowerPoint</Application>
  <PresentationFormat>Widescreen</PresentationFormat>
  <Paragraphs>187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17</cp:revision>
  <dcterms:created xsi:type="dcterms:W3CDTF">2025-08-20T12:50:25Z</dcterms:created>
  <dcterms:modified xsi:type="dcterms:W3CDTF">2025-11-04T10:24:11Z</dcterms:modified>
</cp:coreProperties>
</file>