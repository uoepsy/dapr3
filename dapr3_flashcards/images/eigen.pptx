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8996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474" y="1122363"/>
            <a:ext cx="841470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456" y="3602038"/>
            <a:ext cx="742473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38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13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445" y="1709740"/>
            <a:ext cx="853844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45" y="4589465"/>
            <a:ext cx="853844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39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601" y="1825625"/>
            <a:ext cx="42073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698" y="1825625"/>
            <a:ext cx="42073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725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365127"/>
            <a:ext cx="85384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892" y="1681163"/>
            <a:ext cx="418801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1892" y="2505075"/>
            <a:ext cx="418801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698" y="1681163"/>
            <a:ext cx="420864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1698" y="2505075"/>
            <a:ext cx="420864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19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2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5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457200"/>
            <a:ext cx="31928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641" y="987427"/>
            <a:ext cx="501169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2057400"/>
            <a:ext cx="31928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02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457200"/>
            <a:ext cx="31928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8641" y="987427"/>
            <a:ext cx="501169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0" y="2057400"/>
            <a:ext cx="31928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77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66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4438" y="365125"/>
            <a:ext cx="213461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602" y="365125"/>
            <a:ext cx="628009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14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601" y="365127"/>
            <a:ext cx="85384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601" y="1825625"/>
            <a:ext cx="85384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601" y="6356352"/>
            <a:ext cx="2227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A9039-74A3-4F33-8C52-90CD2E324AAB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259" y="6356352"/>
            <a:ext cx="3341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1628" y="6356352"/>
            <a:ext cx="2227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0F476-228C-43A9-8AA3-B028104083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5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0364C6-7D23-4B51-928E-F5560F615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168413"/>
              </p:ext>
            </p:extLst>
          </p:nvPr>
        </p:nvGraphicFramePr>
        <p:xfrm>
          <a:off x="-211667" y="608279"/>
          <a:ext cx="2929465" cy="1804726"/>
        </p:xfrm>
        <a:graphic>
          <a:graphicData uri="http://schemas.openxmlformats.org/drawingml/2006/table">
            <a:tbl>
              <a:tblPr/>
              <a:tblGrid>
                <a:gridCol w="418495">
                  <a:extLst>
                    <a:ext uri="{9D8B030D-6E8A-4147-A177-3AD203B41FA5}">
                      <a16:colId xmlns:a16="http://schemas.microsoft.com/office/drawing/2014/main" val="653792627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707293571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445243065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3319033414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842167478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940416335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452663842"/>
                    </a:ext>
                  </a:extLst>
                </a:gridCol>
              </a:tblGrid>
              <a:tr h="257818"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858938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964442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975807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08399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637400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461533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09433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3C8174-E5D6-4D1A-B9F1-76134ACB6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662129"/>
              </p:ext>
            </p:extLst>
          </p:nvPr>
        </p:nvGraphicFramePr>
        <p:xfrm>
          <a:off x="5537190" y="908917"/>
          <a:ext cx="2929465" cy="1804726"/>
        </p:xfrm>
        <a:graphic>
          <a:graphicData uri="http://schemas.openxmlformats.org/drawingml/2006/table">
            <a:tbl>
              <a:tblPr/>
              <a:tblGrid>
                <a:gridCol w="418495">
                  <a:extLst>
                    <a:ext uri="{9D8B030D-6E8A-4147-A177-3AD203B41FA5}">
                      <a16:colId xmlns:a16="http://schemas.microsoft.com/office/drawing/2014/main" val="1527542129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128826113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3060646274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423376515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2935632915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4230523631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145611650"/>
                    </a:ext>
                  </a:extLst>
                </a:gridCol>
              </a:tblGrid>
              <a:tr h="257818">
                <a:tc>
                  <a:txBody>
                    <a:bodyPr/>
                    <a:lstStyle/>
                    <a:p>
                      <a:pPr algn="ctr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92263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19350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87050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5982173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341493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231518"/>
                  </a:ext>
                </a:extLst>
              </a:tr>
              <a:tr h="257818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1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BF68D7-BD1E-4EB4-87C8-6C27252D8DBA}"/>
              </a:ext>
            </a:extLst>
          </p:cNvPr>
          <p:cNvSpPr txBox="1"/>
          <p:nvPr/>
        </p:nvSpPr>
        <p:spPr>
          <a:xfrm>
            <a:off x="5380567" y="133388"/>
            <a:ext cx="45296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$values</a:t>
            </a:r>
          </a:p>
          <a:p>
            <a:r>
              <a:rPr lang="en-GB" sz="1100" dirty="0"/>
              <a:t>                2.218   1.458    0.658   0.588   0.572   0.505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E47BA-3FD5-499B-8E21-48C21E152E23}"/>
              </a:ext>
            </a:extLst>
          </p:cNvPr>
          <p:cNvSpPr txBox="1"/>
          <p:nvPr/>
        </p:nvSpPr>
        <p:spPr>
          <a:xfrm>
            <a:off x="5414426" y="778112"/>
            <a:ext cx="3849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$vectors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6A95E5-5F2E-454F-A6AF-5B08CD9AE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43093"/>
              </p:ext>
            </p:extLst>
          </p:nvPr>
        </p:nvGraphicFramePr>
        <p:xfrm>
          <a:off x="5613398" y="4372104"/>
          <a:ext cx="2929465" cy="1792455"/>
        </p:xfrm>
        <a:graphic>
          <a:graphicData uri="http://schemas.openxmlformats.org/drawingml/2006/table">
            <a:tbl>
              <a:tblPr/>
              <a:tblGrid>
                <a:gridCol w="418495">
                  <a:extLst>
                    <a:ext uri="{9D8B030D-6E8A-4147-A177-3AD203B41FA5}">
                      <a16:colId xmlns:a16="http://schemas.microsoft.com/office/drawing/2014/main" val="373218443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405683451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170935057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641944669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3602732543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2487560698"/>
                    </a:ext>
                  </a:extLst>
                </a:gridCol>
                <a:gridCol w="418495">
                  <a:extLst>
                    <a:ext uri="{9D8B030D-6E8A-4147-A177-3AD203B41FA5}">
                      <a16:colId xmlns:a16="http://schemas.microsoft.com/office/drawing/2014/main" val="1421513217"/>
                    </a:ext>
                  </a:extLst>
                </a:gridCol>
              </a:tblGrid>
              <a:tr h="256065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435235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594138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653608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13493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442328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91578"/>
                  </a:ext>
                </a:extLst>
              </a:tr>
              <a:tr h="256065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44063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F161CC2-C8F2-473F-9DE4-A01FB665BE26}"/>
              </a:ext>
            </a:extLst>
          </p:cNvPr>
          <p:cNvSpPr/>
          <p:nvPr/>
        </p:nvSpPr>
        <p:spPr>
          <a:xfrm>
            <a:off x="5459914" y="808000"/>
            <a:ext cx="551913" cy="199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E8824E-1CD3-414D-B88B-D97C3FD84A16}"/>
              </a:ext>
            </a:extLst>
          </p:cNvPr>
          <p:cNvSpPr/>
          <p:nvPr/>
        </p:nvSpPr>
        <p:spPr>
          <a:xfrm>
            <a:off x="5446729" y="171057"/>
            <a:ext cx="519607" cy="1884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897263-9D23-4970-A7E6-9079DF50F0DE}"/>
              </a:ext>
            </a:extLst>
          </p:cNvPr>
          <p:cNvCxnSpPr>
            <a:cxnSpLocks/>
            <a:stCxn id="12" idx="1"/>
            <a:endCxn id="15" idx="3"/>
          </p:cNvCxnSpPr>
          <p:nvPr/>
        </p:nvCxnSpPr>
        <p:spPr>
          <a:xfrm flipH="1">
            <a:off x="4956940" y="265286"/>
            <a:ext cx="489789" cy="990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991508-3826-43C0-9272-FCAF9E3F5B45}"/>
              </a:ext>
            </a:extLst>
          </p:cNvPr>
          <p:cNvCxnSpPr>
            <a:cxnSpLocks/>
            <a:stCxn id="11" idx="1"/>
            <a:endCxn id="16" idx="3"/>
          </p:cNvCxnSpPr>
          <p:nvPr/>
        </p:nvCxnSpPr>
        <p:spPr>
          <a:xfrm flipH="1" flipV="1">
            <a:off x="5036173" y="813494"/>
            <a:ext cx="423741" cy="944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7E46FD-300F-4482-9142-BA1E3163C230}"/>
              </a:ext>
            </a:extLst>
          </p:cNvPr>
          <p:cNvSpPr txBox="1"/>
          <p:nvPr/>
        </p:nvSpPr>
        <p:spPr>
          <a:xfrm>
            <a:off x="3981993" y="210448"/>
            <a:ext cx="974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magnitude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A8F021-C2F3-4D2C-B19D-98A37E5F804F}"/>
              </a:ext>
            </a:extLst>
          </p:cNvPr>
          <p:cNvSpPr txBox="1"/>
          <p:nvPr/>
        </p:nvSpPr>
        <p:spPr>
          <a:xfrm>
            <a:off x="4198251" y="659605"/>
            <a:ext cx="837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direction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20C38E4B-BB7C-48A6-8BDC-EAE923C3A3E5}"/>
              </a:ext>
            </a:extLst>
          </p:cNvPr>
          <p:cNvSpPr/>
          <p:nvPr/>
        </p:nvSpPr>
        <p:spPr>
          <a:xfrm rot="5400000">
            <a:off x="1337225" y="-656323"/>
            <a:ext cx="259245" cy="2501904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0737D-89C2-4010-B06B-46FFCE7BB1C8}"/>
              </a:ext>
            </a:extLst>
          </p:cNvPr>
          <p:cNvSpPr txBox="1"/>
          <p:nvPr/>
        </p:nvSpPr>
        <p:spPr>
          <a:xfrm>
            <a:off x="215895" y="126524"/>
            <a:ext cx="2531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observed correlated variables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D36130E1-8BD5-4EB9-AB6A-FAC75417E1C5}"/>
              </a:ext>
            </a:extLst>
          </p:cNvPr>
          <p:cNvSpPr/>
          <p:nvPr/>
        </p:nvSpPr>
        <p:spPr>
          <a:xfrm rot="5400000">
            <a:off x="7160769" y="-261243"/>
            <a:ext cx="117531" cy="2324919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322645-B1A1-4947-924F-FE1741A827CD}"/>
              </a:ext>
            </a:extLst>
          </p:cNvPr>
          <p:cNvSpPr txBox="1"/>
          <p:nvPr/>
        </p:nvSpPr>
        <p:spPr>
          <a:xfrm>
            <a:off x="5985358" y="557036"/>
            <a:ext cx="2531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dimensions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511F0E5E-C384-424E-AF3C-F2278C607B82}"/>
              </a:ext>
            </a:extLst>
          </p:cNvPr>
          <p:cNvSpPr/>
          <p:nvPr/>
        </p:nvSpPr>
        <p:spPr>
          <a:xfrm rot="5400000">
            <a:off x="7219044" y="3106338"/>
            <a:ext cx="116105" cy="2531532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F29E4-C40E-4005-9E3C-632BA627D38B}"/>
              </a:ext>
            </a:extLst>
          </p:cNvPr>
          <p:cNvSpPr txBox="1"/>
          <p:nvPr/>
        </p:nvSpPr>
        <p:spPr>
          <a:xfrm>
            <a:off x="6011330" y="4016550"/>
            <a:ext cx="2531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principal components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5DF1AF67-C628-41E5-9D64-E88045164402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1253064" y="2708273"/>
            <a:ext cx="4360334" cy="2560058"/>
          </a:xfrm>
          <a:prstGeom prst="curvedConnector3">
            <a:avLst>
              <a:gd name="adj1" fmla="val 103010"/>
            </a:avLst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585ADB-B09D-489B-B19F-4451F2AF76B9}"/>
              </a:ext>
            </a:extLst>
          </p:cNvPr>
          <p:cNvSpPr txBox="1"/>
          <p:nvPr/>
        </p:nvSpPr>
        <p:spPr>
          <a:xfrm rot="893869">
            <a:off x="1243645" y="4888425"/>
            <a:ext cx="26790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component matrix squared</a:t>
            </a:r>
            <a:r>
              <a:rPr lang="en-GB" baseline="30000" dirty="0">
                <a:solidFill>
                  <a:schemeClr val="accent6"/>
                </a:solidFill>
              </a:rPr>
              <a:t>1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98A225-FE05-49C4-9076-70D625B21187}"/>
              </a:ext>
            </a:extLst>
          </p:cNvPr>
          <p:cNvSpPr txBox="1"/>
          <p:nvPr/>
        </p:nvSpPr>
        <p:spPr>
          <a:xfrm>
            <a:off x="0" y="6550223"/>
            <a:ext cx="959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aseline="30000" dirty="0">
                <a:solidFill>
                  <a:schemeClr val="accent6"/>
                </a:solidFill>
              </a:rPr>
              <a:t>1 </a:t>
            </a:r>
            <a:r>
              <a:rPr lang="en-GB" sz="1400" dirty="0">
                <a:solidFill>
                  <a:schemeClr val="accent6"/>
                </a:solidFill>
              </a:rPr>
              <a:t>“squaring” a matrix is not the same as just squaring each entry. See https://www.storyofmathematics.com/square-matrix/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B5DEAD4D-2ACF-4E9A-BBE3-53C61BDDD650}"/>
              </a:ext>
            </a:extLst>
          </p:cNvPr>
          <p:cNvSpPr/>
          <p:nvPr/>
        </p:nvSpPr>
        <p:spPr>
          <a:xfrm rot="5400000" flipH="1">
            <a:off x="7163521" y="-603318"/>
            <a:ext cx="112028" cy="2324916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79E765A-60E7-4CEA-891F-D18258DCF8DA}"/>
              </a:ext>
            </a:extLst>
          </p:cNvPr>
          <p:cNvCxnSpPr/>
          <p:nvPr/>
        </p:nvCxnSpPr>
        <p:spPr>
          <a:xfrm>
            <a:off x="2946393" y="1943118"/>
            <a:ext cx="2468033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443CF7-EC94-4F7A-997D-39BCAB2904C6}"/>
              </a:ext>
            </a:extLst>
          </p:cNvPr>
          <p:cNvSpPr txBox="1"/>
          <p:nvPr/>
        </p:nvSpPr>
        <p:spPr>
          <a:xfrm>
            <a:off x="3052528" y="1581383"/>
            <a:ext cx="2149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eigen decomposition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0B2E76-AA54-453F-BC93-2FD283F0557A}"/>
              </a:ext>
            </a:extLst>
          </p:cNvPr>
          <p:cNvCxnSpPr>
            <a:cxnSpLocks/>
          </p:cNvCxnSpPr>
          <p:nvPr/>
        </p:nvCxnSpPr>
        <p:spPr>
          <a:xfrm>
            <a:off x="6840135" y="2927852"/>
            <a:ext cx="13627" cy="1047706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7D13F4-A49C-4FD0-9BD3-5875AC166066}"/>
                  </a:ext>
                </a:extLst>
              </p:cNvPr>
              <p:cNvSpPr txBox="1"/>
              <p:nvPr/>
            </p:nvSpPr>
            <p:spPr>
              <a:xfrm>
                <a:off x="6609566" y="3166662"/>
                <a:ext cx="2654300" cy="407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𝑣𝑒𝑐𝑡𝑜𝑟𝑠</m:t>
                      </m:r>
                      <m:r>
                        <a:rPr lang="en-GB" sz="1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𝑣𝑎𝑙𝑢𝑒𝑠</m:t>
                          </m:r>
                        </m:e>
                      </m:rad>
                    </m:oMath>
                  </m:oMathPara>
                </a14:m>
                <a:endParaRPr lang="en-GB" sz="1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7D13F4-A49C-4FD0-9BD3-5875AC166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566" y="3166662"/>
                <a:ext cx="2654300" cy="4074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55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258</Words>
  <Application>Microsoft Office PowerPoint</Application>
  <PresentationFormat>Custom</PresentationFormat>
  <Paragraphs>156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</cp:revision>
  <dcterms:created xsi:type="dcterms:W3CDTF">2025-07-14T08:34:39Z</dcterms:created>
  <dcterms:modified xsi:type="dcterms:W3CDTF">2025-07-14T08:38:33Z</dcterms:modified>
</cp:coreProperties>
</file>