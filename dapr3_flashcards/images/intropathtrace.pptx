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4F93D-5AAD-4D6C-84FE-A68542924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6224BA-CB0A-4B61-8BB1-D25FCF84E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CD7AC-81AA-40B5-8E73-D7D60482A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FFB01-A29B-4B45-8C1F-40354A8E5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A1329-9C73-49CC-A4F1-2A8CAE6E2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371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FB7AA-77EE-48AF-A09C-AEEA99F68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918CD-BAA2-471D-9581-73B3885B9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D012C-6213-4C25-99EE-8BD2C59AD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CFDF8-5F47-444C-9F06-F3E221F3A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E6AF7-A2E7-45CF-ACD3-AB81C6456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329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6B956-AE0E-4FD8-A218-7DD6D7001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ED089-9E5A-4150-A1C1-391AFFF18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5D0E0-AEE2-4275-AB89-394BDA8D8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C1A3D-9C83-4D87-9007-7001C1725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CC375-BD15-482C-9114-6869B203E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98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E6C6-9565-4771-9F7F-F63E01B9B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174C5-2CFE-4972-A9B4-4B5AEEAC5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7666E-9F8A-4046-805D-3579BC9D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86132-DF8D-4D73-BE90-AE4329BF5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3AE9E-9B8D-45CD-86EC-0DAA4C897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719C2-5DD4-44DF-B2C3-24317CE84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801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99D9E-3A55-4407-8515-9DEE676DC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EDA1C-D820-43CC-B67F-B73FDD146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0B274-DC96-41FA-AAB9-5BBBC47C8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4DA5D-92E1-4D38-B740-AF5425B894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80D6F8-3979-4DEB-9548-6EBC06A8EC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8F5044-D4F5-4EE6-BDFE-7DEE35074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0676F3-4763-4777-9300-2AEC41176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8D7CB6-79F1-4A90-9284-26314529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333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7F5DB-D72D-47E5-B1BE-E4813673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274373-4574-4EE4-BBFA-1666F3461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8B3C9-08F8-4B17-9083-83E7B4BC7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DC845F-3337-44A5-97C8-B364E76A1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36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58A092-FBE6-412B-91EB-AEB3E9FF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1A3938-5A2B-4F68-AA06-01C29D191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9D3CF-E446-45B3-9CE1-DD5E57CC6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477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03AEE-B31D-4041-A6BF-A859044DA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1F12C-79A7-453B-8E8E-396F39DA4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3F9C5-353E-48DE-84CD-1E55310A4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E0ECD-47A4-496C-8380-303747DF9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762F3-7F9F-4373-83FF-2E0FDEAD4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27511-D0AB-468E-BCC5-9FB9296ED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251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3C6C9-9564-407E-AD3E-78768560F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134A02-456F-4068-9E07-8B18BBF1F5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31C06-6CD1-4AF6-AFC8-8433A10F2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16FF6-9CE0-4093-B50D-E65172A29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C15F0-932E-4497-ABCE-DED031F28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0FD7B-7BBD-45C6-B2AC-9A01F754B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46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23055-EDE8-4747-86A4-A9979D36A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ED1C4B-6CC6-4F5B-9775-8BC2AC16C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00D1E-36E9-43AE-B217-76B870ED6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26D54-0AEC-448B-9EAB-A544395A8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7BE1E-99E4-441C-B496-539E6EE8D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9427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43A7F7-EFC6-4337-A7A9-5AA1E6E3A8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6F30A-F4D0-4C5C-8190-2DC7AB8F6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86538-1BDC-45D1-8A96-7389358AD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98F00-6735-4CDB-8A00-7D04AF9EB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75FE1-C994-4191-BF46-7D850FB5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984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C27551-AC58-4D75-B63B-87B297446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FDB37-FA63-4F8F-AE6B-6D1141DFA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9EB9C-7673-4230-8461-3A0E409EC5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7BBF2-5813-4A92-ADF4-45C081C37504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F0697-B7F2-46A1-BD85-24D1C8DEEF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63A35-9F42-45D8-85CC-53313D537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627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rc 63">
            <a:extLst>
              <a:ext uri="{FF2B5EF4-FFF2-40B4-BE49-F238E27FC236}">
                <a16:creationId xmlns:a16="http://schemas.microsoft.com/office/drawing/2014/main" id="{1691CF3F-FAC2-4DA5-BF63-0B4D4D72F3A6}"/>
              </a:ext>
            </a:extLst>
          </p:cNvPr>
          <p:cNvSpPr/>
          <p:nvPr/>
        </p:nvSpPr>
        <p:spPr>
          <a:xfrm rot="1003916">
            <a:off x="816248" y="3790689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44291F-1D23-48B0-8155-E5B9189D0B29}"/>
              </a:ext>
            </a:extLst>
          </p:cNvPr>
          <p:cNvSpPr/>
          <p:nvPr/>
        </p:nvSpPr>
        <p:spPr>
          <a:xfrm>
            <a:off x="784162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DE9A06-4DA6-4332-9AFB-19301BCBF9A4}"/>
              </a:ext>
            </a:extLst>
          </p:cNvPr>
          <p:cNvSpPr/>
          <p:nvPr/>
        </p:nvSpPr>
        <p:spPr>
          <a:xfrm>
            <a:off x="2307484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E888E1F1-280C-4843-8256-4C2FE1864DB0}"/>
              </a:ext>
            </a:extLst>
          </p:cNvPr>
          <p:cNvSpPr/>
          <p:nvPr/>
        </p:nvSpPr>
        <p:spPr>
          <a:xfrm rot="1003916">
            <a:off x="2307483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905296-943E-4230-BCA4-59A75EF5C5A7}"/>
              </a:ext>
            </a:extLst>
          </p:cNvPr>
          <p:cNvSpPr/>
          <p:nvPr/>
        </p:nvSpPr>
        <p:spPr>
          <a:xfrm>
            <a:off x="3852690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Y3</a:t>
            </a:r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1AD23F76-7332-4DDB-AAD5-276343377AB2}"/>
              </a:ext>
            </a:extLst>
          </p:cNvPr>
          <p:cNvSpPr/>
          <p:nvPr/>
        </p:nvSpPr>
        <p:spPr>
          <a:xfrm rot="1003916">
            <a:off x="3852689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BFF351A-8B7F-4580-A65E-AA75035EC0E2}"/>
              </a:ext>
            </a:extLst>
          </p:cNvPr>
          <p:cNvSpPr txBox="1"/>
          <p:nvPr/>
        </p:nvSpPr>
        <p:spPr>
          <a:xfrm>
            <a:off x="913181" y="4428424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y1</a:t>
            </a:r>
            <a:endParaRPr lang="en-GB" sz="2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8A01F7A-74A1-4988-9A0A-D82DCFCAFD2D}"/>
              </a:ext>
            </a:extLst>
          </p:cNvPr>
          <p:cNvSpPr txBox="1"/>
          <p:nvPr/>
        </p:nvSpPr>
        <p:spPr>
          <a:xfrm>
            <a:off x="2506215" y="4420849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y2</a:t>
            </a:r>
            <a:endParaRPr lang="en-GB" sz="24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8AFB2D8-6FA4-42CD-9F2B-FAEA8C4D714D}"/>
              </a:ext>
            </a:extLst>
          </p:cNvPr>
          <p:cNvSpPr txBox="1"/>
          <p:nvPr/>
        </p:nvSpPr>
        <p:spPr>
          <a:xfrm>
            <a:off x="3986841" y="4416331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y3</a:t>
            </a:r>
            <a:endParaRPr lang="en-GB" sz="240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E96D7AE-3114-4CA7-BD7C-C81F8B1226BA}"/>
              </a:ext>
            </a:extLst>
          </p:cNvPr>
          <p:cNvSpPr/>
          <p:nvPr/>
        </p:nvSpPr>
        <p:spPr>
          <a:xfrm>
            <a:off x="5333316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Y4</a:t>
            </a:r>
          </a:p>
        </p:txBody>
      </p:sp>
      <p:sp>
        <p:nvSpPr>
          <p:cNvPr id="104" name="Arc 103">
            <a:extLst>
              <a:ext uri="{FF2B5EF4-FFF2-40B4-BE49-F238E27FC236}">
                <a16:creationId xmlns:a16="http://schemas.microsoft.com/office/drawing/2014/main" id="{C88199AF-3BD6-4F0B-9084-409882704445}"/>
              </a:ext>
            </a:extLst>
          </p:cNvPr>
          <p:cNvSpPr/>
          <p:nvPr/>
        </p:nvSpPr>
        <p:spPr>
          <a:xfrm rot="1003916">
            <a:off x="5333315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FF7F5B6-FCBA-4E96-BE94-0796EC7C72DC}"/>
              </a:ext>
            </a:extLst>
          </p:cNvPr>
          <p:cNvSpPr txBox="1"/>
          <p:nvPr/>
        </p:nvSpPr>
        <p:spPr>
          <a:xfrm>
            <a:off x="5467467" y="4416331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y4</a:t>
            </a:r>
            <a:endParaRPr lang="en-GB" sz="24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0A2FE2F-57CD-411E-97CA-0DD3A9823A6E}"/>
              </a:ext>
            </a:extLst>
          </p:cNvPr>
          <p:cNvSpPr txBox="1"/>
          <p:nvPr/>
        </p:nvSpPr>
        <p:spPr>
          <a:xfrm>
            <a:off x="7563844" y="381946"/>
            <a:ext cx="371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Model implied covariance matrix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9D28BC6-3B18-4866-83B8-E82E0DA4375B}"/>
              </a:ext>
            </a:extLst>
          </p:cNvPr>
          <p:cNvSpPr txBox="1"/>
          <p:nvPr/>
        </p:nvSpPr>
        <p:spPr>
          <a:xfrm>
            <a:off x="1150153" y="381946"/>
            <a:ext cx="2844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Theoretical Model</a:t>
            </a:r>
          </a:p>
        </p:txBody>
      </p:sp>
      <p:graphicFrame>
        <p:nvGraphicFramePr>
          <p:cNvPr id="17" name="Table 106">
            <a:extLst>
              <a:ext uri="{FF2B5EF4-FFF2-40B4-BE49-F238E27FC236}">
                <a16:creationId xmlns:a16="http://schemas.microsoft.com/office/drawing/2014/main" id="{21068BBA-FA55-4FF4-9122-CF1CD93641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388111"/>
              </p:ext>
            </p:extLst>
          </p:nvPr>
        </p:nvGraphicFramePr>
        <p:xfrm>
          <a:off x="6948093" y="1668379"/>
          <a:ext cx="5142650" cy="2815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343335492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34715431"/>
                    </a:ext>
                  </a:extLst>
                </a:gridCol>
              </a:tblGrid>
              <a:tr h="563078">
                <a:tc>
                  <a:txBody>
                    <a:bodyPr/>
                    <a:lstStyle/>
                    <a:p>
                      <a:pPr algn="ctr"/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y1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y3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47210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y4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831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37DB55DB-30E7-4FB2-8407-CFE96A03F8EA}"/>
              </a:ext>
            </a:extLst>
          </p:cNvPr>
          <p:cNvSpPr txBox="1"/>
          <p:nvPr/>
        </p:nvSpPr>
        <p:spPr>
          <a:xfrm>
            <a:off x="1150153" y="381946"/>
            <a:ext cx="2844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Theoretical Model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AC6FA8-6F76-4D5A-9DD6-EAF3606D5D8F}"/>
              </a:ext>
            </a:extLst>
          </p:cNvPr>
          <p:cNvGrpSpPr/>
          <p:nvPr/>
        </p:nvGrpSpPr>
        <p:grpSpPr>
          <a:xfrm>
            <a:off x="784162" y="1319322"/>
            <a:ext cx="5405200" cy="4154984"/>
            <a:chOff x="784162" y="1319322"/>
            <a:chExt cx="5405200" cy="4154984"/>
          </a:xfrm>
        </p:grpSpPr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1691CF3F-FAC2-4DA5-BF63-0B4D4D72F3A6}"/>
                </a:ext>
              </a:extLst>
            </p:cNvPr>
            <p:cNvSpPr/>
            <p:nvPr/>
          </p:nvSpPr>
          <p:spPr>
            <a:xfrm rot="1003916">
              <a:off x="816248" y="3790689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3200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D44291F-1D23-48B0-8155-E5B9189D0B29}"/>
                </a:ext>
              </a:extLst>
            </p:cNvPr>
            <p:cNvSpPr/>
            <p:nvPr/>
          </p:nvSpPr>
          <p:spPr>
            <a:xfrm>
              <a:off x="784162" y="3076074"/>
              <a:ext cx="721895" cy="7058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Y1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5DE9A06-4DA6-4332-9AFB-19301BCBF9A4}"/>
                </a:ext>
              </a:extLst>
            </p:cNvPr>
            <p:cNvSpPr/>
            <p:nvPr/>
          </p:nvSpPr>
          <p:spPr>
            <a:xfrm>
              <a:off x="2307484" y="3076074"/>
              <a:ext cx="721895" cy="7058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Y2</a:t>
              </a:r>
            </a:p>
          </p:txBody>
        </p:sp>
        <p:sp>
          <p:nvSpPr>
            <p:cNvPr id="67" name="Arc 66">
              <a:extLst>
                <a:ext uri="{FF2B5EF4-FFF2-40B4-BE49-F238E27FC236}">
                  <a16:creationId xmlns:a16="http://schemas.microsoft.com/office/drawing/2014/main" id="{E888E1F1-280C-4843-8256-4C2FE1864DB0}"/>
                </a:ext>
              </a:extLst>
            </p:cNvPr>
            <p:cNvSpPr/>
            <p:nvPr/>
          </p:nvSpPr>
          <p:spPr>
            <a:xfrm rot="1003916">
              <a:off x="2307483" y="3799452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320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3D905296-943E-4230-BCA4-59A75EF5C5A7}"/>
                </a:ext>
              </a:extLst>
            </p:cNvPr>
            <p:cNvSpPr/>
            <p:nvPr/>
          </p:nvSpPr>
          <p:spPr>
            <a:xfrm>
              <a:off x="3852690" y="3076074"/>
              <a:ext cx="721895" cy="7058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Y3</a:t>
              </a:r>
            </a:p>
          </p:txBody>
        </p:sp>
        <p:sp>
          <p:nvSpPr>
            <p:cNvPr id="86" name="Arc 85">
              <a:extLst>
                <a:ext uri="{FF2B5EF4-FFF2-40B4-BE49-F238E27FC236}">
                  <a16:creationId xmlns:a16="http://schemas.microsoft.com/office/drawing/2014/main" id="{1AD23F76-7332-4DDB-AAD5-276343377AB2}"/>
                </a:ext>
              </a:extLst>
            </p:cNvPr>
            <p:cNvSpPr/>
            <p:nvPr/>
          </p:nvSpPr>
          <p:spPr>
            <a:xfrm rot="1003916">
              <a:off x="3852689" y="3799452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320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BFF351A-8B7F-4580-A65E-AA75035EC0E2}"/>
                </a:ext>
              </a:extLst>
            </p:cNvPr>
            <p:cNvSpPr txBox="1"/>
            <p:nvPr/>
          </p:nvSpPr>
          <p:spPr>
            <a:xfrm>
              <a:off x="913181" y="4428424"/>
              <a:ext cx="7218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u</a:t>
              </a:r>
              <a:r>
                <a:rPr lang="en-GB" sz="2400" baseline="-25000" dirty="0"/>
                <a:t>y1</a:t>
              </a:r>
              <a:endParaRPr lang="en-GB" sz="2400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8A01F7A-74A1-4988-9A0A-D82DCFCAFD2D}"/>
                </a:ext>
              </a:extLst>
            </p:cNvPr>
            <p:cNvSpPr txBox="1"/>
            <p:nvPr/>
          </p:nvSpPr>
          <p:spPr>
            <a:xfrm>
              <a:off x="2506215" y="4420849"/>
              <a:ext cx="7218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u</a:t>
              </a:r>
              <a:r>
                <a:rPr lang="en-GB" sz="2400" baseline="-25000" dirty="0"/>
                <a:t>y2</a:t>
              </a:r>
              <a:endParaRPr lang="en-GB" sz="2400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8AFB2D8-6FA4-42CD-9F2B-FAEA8C4D714D}"/>
                </a:ext>
              </a:extLst>
            </p:cNvPr>
            <p:cNvSpPr txBox="1"/>
            <p:nvPr/>
          </p:nvSpPr>
          <p:spPr>
            <a:xfrm>
              <a:off x="3986841" y="4416331"/>
              <a:ext cx="7218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u</a:t>
              </a:r>
              <a:r>
                <a:rPr lang="en-GB" sz="2400" baseline="-25000" dirty="0"/>
                <a:t>y3</a:t>
              </a:r>
              <a:endParaRPr lang="en-GB" sz="2400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E96D7AE-3114-4CA7-BD7C-C81F8B1226BA}"/>
                </a:ext>
              </a:extLst>
            </p:cNvPr>
            <p:cNvSpPr/>
            <p:nvPr/>
          </p:nvSpPr>
          <p:spPr>
            <a:xfrm>
              <a:off x="5333316" y="3076074"/>
              <a:ext cx="721895" cy="7058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Y4</a:t>
              </a:r>
            </a:p>
          </p:txBody>
        </p:sp>
        <p:sp>
          <p:nvSpPr>
            <p:cNvPr id="104" name="Arc 103">
              <a:extLst>
                <a:ext uri="{FF2B5EF4-FFF2-40B4-BE49-F238E27FC236}">
                  <a16:creationId xmlns:a16="http://schemas.microsoft.com/office/drawing/2014/main" id="{C88199AF-3BD6-4F0B-9084-409882704445}"/>
                </a:ext>
              </a:extLst>
            </p:cNvPr>
            <p:cNvSpPr/>
            <p:nvPr/>
          </p:nvSpPr>
          <p:spPr>
            <a:xfrm rot="1003916">
              <a:off x="5333315" y="3799452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320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FF7F5B6-FCBA-4E96-BE94-0796EC7C72DC}"/>
                </a:ext>
              </a:extLst>
            </p:cNvPr>
            <p:cNvSpPr txBox="1"/>
            <p:nvPr/>
          </p:nvSpPr>
          <p:spPr>
            <a:xfrm>
              <a:off x="5467467" y="4416331"/>
              <a:ext cx="7218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u</a:t>
              </a:r>
              <a:r>
                <a:rPr lang="en-GB" sz="2400" baseline="-25000" dirty="0"/>
                <a:t>y4</a:t>
              </a:r>
              <a:endParaRPr lang="en-GB" sz="2400" dirty="0"/>
            </a:p>
          </p:txBody>
        </p:sp>
        <p:cxnSp>
          <p:nvCxnSpPr>
            <p:cNvPr id="3" name="Connector: Curved 2">
              <a:extLst>
                <a:ext uri="{FF2B5EF4-FFF2-40B4-BE49-F238E27FC236}">
                  <a16:creationId xmlns:a16="http://schemas.microsoft.com/office/drawing/2014/main" id="{E7973318-829A-4E04-9456-F7788A22AC5B}"/>
                </a:ext>
              </a:extLst>
            </p:cNvPr>
            <p:cNvCxnSpPr>
              <a:cxnSpLocks/>
              <a:stCxn id="65" idx="0"/>
              <a:endCxn id="66" idx="0"/>
            </p:cNvCxnSpPr>
            <p:nvPr/>
          </p:nvCxnSpPr>
          <p:spPr>
            <a:xfrm rot="5400000" flipH="1" flipV="1">
              <a:off x="1906771" y="2314413"/>
              <a:ext cx="12700" cy="1523322"/>
            </a:xfrm>
            <a:prstGeom prst="curvedConnector3">
              <a:avLst>
                <a:gd name="adj1" fmla="val 1800000"/>
              </a:avLst>
            </a:prstGeom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: Curved 5">
              <a:extLst>
                <a:ext uri="{FF2B5EF4-FFF2-40B4-BE49-F238E27FC236}">
                  <a16:creationId xmlns:a16="http://schemas.microsoft.com/office/drawing/2014/main" id="{0F8DF127-6FCA-403C-B820-3BF50B3F0154}"/>
                </a:ext>
              </a:extLst>
            </p:cNvPr>
            <p:cNvCxnSpPr>
              <a:stCxn id="65" idx="0"/>
              <a:endCxn id="85" idx="0"/>
            </p:cNvCxnSpPr>
            <p:nvPr/>
          </p:nvCxnSpPr>
          <p:spPr>
            <a:xfrm rot="5400000" flipH="1" flipV="1">
              <a:off x="2679374" y="1541810"/>
              <a:ext cx="12700" cy="3068528"/>
            </a:xfrm>
            <a:prstGeom prst="curvedConnector3">
              <a:avLst>
                <a:gd name="adj1" fmla="val 5210528"/>
              </a:avLst>
            </a:prstGeom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02B57284-F137-4E7C-A245-8DD58F37957B}"/>
                </a:ext>
              </a:extLst>
            </p:cNvPr>
            <p:cNvCxnSpPr>
              <a:stCxn id="65" idx="0"/>
              <a:endCxn id="103" idx="0"/>
            </p:cNvCxnSpPr>
            <p:nvPr/>
          </p:nvCxnSpPr>
          <p:spPr>
            <a:xfrm rot="5400000" flipH="1" flipV="1">
              <a:off x="3419687" y="801497"/>
              <a:ext cx="12700" cy="4549154"/>
            </a:xfrm>
            <a:prstGeom prst="curvedConnector3">
              <a:avLst>
                <a:gd name="adj1" fmla="val 10642102"/>
              </a:avLst>
            </a:prstGeom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AEB32857-7F9A-4BAB-9D36-0F6D4FCE2057}"/>
                </a:ext>
              </a:extLst>
            </p:cNvPr>
            <p:cNvCxnSpPr>
              <a:stCxn id="66" idx="0"/>
              <a:endCxn id="85" idx="0"/>
            </p:cNvCxnSpPr>
            <p:nvPr/>
          </p:nvCxnSpPr>
          <p:spPr>
            <a:xfrm rot="5400000" flipH="1" flipV="1">
              <a:off x="3441035" y="2303471"/>
              <a:ext cx="12700" cy="1545206"/>
            </a:xfrm>
            <a:prstGeom prst="curvedConnector3">
              <a:avLst>
                <a:gd name="adj1" fmla="val 1800000"/>
              </a:avLst>
            </a:prstGeom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: Curved 11">
              <a:extLst>
                <a:ext uri="{FF2B5EF4-FFF2-40B4-BE49-F238E27FC236}">
                  <a16:creationId xmlns:a16="http://schemas.microsoft.com/office/drawing/2014/main" id="{62ECA28C-C73A-4265-B51C-A05A2D1D3952}"/>
                </a:ext>
              </a:extLst>
            </p:cNvPr>
            <p:cNvCxnSpPr>
              <a:stCxn id="85" idx="0"/>
              <a:endCxn id="103" idx="0"/>
            </p:cNvCxnSpPr>
            <p:nvPr/>
          </p:nvCxnSpPr>
          <p:spPr>
            <a:xfrm rot="5400000" flipH="1" flipV="1">
              <a:off x="4953951" y="2335761"/>
              <a:ext cx="12700" cy="1480626"/>
            </a:xfrm>
            <a:prstGeom prst="curvedConnector3">
              <a:avLst>
                <a:gd name="adj1" fmla="val 1800000"/>
              </a:avLst>
            </a:prstGeom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: Curved 15">
              <a:extLst>
                <a:ext uri="{FF2B5EF4-FFF2-40B4-BE49-F238E27FC236}">
                  <a16:creationId xmlns:a16="http://schemas.microsoft.com/office/drawing/2014/main" id="{E0294D74-C8CE-429B-A349-B4D5CBF4886A}"/>
                </a:ext>
              </a:extLst>
            </p:cNvPr>
            <p:cNvCxnSpPr>
              <a:stCxn id="66" idx="0"/>
              <a:endCxn id="103" idx="0"/>
            </p:cNvCxnSpPr>
            <p:nvPr/>
          </p:nvCxnSpPr>
          <p:spPr>
            <a:xfrm rot="5400000" flipH="1" flipV="1">
              <a:off x="4181348" y="1563158"/>
              <a:ext cx="12700" cy="3025832"/>
            </a:xfrm>
            <a:prstGeom prst="curvedConnector3">
              <a:avLst>
                <a:gd name="adj1" fmla="val 5210528"/>
              </a:avLst>
            </a:prstGeom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3880F75-8FE5-4272-B9C5-B43D4A5EB1FB}"/>
                </a:ext>
              </a:extLst>
            </p:cNvPr>
            <p:cNvSpPr txBox="1"/>
            <p:nvPr/>
          </p:nvSpPr>
          <p:spPr>
            <a:xfrm>
              <a:off x="913181" y="1319322"/>
              <a:ext cx="4890187" cy="4154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	a	</a:t>
              </a:r>
            </a:p>
            <a:p>
              <a:pPr algn="ctr"/>
              <a:endParaRPr lang="en-GB" sz="2400" dirty="0"/>
            </a:p>
            <a:p>
              <a:pPr algn="ctr"/>
              <a:r>
                <a:rPr lang="en-GB" sz="2400" dirty="0"/>
                <a:t>b                      c</a:t>
              </a:r>
            </a:p>
            <a:p>
              <a:pPr algn="ctr"/>
              <a:endParaRPr lang="en-GB" sz="2400" dirty="0"/>
            </a:p>
            <a:p>
              <a:pPr algn="ctr"/>
              <a:r>
                <a:rPr lang="en-GB" sz="2400" dirty="0"/>
                <a:t>d                    e                    f</a:t>
              </a:r>
            </a:p>
            <a:p>
              <a:pPr algn="ctr"/>
              <a:endParaRPr lang="en-GB" sz="2400" dirty="0"/>
            </a:p>
            <a:p>
              <a:pPr algn="ctr"/>
              <a:endParaRPr lang="en-GB" sz="2400" dirty="0"/>
            </a:p>
            <a:p>
              <a:pPr algn="ctr"/>
              <a:endParaRPr lang="en-GB" sz="2400" dirty="0"/>
            </a:p>
            <a:p>
              <a:pPr algn="ctr"/>
              <a:endParaRPr lang="en-GB" sz="2400" dirty="0"/>
            </a:p>
            <a:p>
              <a:pPr algn="ctr"/>
              <a:endParaRPr lang="en-GB" sz="2400" dirty="0"/>
            </a:p>
            <a:p>
              <a:pPr algn="ctr"/>
              <a:endParaRPr lang="en-GB" sz="2400" dirty="0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564E30DD-7D86-400D-881A-B342079AB9F8}"/>
              </a:ext>
            </a:extLst>
          </p:cNvPr>
          <p:cNvSpPr txBox="1"/>
          <p:nvPr/>
        </p:nvSpPr>
        <p:spPr>
          <a:xfrm>
            <a:off x="7563844" y="381946"/>
            <a:ext cx="371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Model implied covariance matrix</a:t>
            </a:r>
          </a:p>
        </p:txBody>
      </p:sp>
      <p:graphicFrame>
        <p:nvGraphicFramePr>
          <p:cNvPr id="25" name="Table 106">
            <a:extLst>
              <a:ext uri="{FF2B5EF4-FFF2-40B4-BE49-F238E27FC236}">
                <a16:creationId xmlns:a16="http://schemas.microsoft.com/office/drawing/2014/main" id="{4C9B351B-ACDB-4FD5-81DD-C8B574F5C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810622"/>
              </p:ext>
            </p:extLst>
          </p:nvPr>
        </p:nvGraphicFramePr>
        <p:xfrm>
          <a:off x="6948093" y="1668379"/>
          <a:ext cx="5142650" cy="2815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343335492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34715431"/>
                    </a:ext>
                  </a:extLst>
                </a:gridCol>
              </a:tblGrid>
              <a:tr h="563078">
                <a:tc>
                  <a:txBody>
                    <a:bodyPr/>
                    <a:lstStyle/>
                    <a:p>
                      <a:pPr algn="ctr"/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y1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y3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47210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y4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6113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rc 63">
            <a:extLst>
              <a:ext uri="{FF2B5EF4-FFF2-40B4-BE49-F238E27FC236}">
                <a16:creationId xmlns:a16="http://schemas.microsoft.com/office/drawing/2014/main" id="{1691CF3F-FAC2-4DA5-BF63-0B4D4D72F3A6}"/>
              </a:ext>
            </a:extLst>
          </p:cNvPr>
          <p:cNvSpPr/>
          <p:nvPr/>
        </p:nvSpPr>
        <p:spPr>
          <a:xfrm rot="1003916">
            <a:off x="816248" y="3790689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44291F-1D23-48B0-8155-E5B9189D0B29}"/>
              </a:ext>
            </a:extLst>
          </p:cNvPr>
          <p:cNvSpPr/>
          <p:nvPr/>
        </p:nvSpPr>
        <p:spPr>
          <a:xfrm>
            <a:off x="784162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DE9A06-4DA6-4332-9AFB-19301BCBF9A4}"/>
              </a:ext>
            </a:extLst>
          </p:cNvPr>
          <p:cNvSpPr/>
          <p:nvPr/>
        </p:nvSpPr>
        <p:spPr>
          <a:xfrm>
            <a:off x="2307484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E888E1F1-280C-4843-8256-4C2FE1864DB0}"/>
              </a:ext>
            </a:extLst>
          </p:cNvPr>
          <p:cNvSpPr/>
          <p:nvPr/>
        </p:nvSpPr>
        <p:spPr>
          <a:xfrm rot="1003916">
            <a:off x="2307483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DB55DB-30E7-4FB2-8407-CFE96A03F8EA}"/>
              </a:ext>
            </a:extLst>
          </p:cNvPr>
          <p:cNvSpPr txBox="1"/>
          <p:nvPr/>
        </p:nvSpPr>
        <p:spPr>
          <a:xfrm>
            <a:off x="1150153" y="381946"/>
            <a:ext cx="40968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Theoretical Model					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905296-943E-4230-BCA4-59A75EF5C5A7}"/>
              </a:ext>
            </a:extLst>
          </p:cNvPr>
          <p:cNvSpPr/>
          <p:nvPr/>
        </p:nvSpPr>
        <p:spPr>
          <a:xfrm>
            <a:off x="3852690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Y3</a:t>
            </a:r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1AD23F76-7332-4DDB-AAD5-276343377AB2}"/>
              </a:ext>
            </a:extLst>
          </p:cNvPr>
          <p:cNvSpPr/>
          <p:nvPr/>
        </p:nvSpPr>
        <p:spPr>
          <a:xfrm rot="1003916">
            <a:off x="3852689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BFF351A-8B7F-4580-A65E-AA75035EC0E2}"/>
              </a:ext>
            </a:extLst>
          </p:cNvPr>
          <p:cNvSpPr txBox="1"/>
          <p:nvPr/>
        </p:nvSpPr>
        <p:spPr>
          <a:xfrm>
            <a:off x="913181" y="4428424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y1</a:t>
            </a:r>
            <a:endParaRPr lang="en-GB" sz="2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8A01F7A-74A1-4988-9A0A-D82DCFCAFD2D}"/>
              </a:ext>
            </a:extLst>
          </p:cNvPr>
          <p:cNvSpPr txBox="1"/>
          <p:nvPr/>
        </p:nvSpPr>
        <p:spPr>
          <a:xfrm>
            <a:off x="2506215" y="4420849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y2</a:t>
            </a:r>
            <a:endParaRPr lang="en-GB" sz="24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8AFB2D8-6FA4-42CD-9F2B-FAEA8C4D714D}"/>
              </a:ext>
            </a:extLst>
          </p:cNvPr>
          <p:cNvSpPr txBox="1"/>
          <p:nvPr/>
        </p:nvSpPr>
        <p:spPr>
          <a:xfrm>
            <a:off x="3986841" y="4416331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y3</a:t>
            </a:r>
            <a:endParaRPr lang="en-GB" sz="240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E96D7AE-3114-4CA7-BD7C-C81F8B1226BA}"/>
              </a:ext>
            </a:extLst>
          </p:cNvPr>
          <p:cNvSpPr/>
          <p:nvPr/>
        </p:nvSpPr>
        <p:spPr>
          <a:xfrm>
            <a:off x="5333316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Y4</a:t>
            </a:r>
          </a:p>
        </p:txBody>
      </p:sp>
      <p:sp>
        <p:nvSpPr>
          <p:cNvPr id="104" name="Arc 103">
            <a:extLst>
              <a:ext uri="{FF2B5EF4-FFF2-40B4-BE49-F238E27FC236}">
                <a16:creationId xmlns:a16="http://schemas.microsoft.com/office/drawing/2014/main" id="{C88199AF-3BD6-4F0B-9084-409882704445}"/>
              </a:ext>
            </a:extLst>
          </p:cNvPr>
          <p:cNvSpPr/>
          <p:nvPr/>
        </p:nvSpPr>
        <p:spPr>
          <a:xfrm rot="1003916">
            <a:off x="5333315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FF7F5B6-FCBA-4E96-BE94-0796EC7C72DC}"/>
              </a:ext>
            </a:extLst>
          </p:cNvPr>
          <p:cNvSpPr txBox="1"/>
          <p:nvPr/>
        </p:nvSpPr>
        <p:spPr>
          <a:xfrm>
            <a:off x="5467467" y="4416331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y4</a:t>
            </a:r>
            <a:endParaRPr lang="en-GB" sz="24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6099728-D26A-4D98-BBFB-B2C1380A7275}"/>
              </a:ext>
            </a:extLst>
          </p:cNvPr>
          <p:cNvSpPr/>
          <p:nvPr/>
        </p:nvSpPr>
        <p:spPr>
          <a:xfrm>
            <a:off x="2867162" y="1097672"/>
            <a:ext cx="1173653" cy="8837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889FD87-E5D4-4B04-A467-C6971B481885}"/>
              </a:ext>
            </a:extLst>
          </p:cNvPr>
          <p:cNvCxnSpPr>
            <a:stCxn id="2" idx="4"/>
            <a:endCxn id="65" idx="0"/>
          </p:cNvCxnSpPr>
          <p:nvPr/>
        </p:nvCxnSpPr>
        <p:spPr>
          <a:xfrm flipH="1">
            <a:off x="1145110" y="1981470"/>
            <a:ext cx="2308879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6BAEA3-54A5-4A6D-9E00-A92B03E8ED37}"/>
              </a:ext>
            </a:extLst>
          </p:cNvPr>
          <p:cNvCxnSpPr>
            <a:stCxn id="2" idx="4"/>
            <a:endCxn id="66" idx="0"/>
          </p:cNvCxnSpPr>
          <p:nvPr/>
        </p:nvCxnSpPr>
        <p:spPr>
          <a:xfrm flipH="1">
            <a:off x="2668432" y="1981470"/>
            <a:ext cx="785557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B59C43-8C49-4E76-9625-82A8CC34AF3C}"/>
              </a:ext>
            </a:extLst>
          </p:cNvPr>
          <p:cNvCxnSpPr>
            <a:stCxn id="2" idx="4"/>
            <a:endCxn id="85" idx="0"/>
          </p:cNvCxnSpPr>
          <p:nvPr/>
        </p:nvCxnSpPr>
        <p:spPr>
          <a:xfrm>
            <a:off x="3453989" y="1981470"/>
            <a:ext cx="759649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7CAB54-7EB6-4C8C-AA10-44DB33982B62}"/>
              </a:ext>
            </a:extLst>
          </p:cNvPr>
          <p:cNvCxnSpPr>
            <a:stCxn id="2" idx="4"/>
            <a:endCxn id="103" idx="0"/>
          </p:cNvCxnSpPr>
          <p:nvPr/>
        </p:nvCxnSpPr>
        <p:spPr>
          <a:xfrm>
            <a:off x="3453989" y="1981470"/>
            <a:ext cx="2240275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D03D2DA-B497-463A-808C-3B6AFCC00018}"/>
              </a:ext>
            </a:extLst>
          </p:cNvPr>
          <p:cNvSpPr txBox="1"/>
          <p:nvPr/>
        </p:nvSpPr>
        <p:spPr>
          <a:xfrm>
            <a:off x="1506057" y="2372889"/>
            <a:ext cx="5520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          a          b           c             d</a:t>
            </a:r>
          </a:p>
        </p:txBody>
      </p:sp>
      <p:graphicFrame>
        <p:nvGraphicFramePr>
          <p:cNvPr id="39" name="Table 106">
            <a:extLst>
              <a:ext uri="{FF2B5EF4-FFF2-40B4-BE49-F238E27FC236}">
                <a16:creationId xmlns:a16="http://schemas.microsoft.com/office/drawing/2014/main" id="{B38AC2BF-F170-4977-9B44-38CF259EF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437258"/>
              </p:ext>
            </p:extLst>
          </p:nvPr>
        </p:nvGraphicFramePr>
        <p:xfrm>
          <a:off x="6948093" y="1668379"/>
          <a:ext cx="5142650" cy="2815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343335492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34715431"/>
                    </a:ext>
                  </a:extLst>
                </a:gridCol>
              </a:tblGrid>
              <a:tr h="563078">
                <a:tc>
                  <a:txBody>
                    <a:bodyPr/>
                    <a:lstStyle/>
                    <a:p>
                      <a:pPr algn="ctr"/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 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y1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 err="1">
                          <a:solidFill>
                            <a:schemeClr val="tx1"/>
                          </a:solidFill>
                        </a:rPr>
                        <a:t>bc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y3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47210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bd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cd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y4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43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4C1430FD-7A56-4448-8F00-8BE4C7EF20D4}"/>
              </a:ext>
            </a:extLst>
          </p:cNvPr>
          <p:cNvSpPr txBox="1"/>
          <p:nvPr/>
        </p:nvSpPr>
        <p:spPr>
          <a:xfrm>
            <a:off x="7563844" y="381946"/>
            <a:ext cx="371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Model implied covariance matrix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A773CBA5-681E-469E-930F-35AA71D80A63}"/>
              </a:ext>
            </a:extLst>
          </p:cNvPr>
          <p:cNvSpPr/>
          <p:nvPr/>
        </p:nvSpPr>
        <p:spPr>
          <a:xfrm rot="15103718">
            <a:off x="3855932" y="739563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</p:spTree>
    <p:extLst>
      <p:ext uri="{BB962C8B-B14F-4D97-AF65-F5344CB8AC3E}">
        <p14:creationId xmlns:p14="http://schemas.microsoft.com/office/powerpoint/2010/main" val="3885626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7CAF0F0-18D3-4C42-A875-E574B8363E95}"/>
              </a:ext>
            </a:extLst>
          </p:cNvPr>
          <p:cNvGrpSpPr/>
          <p:nvPr/>
        </p:nvGrpSpPr>
        <p:grpSpPr>
          <a:xfrm>
            <a:off x="1146816" y="1829830"/>
            <a:ext cx="3677771" cy="1244694"/>
            <a:chOff x="784162" y="3076074"/>
            <a:chExt cx="5405200" cy="1922932"/>
          </a:xfrm>
        </p:grpSpPr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1691CF3F-FAC2-4DA5-BF63-0B4D4D72F3A6}"/>
                </a:ext>
              </a:extLst>
            </p:cNvPr>
            <p:cNvSpPr/>
            <p:nvPr/>
          </p:nvSpPr>
          <p:spPr>
            <a:xfrm rot="1003916">
              <a:off x="816248" y="3790689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3200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D44291F-1D23-48B0-8155-E5B9189D0B29}"/>
                </a:ext>
              </a:extLst>
            </p:cNvPr>
            <p:cNvSpPr/>
            <p:nvPr/>
          </p:nvSpPr>
          <p:spPr>
            <a:xfrm>
              <a:off x="784162" y="3076074"/>
              <a:ext cx="721895" cy="70585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Y1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5DE9A06-4DA6-4332-9AFB-19301BCBF9A4}"/>
                </a:ext>
              </a:extLst>
            </p:cNvPr>
            <p:cNvSpPr/>
            <p:nvPr/>
          </p:nvSpPr>
          <p:spPr>
            <a:xfrm>
              <a:off x="2307484" y="3076074"/>
              <a:ext cx="721895" cy="70585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Y2</a:t>
              </a:r>
            </a:p>
          </p:txBody>
        </p:sp>
        <p:sp>
          <p:nvSpPr>
            <p:cNvPr id="67" name="Arc 66">
              <a:extLst>
                <a:ext uri="{FF2B5EF4-FFF2-40B4-BE49-F238E27FC236}">
                  <a16:creationId xmlns:a16="http://schemas.microsoft.com/office/drawing/2014/main" id="{E888E1F1-280C-4843-8256-4C2FE1864DB0}"/>
                </a:ext>
              </a:extLst>
            </p:cNvPr>
            <p:cNvSpPr/>
            <p:nvPr/>
          </p:nvSpPr>
          <p:spPr>
            <a:xfrm rot="1003916">
              <a:off x="2307483" y="3799452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320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3D905296-943E-4230-BCA4-59A75EF5C5A7}"/>
                </a:ext>
              </a:extLst>
            </p:cNvPr>
            <p:cNvSpPr/>
            <p:nvPr/>
          </p:nvSpPr>
          <p:spPr>
            <a:xfrm>
              <a:off x="3852690" y="3076074"/>
              <a:ext cx="721895" cy="70585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Y3</a:t>
              </a:r>
            </a:p>
          </p:txBody>
        </p:sp>
        <p:sp>
          <p:nvSpPr>
            <p:cNvPr id="86" name="Arc 85">
              <a:extLst>
                <a:ext uri="{FF2B5EF4-FFF2-40B4-BE49-F238E27FC236}">
                  <a16:creationId xmlns:a16="http://schemas.microsoft.com/office/drawing/2014/main" id="{1AD23F76-7332-4DDB-AAD5-276343377AB2}"/>
                </a:ext>
              </a:extLst>
            </p:cNvPr>
            <p:cNvSpPr/>
            <p:nvPr/>
          </p:nvSpPr>
          <p:spPr>
            <a:xfrm rot="1003916">
              <a:off x="3852689" y="3799452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320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BFF351A-8B7F-4580-A65E-AA75035EC0E2}"/>
                </a:ext>
              </a:extLst>
            </p:cNvPr>
            <p:cNvSpPr txBox="1"/>
            <p:nvPr/>
          </p:nvSpPr>
          <p:spPr>
            <a:xfrm>
              <a:off x="913181" y="4428424"/>
              <a:ext cx="721895" cy="57058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u</a:t>
              </a:r>
              <a:r>
                <a:rPr lang="en-GB" baseline="-25000" dirty="0"/>
                <a:t>y1</a:t>
              </a:r>
              <a:endParaRPr lang="en-GB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8A01F7A-74A1-4988-9A0A-D82DCFCAFD2D}"/>
                </a:ext>
              </a:extLst>
            </p:cNvPr>
            <p:cNvSpPr txBox="1"/>
            <p:nvPr/>
          </p:nvSpPr>
          <p:spPr>
            <a:xfrm>
              <a:off x="2506215" y="4420849"/>
              <a:ext cx="721895" cy="57058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u</a:t>
              </a:r>
              <a:r>
                <a:rPr lang="en-GB" baseline="-25000" dirty="0"/>
                <a:t>y2</a:t>
              </a:r>
              <a:endParaRPr lang="en-GB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8AFB2D8-6FA4-42CD-9F2B-FAEA8C4D714D}"/>
                </a:ext>
              </a:extLst>
            </p:cNvPr>
            <p:cNvSpPr txBox="1"/>
            <p:nvPr/>
          </p:nvSpPr>
          <p:spPr>
            <a:xfrm>
              <a:off x="3986841" y="4416330"/>
              <a:ext cx="721895" cy="57058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u</a:t>
              </a:r>
              <a:r>
                <a:rPr lang="en-GB" baseline="-25000" dirty="0"/>
                <a:t>y3</a:t>
              </a:r>
              <a:endParaRPr lang="en-GB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E96D7AE-3114-4CA7-BD7C-C81F8B1226BA}"/>
                </a:ext>
              </a:extLst>
            </p:cNvPr>
            <p:cNvSpPr/>
            <p:nvPr/>
          </p:nvSpPr>
          <p:spPr>
            <a:xfrm>
              <a:off x="5333316" y="3076074"/>
              <a:ext cx="721895" cy="70585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Y4</a:t>
              </a:r>
            </a:p>
          </p:txBody>
        </p:sp>
        <p:sp>
          <p:nvSpPr>
            <p:cNvPr id="104" name="Arc 103">
              <a:extLst>
                <a:ext uri="{FF2B5EF4-FFF2-40B4-BE49-F238E27FC236}">
                  <a16:creationId xmlns:a16="http://schemas.microsoft.com/office/drawing/2014/main" id="{C88199AF-3BD6-4F0B-9084-409882704445}"/>
                </a:ext>
              </a:extLst>
            </p:cNvPr>
            <p:cNvSpPr/>
            <p:nvPr/>
          </p:nvSpPr>
          <p:spPr>
            <a:xfrm rot="1003916">
              <a:off x="5333315" y="3799452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320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FF7F5B6-FCBA-4E96-BE94-0796EC7C72DC}"/>
                </a:ext>
              </a:extLst>
            </p:cNvPr>
            <p:cNvSpPr txBox="1"/>
            <p:nvPr/>
          </p:nvSpPr>
          <p:spPr>
            <a:xfrm>
              <a:off x="5467467" y="4416330"/>
              <a:ext cx="721895" cy="57058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u</a:t>
              </a:r>
              <a:r>
                <a:rPr lang="en-GB" baseline="-25000" dirty="0"/>
                <a:t>y4</a:t>
              </a:r>
              <a:endParaRPr lang="en-GB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8AFC3E2-4272-438C-88AC-AE4911F1AA01}"/>
              </a:ext>
            </a:extLst>
          </p:cNvPr>
          <p:cNvGrpSpPr/>
          <p:nvPr/>
        </p:nvGrpSpPr>
        <p:grpSpPr>
          <a:xfrm>
            <a:off x="7076719" y="843677"/>
            <a:ext cx="3605873" cy="2585323"/>
            <a:chOff x="6249331" y="1025651"/>
            <a:chExt cx="3605873" cy="2585323"/>
          </a:xfrm>
        </p:grpSpPr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C2CEB229-96BE-48F6-8A25-2BE773483CC4}"/>
                </a:ext>
              </a:extLst>
            </p:cNvPr>
            <p:cNvSpPr/>
            <p:nvPr/>
          </p:nvSpPr>
          <p:spPr>
            <a:xfrm rot="1003916">
              <a:off x="6270736" y="2471566"/>
              <a:ext cx="481585" cy="458196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32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4F31CD2-5652-4D5A-A7CC-48785CF9A4D3}"/>
                </a:ext>
              </a:extLst>
            </p:cNvPr>
            <p:cNvSpPr/>
            <p:nvPr/>
          </p:nvSpPr>
          <p:spPr>
            <a:xfrm>
              <a:off x="6249331" y="2007682"/>
              <a:ext cx="481585" cy="4581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Y1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D856481-229F-4814-8C62-A72A01D05675}"/>
                </a:ext>
              </a:extLst>
            </p:cNvPr>
            <p:cNvSpPr/>
            <p:nvPr/>
          </p:nvSpPr>
          <p:spPr>
            <a:xfrm>
              <a:off x="7265557" y="2007682"/>
              <a:ext cx="481585" cy="4581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Y2</a:t>
              </a:r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60D96F5D-EB23-4795-8226-A5BBC31C6B0E}"/>
                </a:ext>
              </a:extLst>
            </p:cNvPr>
            <p:cNvSpPr/>
            <p:nvPr/>
          </p:nvSpPr>
          <p:spPr>
            <a:xfrm rot="1003916">
              <a:off x="7265556" y="2477255"/>
              <a:ext cx="481585" cy="458196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32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0E1E8F3-B1C1-4D23-B18E-FA1666692A4E}"/>
                </a:ext>
              </a:extLst>
            </p:cNvPr>
            <p:cNvSpPr/>
            <p:nvPr/>
          </p:nvSpPr>
          <p:spPr>
            <a:xfrm>
              <a:off x="8296382" y="2007682"/>
              <a:ext cx="481585" cy="4581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Y3</a:t>
              </a:r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9DC78571-EF23-4887-A497-CB5D35DBC459}"/>
                </a:ext>
              </a:extLst>
            </p:cNvPr>
            <p:cNvSpPr/>
            <p:nvPr/>
          </p:nvSpPr>
          <p:spPr>
            <a:xfrm rot="1003916">
              <a:off x="8296382" y="2477255"/>
              <a:ext cx="481585" cy="458196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320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AE91794-1377-43E5-9E9A-9FC5676FB702}"/>
                </a:ext>
              </a:extLst>
            </p:cNvPr>
            <p:cNvSpPr txBox="1"/>
            <p:nvPr/>
          </p:nvSpPr>
          <p:spPr>
            <a:xfrm>
              <a:off x="6335401" y="2885545"/>
              <a:ext cx="4815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u</a:t>
              </a:r>
              <a:r>
                <a:rPr lang="en-GB" baseline="-25000" dirty="0"/>
                <a:t>y1</a:t>
              </a:r>
              <a:endParaRPr lang="en-GB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94EC67A-2BCD-48A2-8713-333D407DEFDC}"/>
                </a:ext>
              </a:extLst>
            </p:cNvPr>
            <p:cNvSpPr txBox="1"/>
            <p:nvPr/>
          </p:nvSpPr>
          <p:spPr>
            <a:xfrm>
              <a:off x="7398133" y="2880628"/>
              <a:ext cx="4815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u</a:t>
              </a:r>
              <a:r>
                <a:rPr lang="en-GB" baseline="-25000" dirty="0"/>
                <a:t>y2</a:t>
              </a:r>
              <a:endParaRPr lang="en-GB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4CAAE43-F520-4810-B312-89744B1219A7}"/>
                </a:ext>
              </a:extLst>
            </p:cNvPr>
            <p:cNvSpPr txBox="1"/>
            <p:nvPr/>
          </p:nvSpPr>
          <p:spPr>
            <a:xfrm>
              <a:off x="8385876" y="2877695"/>
              <a:ext cx="4815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u</a:t>
              </a:r>
              <a:r>
                <a:rPr lang="en-GB" baseline="-25000" dirty="0"/>
                <a:t>y3</a:t>
              </a:r>
              <a:endParaRPr lang="en-GB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E3ADDAC-9E0F-4B8E-BF2A-02F75DC53271}"/>
                </a:ext>
              </a:extLst>
            </p:cNvPr>
            <p:cNvSpPr/>
            <p:nvPr/>
          </p:nvSpPr>
          <p:spPr>
            <a:xfrm>
              <a:off x="9284126" y="2007682"/>
              <a:ext cx="481585" cy="4581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Y4</a:t>
              </a:r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0BD5C0E5-A669-4029-A74C-5E037E4CAAC3}"/>
                </a:ext>
              </a:extLst>
            </p:cNvPr>
            <p:cNvSpPr/>
            <p:nvPr/>
          </p:nvSpPr>
          <p:spPr>
            <a:xfrm rot="1003916">
              <a:off x="9284125" y="2477255"/>
              <a:ext cx="481585" cy="458196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32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46AFEDF-6D24-406C-B06A-52C170778FD7}"/>
                </a:ext>
              </a:extLst>
            </p:cNvPr>
            <p:cNvSpPr txBox="1"/>
            <p:nvPr/>
          </p:nvSpPr>
          <p:spPr>
            <a:xfrm>
              <a:off x="9373619" y="2877695"/>
              <a:ext cx="4815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u</a:t>
              </a:r>
              <a:r>
                <a:rPr lang="en-GB" baseline="-25000" dirty="0"/>
                <a:t>y4</a:t>
              </a:r>
              <a:endParaRPr lang="en-GB" dirty="0"/>
            </a:p>
          </p:txBody>
        </p:sp>
        <p:cxnSp>
          <p:nvCxnSpPr>
            <p:cNvPr id="31" name="Connector: Curved 30">
              <a:extLst>
                <a:ext uri="{FF2B5EF4-FFF2-40B4-BE49-F238E27FC236}">
                  <a16:creationId xmlns:a16="http://schemas.microsoft.com/office/drawing/2014/main" id="{58402533-A30C-4CC8-9656-E05CA4DB4BFE}"/>
                </a:ext>
              </a:extLst>
            </p:cNvPr>
            <p:cNvCxnSpPr>
              <a:cxnSpLocks/>
              <a:stCxn id="20" idx="0"/>
              <a:endCxn id="21" idx="0"/>
            </p:cNvCxnSpPr>
            <p:nvPr/>
          </p:nvCxnSpPr>
          <p:spPr>
            <a:xfrm rot="5400000" flipH="1" flipV="1">
              <a:off x="6998351" y="1499569"/>
              <a:ext cx="8244" cy="1016226"/>
            </a:xfrm>
            <a:prstGeom prst="curvedConnector3">
              <a:avLst>
                <a:gd name="adj1" fmla="val 1800000"/>
              </a:avLst>
            </a:prstGeom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BD8322F3-3DA9-4DE5-A11D-50FFA06A2564}"/>
                </a:ext>
              </a:extLst>
            </p:cNvPr>
            <p:cNvCxnSpPr>
              <a:stCxn id="20" idx="0"/>
              <a:endCxn id="23" idx="0"/>
            </p:cNvCxnSpPr>
            <p:nvPr/>
          </p:nvCxnSpPr>
          <p:spPr>
            <a:xfrm rot="5400000" flipH="1" flipV="1">
              <a:off x="7513764" y="984157"/>
              <a:ext cx="8244" cy="2047051"/>
            </a:xfrm>
            <a:prstGeom prst="curvedConnector3">
              <a:avLst>
                <a:gd name="adj1" fmla="val 5210528"/>
              </a:avLst>
            </a:prstGeom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Curved 32">
              <a:extLst>
                <a:ext uri="{FF2B5EF4-FFF2-40B4-BE49-F238E27FC236}">
                  <a16:creationId xmlns:a16="http://schemas.microsoft.com/office/drawing/2014/main" id="{445CD7DE-D7CE-4228-91C5-C8D9F00019A1}"/>
                </a:ext>
              </a:extLst>
            </p:cNvPr>
            <p:cNvCxnSpPr>
              <a:stCxn id="20" idx="0"/>
              <a:endCxn id="28" idx="0"/>
            </p:cNvCxnSpPr>
            <p:nvPr/>
          </p:nvCxnSpPr>
          <p:spPr>
            <a:xfrm rot="5400000" flipH="1" flipV="1">
              <a:off x="8007635" y="490285"/>
              <a:ext cx="8244" cy="3034795"/>
            </a:xfrm>
            <a:prstGeom prst="curvedConnector3">
              <a:avLst>
                <a:gd name="adj1" fmla="val 10642102"/>
              </a:avLst>
            </a:prstGeom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: Curved 33">
              <a:extLst>
                <a:ext uri="{FF2B5EF4-FFF2-40B4-BE49-F238E27FC236}">
                  <a16:creationId xmlns:a16="http://schemas.microsoft.com/office/drawing/2014/main" id="{FB36DFC6-E0F6-4427-B054-0A2A769D05CC}"/>
                </a:ext>
              </a:extLst>
            </p:cNvPr>
            <p:cNvCxnSpPr>
              <a:stCxn id="21" idx="0"/>
              <a:endCxn id="23" idx="0"/>
            </p:cNvCxnSpPr>
            <p:nvPr/>
          </p:nvCxnSpPr>
          <p:spPr>
            <a:xfrm rot="5400000" flipH="1" flipV="1">
              <a:off x="8021877" y="1492270"/>
              <a:ext cx="8244" cy="1030825"/>
            </a:xfrm>
            <a:prstGeom prst="curvedConnector3">
              <a:avLst>
                <a:gd name="adj1" fmla="val 1800000"/>
              </a:avLst>
            </a:prstGeom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: Curved 34">
              <a:extLst>
                <a:ext uri="{FF2B5EF4-FFF2-40B4-BE49-F238E27FC236}">
                  <a16:creationId xmlns:a16="http://schemas.microsoft.com/office/drawing/2014/main" id="{38D0B890-A4F3-4718-A91A-C7A94F95A4C0}"/>
                </a:ext>
              </a:extLst>
            </p:cNvPr>
            <p:cNvCxnSpPr>
              <a:stCxn id="23" idx="0"/>
              <a:endCxn id="28" idx="0"/>
            </p:cNvCxnSpPr>
            <p:nvPr/>
          </p:nvCxnSpPr>
          <p:spPr>
            <a:xfrm rot="5400000" flipH="1" flipV="1">
              <a:off x="9031161" y="1513811"/>
              <a:ext cx="8244" cy="987743"/>
            </a:xfrm>
            <a:prstGeom prst="curvedConnector3">
              <a:avLst>
                <a:gd name="adj1" fmla="val 1800000"/>
              </a:avLst>
            </a:prstGeom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: Curved 35">
              <a:extLst>
                <a:ext uri="{FF2B5EF4-FFF2-40B4-BE49-F238E27FC236}">
                  <a16:creationId xmlns:a16="http://schemas.microsoft.com/office/drawing/2014/main" id="{A84BA7F0-BA4A-46E1-9905-624F364A8FF4}"/>
                </a:ext>
              </a:extLst>
            </p:cNvPr>
            <p:cNvCxnSpPr>
              <a:stCxn id="21" idx="0"/>
              <a:endCxn id="28" idx="0"/>
            </p:cNvCxnSpPr>
            <p:nvPr/>
          </p:nvCxnSpPr>
          <p:spPr>
            <a:xfrm rot="5400000" flipH="1" flipV="1">
              <a:off x="8515748" y="998398"/>
              <a:ext cx="8244" cy="2018568"/>
            </a:xfrm>
            <a:prstGeom prst="curvedConnector3">
              <a:avLst>
                <a:gd name="adj1" fmla="val 5210528"/>
              </a:avLst>
            </a:prstGeom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37BF966-385C-430B-BE4F-501D4D02EAEC}"/>
                </a:ext>
              </a:extLst>
            </p:cNvPr>
            <p:cNvSpPr txBox="1"/>
            <p:nvPr/>
          </p:nvSpPr>
          <p:spPr>
            <a:xfrm>
              <a:off x="6816986" y="1025651"/>
              <a:ext cx="2433408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	a	</a:t>
              </a:r>
            </a:p>
            <a:p>
              <a:pPr algn="ctr"/>
              <a:r>
                <a:rPr lang="en-GB" dirty="0"/>
                <a:t>b                      c</a:t>
              </a:r>
            </a:p>
            <a:p>
              <a:pPr algn="ctr"/>
              <a:r>
                <a:rPr lang="en-GB" dirty="0"/>
                <a:t>d                e                 f</a:t>
              </a:r>
            </a:p>
            <a:p>
              <a:pPr algn="ctr"/>
              <a:endParaRPr lang="en-GB" dirty="0"/>
            </a:p>
            <a:p>
              <a:pPr algn="ctr"/>
              <a:endParaRPr lang="en-GB" dirty="0"/>
            </a:p>
            <a:p>
              <a:pPr algn="ctr"/>
              <a:endParaRPr lang="en-GB" dirty="0"/>
            </a:p>
            <a:p>
              <a:pPr algn="ctr"/>
              <a:endParaRPr lang="en-GB" dirty="0"/>
            </a:p>
            <a:p>
              <a:pPr algn="ctr"/>
              <a:endParaRPr lang="en-GB" dirty="0"/>
            </a:p>
            <a:p>
              <a:pPr algn="ctr"/>
              <a:endParaRPr lang="en-GB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F81B9166-2C33-4037-90D1-C3401F921BB0}"/>
              </a:ext>
            </a:extLst>
          </p:cNvPr>
          <p:cNvSpPr txBox="1"/>
          <p:nvPr/>
        </p:nvSpPr>
        <p:spPr>
          <a:xfrm>
            <a:off x="270105" y="346454"/>
            <a:ext cx="40968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Model 1 	 				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33B35E-F319-4A0A-9A84-EEE48591FE37}"/>
              </a:ext>
            </a:extLst>
          </p:cNvPr>
          <p:cNvSpPr txBox="1"/>
          <p:nvPr/>
        </p:nvSpPr>
        <p:spPr>
          <a:xfrm>
            <a:off x="6257876" y="331964"/>
            <a:ext cx="40968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Model 2 	 				</a:t>
            </a:r>
          </a:p>
        </p:txBody>
      </p:sp>
    </p:spTree>
    <p:extLst>
      <p:ext uri="{BB962C8B-B14F-4D97-AF65-F5344CB8AC3E}">
        <p14:creationId xmlns:p14="http://schemas.microsoft.com/office/powerpoint/2010/main" val="1613068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7CAF0F0-18D3-4C42-A875-E574B8363E95}"/>
              </a:ext>
            </a:extLst>
          </p:cNvPr>
          <p:cNvGrpSpPr/>
          <p:nvPr/>
        </p:nvGrpSpPr>
        <p:grpSpPr>
          <a:xfrm>
            <a:off x="1146816" y="1829830"/>
            <a:ext cx="3677771" cy="1244694"/>
            <a:chOff x="784162" y="3076074"/>
            <a:chExt cx="5405200" cy="1922932"/>
          </a:xfrm>
        </p:grpSpPr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1691CF3F-FAC2-4DA5-BF63-0B4D4D72F3A6}"/>
                </a:ext>
              </a:extLst>
            </p:cNvPr>
            <p:cNvSpPr/>
            <p:nvPr/>
          </p:nvSpPr>
          <p:spPr>
            <a:xfrm rot="1003916">
              <a:off x="816248" y="3790689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3200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D44291F-1D23-48B0-8155-E5B9189D0B29}"/>
                </a:ext>
              </a:extLst>
            </p:cNvPr>
            <p:cNvSpPr/>
            <p:nvPr/>
          </p:nvSpPr>
          <p:spPr>
            <a:xfrm>
              <a:off x="784162" y="3076074"/>
              <a:ext cx="721895" cy="70585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Y1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5DE9A06-4DA6-4332-9AFB-19301BCBF9A4}"/>
                </a:ext>
              </a:extLst>
            </p:cNvPr>
            <p:cNvSpPr/>
            <p:nvPr/>
          </p:nvSpPr>
          <p:spPr>
            <a:xfrm>
              <a:off x="2307484" y="3076074"/>
              <a:ext cx="721895" cy="70585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Y2</a:t>
              </a:r>
            </a:p>
          </p:txBody>
        </p:sp>
        <p:sp>
          <p:nvSpPr>
            <p:cNvPr id="67" name="Arc 66">
              <a:extLst>
                <a:ext uri="{FF2B5EF4-FFF2-40B4-BE49-F238E27FC236}">
                  <a16:creationId xmlns:a16="http://schemas.microsoft.com/office/drawing/2014/main" id="{E888E1F1-280C-4843-8256-4C2FE1864DB0}"/>
                </a:ext>
              </a:extLst>
            </p:cNvPr>
            <p:cNvSpPr/>
            <p:nvPr/>
          </p:nvSpPr>
          <p:spPr>
            <a:xfrm rot="1003916">
              <a:off x="2307483" y="3799452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320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3D905296-943E-4230-BCA4-59A75EF5C5A7}"/>
                </a:ext>
              </a:extLst>
            </p:cNvPr>
            <p:cNvSpPr/>
            <p:nvPr/>
          </p:nvSpPr>
          <p:spPr>
            <a:xfrm>
              <a:off x="3852690" y="3076074"/>
              <a:ext cx="721895" cy="70585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Y3</a:t>
              </a:r>
            </a:p>
          </p:txBody>
        </p:sp>
        <p:sp>
          <p:nvSpPr>
            <p:cNvPr id="86" name="Arc 85">
              <a:extLst>
                <a:ext uri="{FF2B5EF4-FFF2-40B4-BE49-F238E27FC236}">
                  <a16:creationId xmlns:a16="http://schemas.microsoft.com/office/drawing/2014/main" id="{1AD23F76-7332-4DDB-AAD5-276343377AB2}"/>
                </a:ext>
              </a:extLst>
            </p:cNvPr>
            <p:cNvSpPr/>
            <p:nvPr/>
          </p:nvSpPr>
          <p:spPr>
            <a:xfrm rot="1003916">
              <a:off x="3852689" y="3799452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320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BFF351A-8B7F-4580-A65E-AA75035EC0E2}"/>
                </a:ext>
              </a:extLst>
            </p:cNvPr>
            <p:cNvSpPr txBox="1"/>
            <p:nvPr/>
          </p:nvSpPr>
          <p:spPr>
            <a:xfrm>
              <a:off x="913181" y="4428424"/>
              <a:ext cx="721895" cy="57058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u</a:t>
              </a:r>
              <a:r>
                <a:rPr lang="en-GB" baseline="-25000" dirty="0"/>
                <a:t>y1</a:t>
              </a:r>
              <a:endParaRPr lang="en-GB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8A01F7A-74A1-4988-9A0A-D82DCFCAFD2D}"/>
                </a:ext>
              </a:extLst>
            </p:cNvPr>
            <p:cNvSpPr txBox="1"/>
            <p:nvPr/>
          </p:nvSpPr>
          <p:spPr>
            <a:xfrm>
              <a:off x="2506215" y="4420849"/>
              <a:ext cx="721895" cy="57058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u</a:t>
              </a:r>
              <a:r>
                <a:rPr lang="en-GB" baseline="-25000" dirty="0"/>
                <a:t>y2</a:t>
              </a:r>
              <a:endParaRPr lang="en-GB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8AFB2D8-6FA4-42CD-9F2B-FAEA8C4D714D}"/>
                </a:ext>
              </a:extLst>
            </p:cNvPr>
            <p:cNvSpPr txBox="1"/>
            <p:nvPr/>
          </p:nvSpPr>
          <p:spPr>
            <a:xfrm>
              <a:off x="3986841" y="4416330"/>
              <a:ext cx="721895" cy="57058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u</a:t>
              </a:r>
              <a:r>
                <a:rPr lang="en-GB" baseline="-25000" dirty="0"/>
                <a:t>y3</a:t>
              </a:r>
              <a:endParaRPr lang="en-GB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E96D7AE-3114-4CA7-BD7C-C81F8B1226BA}"/>
                </a:ext>
              </a:extLst>
            </p:cNvPr>
            <p:cNvSpPr/>
            <p:nvPr/>
          </p:nvSpPr>
          <p:spPr>
            <a:xfrm>
              <a:off x="5333316" y="3076074"/>
              <a:ext cx="721895" cy="70585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Y4</a:t>
              </a:r>
            </a:p>
          </p:txBody>
        </p:sp>
        <p:sp>
          <p:nvSpPr>
            <p:cNvPr id="104" name="Arc 103">
              <a:extLst>
                <a:ext uri="{FF2B5EF4-FFF2-40B4-BE49-F238E27FC236}">
                  <a16:creationId xmlns:a16="http://schemas.microsoft.com/office/drawing/2014/main" id="{C88199AF-3BD6-4F0B-9084-409882704445}"/>
                </a:ext>
              </a:extLst>
            </p:cNvPr>
            <p:cNvSpPr/>
            <p:nvPr/>
          </p:nvSpPr>
          <p:spPr>
            <a:xfrm rot="1003916">
              <a:off x="5333315" y="3799452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320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FF7F5B6-FCBA-4E96-BE94-0796EC7C72DC}"/>
                </a:ext>
              </a:extLst>
            </p:cNvPr>
            <p:cNvSpPr txBox="1"/>
            <p:nvPr/>
          </p:nvSpPr>
          <p:spPr>
            <a:xfrm>
              <a:off x="5467467" y="4416330"/>
              <a:ext cx="721895" cy="57058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u</a:t>
              </a:r>
              <a:r>
                <a:rPr lang="en-GB" baseline="-25000" dirty="0"/>
                <a:t>y4</a:t>
              </a:r>
              <a:endParaRPr lang="en-GB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8AFC3E2-4272-438C-88AC-AE4911F1AA01}"/>
              </a:ext>
            </a:extLst>
          </p:cNvPr>
          <p:cNvGrpSpPr/>
          <p:nvPr/>
        </p:nvGrpSpPr>
        <p:grpSpPr>
          <a:xfrm>
            <a:off x="7076719" y="843677"/>
            <a:ext cx="3605873" cy="2585323"/>
            <a:chOff x="6249331" y="1025651"/>
            <a:chExt cx="3605873" cy="2585323"/>
          </a:xfrm>
        </p:grpSpPr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C2CEB229-96BE-48F6-8A25-2BE773483CC4}"/>
                </a:ext>
              </a:extLst>
            </p:cNvPr>
            <p:cNvSpPr/>
            <p:nvPr/>
          </p:nvSpPr>
          <p:spPr>
            <a:xfrm rot="1003916">
              <a:off x="6270736" y="2471566"/>
              <a:ext cx="481585" cy="458196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32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4F31CD2-5652-4D5A-A7CC-48785CF9A4D3}"/>
                </a:ext>
              </a:extLst>
            </p:cNvPr>
            <p:cNvSpPr/>
            <p:nvPr/>
          </p:nvSpPr>
          <p:spPr>
            <a:xfrm>
              <a:off x="6249331" y="2007682"/>
              <a:ext cx="481585" cy="4581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Y1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D856481-229F-4814-8C62-A72A01D05675}"/>
                </a:ext>
              </a:extLst>
            </p:cNvPr>
            <p:cNvSpPr/>
            <p:nvPr/>
          </p:nvSpPr>
          <p:spPr>
            <a:xfrm>
              <a:off x="7265557" y="2007682"/>
              <a:ext cx="481585" cy="4581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Y2</a:t>
              </a:r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60D96F5D-EB23-4795-8226-A5BBC31C6B0E}"/>
                </a:ext>
              </a:extLst>
            </p:cNvPr>
            <p:cNvSpPr/>
            <p:nvPr/>
          </p:nvSpPr>
          <p:spPr>
            <a:xfrm rot="1003916">
              <a:off x="7265556" y="2477255"/>
              <a:ext cx="481585" cy="458196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32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0E1E8F3-B1C1-4D23-B18E-FA1666692A4E}"/>
                </a:ext>
              </a:extLst>
            </p:cNvPr>
            <p:cNvSpPr/>
            <p:nvPr/>
          </p:nvSpPr>
          <p:spPr>
            <a:xfrm>
              <a:off x="8296382" y="2007682"/>
              <a:ext cx="481585" cy="4581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Y3</a:t>
              </a:r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9DC78571-EF23-4887-A497-CB5D35DBC459}"/>
                </a:ext>
              </a:extLst>
            </p:cNvPr>
            <p:cNvSpPr/>
            <p:nvPr/>
          </p:nvSpPr>
          <p:spPr>
            <a:xfrm rot="1003916">
              <a:off x="8296382" y="2477255"/>
              <a:ext cx="481585" cy="458196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320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AE91794-1377-43E5-9E9A-9FC5676FB702}"/>
                </a:ext>
              </a:extLst>
            </p:cNvPr>
            <p:cNvSpPr txBox="1"/>
            <p:nvPr/>
          </p:nvSpPr>
          <p:spPr>
            <a:xfrm>
              <a:off x="6335401" y="2885545"/>
              <a:ext cx="4815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u</a:t>
              </a:r>
              <a:r>
                <a:rPr lang="en-GB" baseline="-25000" dirty="0"/>
                <a:t>y1</a:t>
              </a:r>
              <a:endParaRPr lang="en-GB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94EC67A-2BCD-48A2-8713-333D407DEFDC}"/>
                </a:ext>
              </a:extLst>
            </p:cNvPr>
            <p:cNvSpPr txBox="1"/>
            <p:nvPr/>
          </p:nvSpPr>
          <p:spPr>
            <a:xfrm>
              <a:off x="7398133" y="2880628"/>
              <a:ext cx="4815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u</a:t>
              </a:r>
              <a:r>
                <a:rPr lang="en-GB" baseline="-25000" dirty="0"/>
                <a:t>y2</a:t>
              </a:r>
              <a:endParaRPr lang="en-GB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4CAAE43-F520-4810-B312-89744B1219A7}"/>
                </a:ext>
              </a:extLst>
            </p:cNvPr>
            <p:cNvSpPr txBox="1"/>
            <p:nvPr/>
          </p:nvSpPr>
          <p:spPr>
            <a:xfrm>
              <a:off x="8385876" y="2877695"/>
              <a:ext cx="4815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u</a:t>
              </a:r>
              <a:r>
                <a:rPr lang="en-GB" baseline="-25000" dirty="0"/>
                <a:t>y3</a:t>
              </a:r>
              <a:endParaRPr lang="en-GB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E3ADDAC-9E0F-4B8E-BF2A-02F75DC53271}"/>
                </a:ext>
              </a:extLst>
            </p:cNvPr>
            <p:cNvSpPr/>
            <p:nvPr/>
          </p:nvSpPr>
          <p:spPr>
            <a:xfrm>
              <a:off x="9284126" y="2007682"/>
              <a:ext cx="481585" cy="4581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Y4</a:t>
              </a:r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0BD5C0E5-A669-4029-A74C-5E037E4CAAC3}"/>
                </a:ext>
              </a:extLst>
            </p:cNvPr>
            <p:cNvSpPr/>
            <p:nvPr/>
          </p:nvSpPr>
          <p:spPr>
            <a:xfrm rot="1003916">
              <a:off x="9284125" y="2477255"/>
              <a:ext cx="481585" cy="458196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32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46AFEDF-6D24-406C-B06A-52C170778FD7}"/>
                </a:ext>
              </a:extLst>
            </p:cNvPr>
            <p:cNvSpPr txBox="1"/>
            <p:nvPr/>
          </p:nvSpPr>
          <p:spPr>
            <a:xfrm>
              <a:off x="9373619" y="2877695"/>
              <a:ext cx="4815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u</a:t>
              </a:r>
              <a:r>
                <a:rPr lang="en-GB" baseline="-25000" dirty="0"/>
                <a:t>y4</a:t>
              </a:r>
              <a:endParaRPr lang="en-GB" dirty="0"/>
            </a:p>
          </p:txBody>
        </p:sp>
        <p:cxnSp>
          <p:nvCxnSpPr>
            <p:cNvPr id="31" name="Connector: Curved 30">
              <a:extLst>
                <a:ext uri="{FF2B5EF4-FFF2-40B4-BE49-F238E27FC236}">
                  <a16:creationId xmlns:a16="http://schemas.microsoft.com/office/drawing/2014/main" id="{58402533-A30C-4CC8-9656-E05CA4DB4BFE}"/>
                </a:ext>
              </a:extLst>
            </p:cNvPr>
            <p:cNvCxnSpPr>
              <a:cxnSpLocks/>
              <a:stCxn id="20" idx="0"/>
              <a:endCxn id="21" idx="0"/>
            </p:cNvCxnSpPr>
            <p:nvPr/>
          </p:nvCxnSpPr>
          <p:spPr>
            <a:xfrm rot="5400000" flipH="1" flipV="1">
              <a:off x="6998351" y="1499569"/>
              <a:ext cx="8244" cy="1016226"/>
            </a:xfrm>
            <a:prstGeom prst="curvedConnector3">
              <a:avLst>
                <a:gd name="adj1" fmla="val 1800000"/>
              </a:avLst>
            </a:prstGeom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BD8322F3-3DA9-4DE5-A11D-50FFA06A2564}"/>
                </a:ext>
              </a:extLst>
            </p:cNvPr>
            <p:cNvCxnSpPr>
              <a:stCxn id="20" idx="0"/>
              <a:endCxn id="23" idx="0"/>
            </p:cNvCxnSpPr>
            <p:nvPr/>
          </p:nvCxnSpPr>
          <p:spPr>
            <a:xfrm rot="5400000" flipH="1" flipV="1">
              <a:off x="7513764" y="984157"/>
              <a:ext cx="8244" cy="2047051"/>
            </a:xfrm>
            <a:prstGeom prst="curvedConnector3">
              <a:avLst>
                <a:gd name="adj1" fmla="val 5210528"/>
              </a:avLst>
            </a:prstGeom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Curved 32">
              <a:extLst>
                <a:ext uri="{FF2B5EF4-FFF2-40B4-BE49-F238E27FC236}">
                  <a16:creationId xmlns:a16="http://schemas.microsoft.com/office/drawing/2014/main" id="{445CD7DE-D7CE-4228-91C5-C8D9F00019A1}"/>
                </a:ext>
              </a:extLst>
            </p:cNvPr>
            <p:cNvCxnSpPr>
              <a:stCxn id="20" idx="0"/>
              <a:endCxn id="28" idx="0"/>
            </p:cNvCxnSpPr>
            <p:nvPr/>
          </p:nvCxnSpPr>
          <p:spPr>
            <a:xfrm rot="5400000" flipH="1" flipV="1">
              <a:off x="8007635" y="490285"/>
              <a:ext cx="8244" cy="3034795"/>
            </a:xfrm>
            <a:prstGeom prst="curvedConnector3">
              <a:avLst>
                <a:gd name="adj1" fmla="val 10642102"/>
              </a:avLst>
            </a:prstGeom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: Curved 33">
              <a:extLst>
                <a:ext uri="{FF2B5EF4-FFF2-40B4-BE49-F238E27FC236}">
                  <a16:creationId xmlns:a16="http://schemas.microsoft.com/office/drawing/2014/main" id="{FB36DFC6-E0F6-4427-B054-0A2A769D05CC}"/>
                </a:ext>
              </a:extLst>
            </p:cNvPr>
            <p:cNvCxnSpPr>
              <a:stCxn id="21" idx="0"/>
              <a:endCxn id="23" idx="0"/>
            </p:cNvCxnSpPr>
            <p:nvPr/>
          </p:nvCxnSpPr>
          <p:spPr>
            <a:xfrm rot="5400000" flipH="1" flipV="1">
              <a:off x="8021877" y="1492270"/>
              <a:ext cx="8244" cy="1030825"/>
            </a:xfrm>
            <a:prstGeom prst="curvedConnector3">
              <a:avLst>
                <a:gd name="adj1" fmla="val 1800000"/>
              </a:avLst>
            </a:prstGeom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: Curved 34">
              <a:extLst>
                <a:ext uri="{FF2B5EF4-FFF2-40B4-BE49-F238E27FC236}">
                  <a16:creationId xmlns:a16="http://schemas.microsoft.com/office/drawing/2014/main" id="{38D0B890-A4F3-4718-A91A-C7A94F95A4C0}"/>
                </a:ext>
              </a:extLst>
            </p:cNvPr>
            <p:cNvCxnSpPr>
              <a:stCxn id="23" idx="0"/>
              <a:endCxn id="28" idx="0"/>
            </p:cNvCxnSpPr>
            <p:nvPr/>
          </p:nvCxnSpPr>
          <p:spPr>
            <a:xfrm rot="5400000" flipH="1" flipV="1">
              <a:off x="9031161" y="1513811"/>
              <a:ext cx="8244" cy="987743"/>
            </a:xfrm>
            <a:prstGeom prst="curvedConnector3">
              <a:avLst>
                <a:gd name="adj1" fmla="val 1800000"/>
              </a:avLst>
            </a:prstGeom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: Curved 35">
              <a:extLst>
                <a:ext uri="{FF2B5EF4-FFF2-40B4-BE49-F238E27FC236}">
                  <a16:creationId xmlns:a16="http://schemas.microsoft.com/office/drawing/2014/main" id="{A84BA7F0-BA4A-46E1-9905-624F364A8FF4}"/>
                </a:ext>
              </a:extLst>
            </p:cNvPr>
            <p:cNvCxnSpPr>
              <a:stCxn id="21" idx="0"/>
              <a:endCxn id="28" idx="0"/>
            </p:cNvCxnSpPr>
            <p:nvPr/>
          </p:nvCxnSpPr>
          <p:spPr>
            <a:xfrm rot="5400000" flipH="1" flipV="1">
              <a:off x="8515748" y="998398"/>
              <a:ext cx="8244" cy="2018568"/>
            </a:xfrm>
            <a:prstGeom prst="curvedConnector3">
              <a:avLst>
                <a:gd name="adj1" fmla="val 5210528"/>
              </a:avLst>
            </a:prstGeom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37BF966-385C-430B-BE4F-501D4D02EAEC}"/>
                </a:ext>
              </a:extLst>
            </p:cNvPr>
            <p:cNvSpPr txBox="1"/>
            <p:nvPr/>
          </p:nvSpPr>
          <p:spPr>
            <a:xfrm>
              <a:off x="6816986" y="1025651"/>
              <a:ext cx="2433408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	a	</a:t>
              </a:r>
            </a:p>
            <a:p>
              <a:pPr algn="ctr"/>
              <a:r>
                <a:rPr lang="en-GB" dirty="0"/>
                <a:t>b                      c</a:t>
              </a:r>
            </a:p>
            <a:p>
              <a:pPr algn="ctr"/>
              <a:r>
                <a:rPr lang="en-GB" dirty="0"/>
                <a:t>d                e                 f</a:t>
              </a:r>
            </a:p>
            <a:p>
              <a:pPr algn="ctr"/>
              <a:endParaRPr lang="en-GB" dirty="0"/>
            </a:p>
            <a:p>
              <a:pPr algn="ctr"/>
              <a:endParaRPr lang="en-GB" dirty="0"/>
            </a:p>
            <a:p>
              <a:pPr algn="ctr"/>
              <a:endParaRPr lang="en-GB" dirty="0"/>
            </a:p>
            <a:p>
              <a:pPr algn="ctr"/>
              <a:endParaRPr lang="en-GB" dirty="0"/>
            </a:p>
            <a:p>
              <a:pPr algn="ctr"/>
              <a:endParaRPr lang="en-GB" dirty="0"/>
            </a:p>
            <a:p>
              <a:pPr algn="ctr"/>
              <a:endParaRPr lang="en-GB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F81B9166-2C33-4037-90D1-C3401F921BB0}"/>
              </a:ext>
            </a:extLst>
          </p:cNvPr>
          <p:cNvSpPr txBox="1"/>
          <p:nvPr/>
        </p:nvSpPr>
        <p:spPr>
          <a:xfrm>
            <a:off x="270105" y="346454"/>
            <a:ext cx="40968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Model 1 	 				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33B35E-F319-4A0A-9A84-EEE48591FE37}"/>
              </a:ext>
            </a:extLst>
          </p:cNvPr>
          <p:cNvSpPr txBox="1"/>
          <p:nvPr/>
        </p:nvSpPr>
        <p:spPr>
          <a:xfrm>
            <a:off x="6257876" y="331964"/>
            <a:ext cx="40968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Model 2 	 				</a:t>
            </a:r>
          </a:p>
        </p:txBody>
      </p:sp>
      <p:graphicFrame>
        <p:nvGraphicFramePr>
          <p:cNvPr id="38" name="Table 106">
            <a:extLst>
              <a:ext uri="{FF2B5EF4-FFF2-40B4-BE49-F238E27FC236}">
                <a16:creationId xmlns:a16="http://schemas.microsoft.com/office/drawing/2014/main" id="{DD60890A-0D59-4F4A-B095-ADA748EED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807656"/>
              </p:ext>
            </p:extLst>
          </p:nvPr>
        </p:nvGraphicFramePr>
        <p:xfrm>
          <a:off x="1418077" y="3961277"/>
          <a:ext cx="3220125" cy="2261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025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644025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644025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  <a:gridCol w="644025">
                  <a:extLst>
                    <a:ext uri="{9D8B030D-6E8A-4147-A177-3AD203B41FA5}">
                      <a16:colId xmlns:a16="http://schemas.microsoft.com/office/drawing/2014/main" val="3433354927"/>
                    </a:ext>
                  </a:extLst>
                </a:gridCol>
                <a:gridCol w="644025">
                  <a:extLst>
                    <a:ext uri="{9D8B030D-6E8A-4147-A177-3AD203B41FA5}">
                      <a16:colId xmlns:a16="http://schemas.microsoft.com/office/drawing/2014/main" val="2334715431"/>
                    </a:ext>
                  </a:extLst>
                </a:gridCol>
              </a:tblGrid>
              <a:tr h="452345"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452345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y1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452345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y2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  <a:tr h="452345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y3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47210"/>
                  </a:ext>
                </a:extLst>
              </a:tr>
              <a:tr h="452345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y4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436"/>
                  </a:ext>
                </a:extLst>
              </a:tr>
            </a:tbl>
          </a:graphicData>
        </a:graphic>
      </p:graphicFrame>
      <p:graphicFrame>
        <p:nvGraphicFramePr>
          <p:cNvPr id="39" name="Table 106">
            <a:extLst>
              <a:ext uri="{FF2B5EF4-FFF2-40B4-BE49-F238E27FC236}">
                <a16:creationId xmlns:a16="http://schemas.microsoft.com/office/drawing/2014/main" id="{524264C1-3FE6-4C68-B702-DCDBA8A60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02421"/>
              </p:ext>
            </p:extLst>
          </p:nvPr>
        </p:nvGraphicFramePr>
        <p:xfrm>
          <a:off x="7317511" y="3937054"/>
          <a:ext cx="3232425" cy="2261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485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646485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646485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  <a:gridCol w="646485">
                  <a:extLst>
                    <a:ext uri="{9D8B030D-6E8A-4147-A177-3AD203B41FA5}">
                      <a16:colId xmlns:a16="http://schemas.microsoft.com/office/drawing/2014/main" val="3433354927"/>
                    </a:ext>
                  </a:extLst>
                </a:gridCol>
                <a:gridCol w="646485">
                  <a:extLst>
                    <a:ext uri="{9D8B030D-6E8A-4147-A177-3AD203B41FA5}">
                      <a16:colId xmlns:a16="http://schemas.microsoft.com/office/drawing/2014/main" val="2334715431"/>
                    </a:ext>
                  </a:extLst>
                </a:gridCol>
              </a:tblGrid>
              <a:tr h="452345"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452345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y1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452345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y2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  <a:tr h="452345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y3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47210"/>
                  </a:ext>
                </a:extLst>
              </a:tr>
              <a:tr h="452345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y4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436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23C373EE-A710-464D-AF43-B3E85A410A4D}"/>
              </a:ext>
            </a:extLst>
          </p:cNvPr>
          <p:cNvSpPr txBox="1"/>
          <p:nvPr/>
        </p:nvSpPr>
        <p:spPr>
          <a:xfrm>
            <a:off x="270105" y="3306423"/>
            <a:ext cx="51739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Model 1 Implied Covariances	 				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8A00C4-A091-4229-ACE4-2CB5EBE6BD5F}"/>
              </a:ext>
            </a:extLst>
          </p:cNvPr>
          <p:cNvSpPr txBox="1"/>
          <p:nvPr/>
        </p:nvSpPr>
        <p:spPr>
          <a:xfrm>
            <a:off x="6257876" y="3306423"/>
            <a:ext cx="51739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Model 2 Implied Covariances	 				</a:t>
            </a:r>
          </a:p>
        </p:txBody>
      </p:sp>
    </p:spTree>
    <p:extLst>
      <p:ext uri="{BB962C8B-B14F-4D97-AF65-F5344CB8AC3E}">
        <p14:creationId xmlns:p14="http://schemas.microsoft.com/office/powerpoint/2010/main" val="3776752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1390</TotalTime>
  <Words>259</Words>
  <Application>Microsoft Office PowerPoint</Application>
  <PresentationFormat>Widescreen</PresentationFormat>
  <Paragraphs>183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17</cp:revision>
  <dcterms:created xsi:type="dcterms:W3CDTF">2025-08-20T12:50:25Z</dcterms:created>
  <dcterms:modified xsi:type="dcterms:W3CDTF">2026-01-19T11:46:45Z</dcterms:modified>
</cp:coreProperties>
</file>